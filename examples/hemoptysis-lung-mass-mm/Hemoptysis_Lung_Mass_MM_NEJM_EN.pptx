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1508d662b4d3d" /><Relationship Type="http://schemas.openxmlformats.org/officeDocument/2006/relationships/extended-properties" Target="/docProps/app.xml" Id="R6b21ce645de54215" /><Relationship Type="http://schemas.openxmlformats.org/officeDocument/2006/relationships/officeDocument" Target="/ppt/presentation.xml" Id="Rd224fc29c07448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0ad81b6084db3"/>
  </p:sldMasterIdLst>
  <p:notesMasterIdLst>
    <p:notesMasterId xmlns:r="http://schemas.openxmlformats.org/officeDocument/2006/relationships" r:id="R3d2c6d4d434d4967"/>
  </p:notesMasterIdLst>
  <p:sldIdLst>
    <p:sldId xmlns:r="http://schemas.openxmlformats.org/officeDocument/2006/relationships" id="256" r:id="R68492f8598b341d7"/>
    <p:sldId xmlns:r="http://schemas.openxmlformats.org/officeDocument/2006/relationships" id="257" r:id="R56fdc48351d041a2"/>
    <p:sldId xmlns:r="http://schemas.openxmlformats.org/officeDocument/2006/relationships" id="258" r:id="Rdb52a214e009409e"/>
    <p:sldId xmlns:r="http://schemas.openxmlformats.org/officeDocument/2006/relationships" id="259" r:id="Rbf9f9a8d90424ae1"/>
    <p:sldId xmlns:r="http://schemas.openxmlformats.org/officeDocument/2006/relationships" id="260" r:id="R403217be8c3e4429"/>
    <p:sldId xmlns:r="http://schemas.openxmlformats.org/officeDocument/2006/relationships" id="261" r:id="Rc9552f33b4254e6e"/>
    <p:sldId xmlns:r="http://schemas.openxmlformats.org/officeDocument/2006/relationships" id="262" r:id="R0e5393d9b5374797"/>
    <p:sldId xmlns:r="http://schemas.openxmlformats.org/officeDocument/2006/relationships" id="263" r:id="R88585abae9bd4913"/>
    <p:sldId xmlns:r="http://schemas.openxmlformats.org/officeDocument/2006/relationships" id="264" r:id="R13336ccf8a7a4306"/>
    <p:sldId xmlns:r="http://schemas.openxmlformats.org/officeDocument/2006/relationships" id="265" r:id="Rdb71ac442ab54958"/>
    <p:sldId xmlns:r="http://schemas.openxmlformats.org/officeDocument/2006/relationships" id="266" r:id="Ree1b98e09adb482e"/>
    <p:sldId xmlns:r="http://schemas.openxmlformats.org/officeDocument/2006/relationships" id="267" r:id="R8637b6c934784159"/>
    <p:sldId xmlns:r="http://schemas.openxmlformats.org/officeDocument/2006/relationships" id="268" r:id="R8ad0876e1d8c4095"/>
    <p:sldId xmlns:r="http://schemas.openxmlformats.org/officeDocument/2006/relationships" id="269" r:id="Ra5efd47316e64f2c"/>
    <p:sldId xmlns:r="http://schemas.openxmlformats.org/officeDocument/2006/relationships" id="270" r:id="Rc1a1404d33154b4b"/>
    <p:sldId xmlns:r="http://schemas.openxmlformats.org/officeDocument/2006/relationships" id="271" r:id="R4a2f72a403974323"/>
    <p:sldId xmlns:r="http://schemas.openxmlformats.org/officeDocument/2006/relationships" id="272" r:id="R7bd68c5e7dfb4593"/>
    <p:sldId xmlns:r="http://schemas.openxmlformats.org/officeDocument/2006/relationships" id="273" r:id="R7f901445836a484f"/>
    <p:sldId xmlns:r="http://schemas.openxmlformats.org/officeDocument/2006/relationships" id="274" r:id="Re3a6a7c629814632"/>
    <p:sldId xmlns:r="http://schemas.openxmlformats.org/officeDocument/2006/relationships" id="275" r:id="Rc9fdec00385146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3bb68198924c8d" /><Relationship Type="http://schemas.openxmlformats.org/officeDocument/2006/relationships/slideMaster" Target="/ppt/slideMasters/slideMaster1.xml" Id="Refb0ad81b6084db3" /><Relationship Type="http://schemas.openxmlformats.org/officeDocument/2006/relationships/notesMaster" Target="/ppt/notesMasters/notesMaster1.xml" Id="R3d2c6d4d434d4967" /><Relationship Type="http://schemas.openxmlformats.org/officeDocument/2006/relationships/presProps" Target="/ppt/presProps.xml" Id="Rb285da55d76a4ee6" /><Relationship Type="http://schemas.openxmlformats.org/officeDocument/2006/relationships/tableStyles" Target="/ppt/tableStyles.xml" Id="Re6840607f25d4e33" /><Relationship Type="http://schemas.openxmlformats.org/officeDocument/2006/relationships/slide" Target="/ppt/slides/slide1.xml" Id="R68492f8598b341d7" /><Relationship Type="http://schemas.openxmlformats.org/officeDocument/2006/relationships/slide" Target="/ppt/slides/slide2.xml" Id="R56fdc48351d041a2" /><Relationship Type="http://schemas.openxmlformats.org/officeDocument/2006/relationships/slide" Target="/ppt/slides/slide3.xml" Id="Rdb52a214e009409e" /><Relationship Type="http://schemas.openxmlformats.org/officeDocument/2006/relationships/slide" Target="/ppt/slides/slide4.xml" Id="Rbf9f9a8d90424ae1" /><Relationship Type="http://schemas.openxmlformats.org/officeDocument/2006/relationships/slide" Target="/ppt/slides/slide5.xml" Id="R403217be8c3e4429" /><Relationship Type="http://schemas.openxmlformats.org/officeDocument/2006/relationships/slide" Target="/ppt/slides/slide6.xml" Id="Rc9552f33b4254e6e" /><Relationship Type="http://schemas.openxmlformats.org/officeDocument/2006/relationships/slide" Target="/ppt/slides/slide7.xml" Id="R0e5393d9b5374797" /><Relationship Type="http://schemas.openxmlformats.org/officeDocument/2006/relationships/slide" Target="/ppt/slides/slide8.xml" Id="R88585abae9bd4913" /><Relationship Type="http://schemas.openxmlformats.org/officeDocument/2006/relationships/slide" Target="/ppt/slides/slide9.xml" Id="R13336ccf8a7a4306" /><Relationship Type="http://schemas.openxmlformats.org/officeDocument/2006/relationships/slide" Target="/ppt/slides/slide10.xml" Id="Rdb71ac442ab54958" /><Relationship Type="http://schemas.openxmlformats.org/officeDocument/2006/relationships/slide" Target="/ppt/slides/slide11.xml" Id="Ree1b98e09adb482e" /><Relationship Type="http://schemas.openxmlformats.org/officeDocument/2006/relationships/slide" Target="/ppt/slides/slide12.xml" Id="R8637b6c934784159" /><Relationship Type="http://schemas.openxmlformats.org/officeDocument/2006/relationships/slide" Target="/ppt/slides/slide13.xml" Id="R8ad0876e1d8c4095" /><Relationship Type="http://schemas.openxmlformats.org/officeDocument/2006/relationships/slide" Target="/ppt/slides/slide14.xml" Id="Ra5efd47316e64f2c" /><Relationship Type="http://schemas.openxmlformats.org/officeDocument/2006/relationships/slide" Target="/ppt/slides/slide15.xml" Id="Rc1a1404d33154b4b" /><Relationship Type="http://schemas.openxmlformats.org/officeDocument/2006/relationships/slide" Target="/ppt/slides/slide16.xml" Id="R4a2f72a403974323" /><Relationship Type="http://schemas.openxmlformats.org/officeDocument/2006/relationships/slide" Target="/ppt/slides/slide17.xml" Id="R7bd68c5e7dfb4593" /><Relationship Type="http://schemas.openxmlformats.org/officeDocument/2006/relationships/slide" Target="/ppt/slides/slide18.xml" Id="R7f901445836a484f" /><Relationship Type="http://schemas.openxmlformats.org/officeDocument/2006/relationships/slide" Target="/ppt/slides/slide19.xml" Id="Re3a6a7c629814632" /><Relationship Type="http://schemas.openxmlformats.org/officeDocument/2006/relationships/slide" Target="/ppt/slides/slide20.xml" Id="Rc9fdec003851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c9d31bddf4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e967de9d04602" /><Relationship Type="http://schemas.openxmlformats.org/officeDocument/2006/relationships/notesMaster" Target="/ppt/notesMasters/notesMaster1.xml" Id="R8f9413376883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088f89db84121" /><Relationship Type="http://schemas.openxmlformats.org/officeDocument/2006/relationships/notesMaster" Target="/ppt/notesMasters/notesMaster1.xml" Id="R30df6d593d56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c6e85111f4c6c" /><Relationship Type="http://schemas.openxmlformats.org/officeDocument/2006/relationships/notesMaster" Target="/ppt/notesMasters/notesMaster1.xml" Id="Rafd1cac2416147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df69823e848ae" /><Relationship Type="http://schemas.openxmlformats.org/officeDocument/2006/relationships/notesMaster" Target="/ppt/notesMasters/notesMaster1.xml" Id="Rae600a54e6b443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2b81b7ccf44a48" /><Relationship Type="http://schemas.openxmlformats.org/officeDocument/2006/relationships/notesMaster" Target="/ppt/notesMasters/notesMaster1.xml" Id="Rd25861a733b146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2fcdb709db4925" /><Relationship Type="http://schemas.openxmlformats.org/officeDocument/2006/relationships/notesMaster" Target="/ppt/notesMasters/notesMaster1.xml" Id="R592ba28b9c054b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a321db84b46db" /><Relationship Type="http://schemas.openxmlformats.org/officeDocument/2006/relationships/notesMaster" Target="/ppt/notesMasters/notesMaster1.xml" Id="R1007ada5ab974b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fd1421d79d418d" /><Relationship Type="http://schemas.openxmlformats.org/officeDocument/2006/relationships/notesMaster" Target="/ppt/notesMasters/notesMaster1.xml" Id="Rcdb5adb6f8a440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041c70b301401b" /><Relationship Type="http://schemas.openxmlformats.org/officeDocument/2006/relationships/notesMaster" Target="/ppt/notesMasters/notesMaster1.xml" Id="R27c1aff5e98149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6c231e3ec441f7" /><Relationship Type="http://schemas.openxmlformats.org/officeDocument/2006/relationships/notesMaster" Target="/ppt/notesMasters/notesMaster1.xml" Id="R49136fca658044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2e75e3a3bb4c6b" /><Relationship Type="http://schemas.openxmlformats.org/officeDocument/2006/relationships/notesMaster" Target="/ppt/notesMasters/notesMaster1.xml" Id="Rdef0f8e78dcc41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1aa4b8ccda4cb1" /><Relationship Type="http://schemas.openxmlformats.org/officeDocument/2006/relationships/notesMaster" Target="/ppt/notesMasters/notesMaster1.xml" Id="Raa9e7103c04d41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5231e29c624755" /><Relationship Type="http://schemas.openxmlformats.org/officeDocument/2006/relationships/notesMaster" Target="/ppt/notesMasters/notesMaster1.xml" Id="Rf36a547689b54e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8591051c054c8d" /><Relationship Type="http://schemas.openxmlformats.org/officeDocument/2006/relationships/notesMaster" Target="/ppt/notesMasters/notesMaster1.xml" Id="Raf8b23ca646341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2c956815b44bfc" /><Relationship Type="http://schemas.openxmlformats.org/officeDocument/2006/relationships/notesMaster" Target="/ppt/notesMasters/notesMaster1.xml" Id="R367eb5b48c7e43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65196795ee4b0f" /><Relationship Type="http://schemas.openxmlformats.org/officeDocument/2006/relationships/notesMaster" Target="/ppt/notesMasters/notesMaster1.xml" Id="Rbae485bf685449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409fa373954e8e" /><Relationship Type="http://schemas.openxmlformats.org/officeDocument/2006/relationships/notesMaster" Target="/ppt/notesMasters/notesMaster1.xml" Id="R96bb3df26e5845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d49eab6a8743cc" /><Relationship Type="http://schemas.openxmlformats.org/officeDocument/2006/relationships/notesMaster" Target="/ppt/notesMasters/notesMaster1.xml" Id="R973658e37f054e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66b93177c54cd1" /><Relationship Type="http://schemas.openxmlformats.org/officeDocument/2006/relationships/notesMaster" Target="/ppt/notesMasters/notesMaster1.xml" Id="R8e264579a5f340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e70792ed6c4c7f" /><Relationship Type="http://schemas.openxmlformats.org/officeDocument/2006/relationships/notesMaster" Target="/ppt/notesMasters/notesMaster1.xml" Id="R28973d329a0041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c92c028e645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d199f9f6604b4c" /><Relationship Type="http://schemas.openxmlformats.org/officeDocument/2006/relationships/slideLayout" Target="/ppt/slideLayouts/slideLayout1.xml" Id="Rb02199a6239242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199a62392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b93302d2f4579" /><Relationship Type="http://schemas.openxmlformats.org/officeDocument/2006/relationships/notesSlide" Target="/ppt/notesSlides/notesSlide1.xml" Id="Rbae2efc8e177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de8f7d5ce4b82" /><Relationship Type="http://schemas.openxmlformats.org/officeDocument/2006/relationships/notesSlide" Target="/ppt/notesSlides/notesSlide2.xml" Id="R093aab30688843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21317ed6349ee" /><Relationship Type="http://schemas.openxmlformats.org/officeDocument/2006/relationships/notesSlide" Target="/ppt/notesSlides/notesSlide3.xml" Id="R020749067af640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708e5406f4d33" /><Relationship Type="http://schemas.openxmlformats.org/officeDocument/2006/relationships/notesSlide" Target="/ppt/notesSlides/notesSlide4.xml" Id="R8a4a9e12499543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eb7859d474c99" /><Relationship Type="http://schemas.openxmlformats.org/officeDocument/2006/relationships/notesSlide" Target="/ppt/notesSlides/notesSlide5.xml" Id="R7a1380c21f0a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b3a34327e431a" /><Relationship Type="http://schemas.openxmlformats.org/officeDocument/2006/relationships/notesSlide" Target="/ppt/notesSlides/notesSlide6.xml" Id="R3ae03aa164fb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9f5795f484b60" /><Relationship Type="http://schemas.openxmlformats.org/officeDocument/2006/relationships/notesSlide" Target="/ppt/notesSlides/notesSlide7.xml" Id="Radf72395673748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96847d54f48ee" /><Relationship Type="http://schemas.openxmlformats.org/officeDocument/2006/relationships/notesSlide" Target="/ppt/notesSlides/notesSlide8.xml" Id="R79724e89f7214c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cf9b93da84c2f" /><Relationship Type="http://schemas.openxmlformats.org/officeDocument/2006/relationships/notesSlide" Target="/ppt/notesSlides/notesSlide9.xml" Id="Re30506f1184a4b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bfc85ebf54a1c" /><Relationship Type="http://schemas.openxmlformats.org/officeDocument/2006/relationships/notesSlide" Target="/ppt/notesSlides/notesSlide10.xml" Id="R8265155a039d45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a084a35240b1" /><Relationship Type="http://schemas.openxmlformats.org/officeDocument/2006/relationships/notesSlide" Target="/ppt/notesSlides/notesSlide11.xml" Id="R7d754fa5c4db47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64bbc2904bec" /><Relationship Type="http://schemas.openxmlformats.org/officeDocument/2006/relationships/notesSlide" Target="/ppt/notesSlides/notesSlide12.xml" Id="R1352d8f126c34b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7f56040d4adf" /><Relationship Type="http://schemas.openxmlformats.org/officeDocument/2006/relationships/notesSlide" Target="/ppt/notesSlides/notesSlide13.xml" Id="Rdfd026f34c7240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1b9d4f3764368" /><Relationship Type="http://schemas.openxmlformats.org/officeDocument/2006/relationships/notesSlide" Target="/ppt/notesSlides/notesSlide14.xml" Id="R3b1df2f73a2944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c00b3b11489f" /><Relationship Type="http://schemas.openxmlformats.org/officeDocument/2006/relationships/notesSlide" Target="/ppt/notesSlides/notesSlide15.xml" Id="Rb8926a1e69c64d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d9294f7ba4733" /><Relationship Type="http://schemas.openxmlformats.org/officeDocument/2006/relationships/notesSlide" Target="/ppt/notesSlides/notesSlide16.xml" Id="Rf3fc34176a3743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adbb4416a41e3" /><Relationship Type="http://schemas.openxmlformats.org/officeDocument/2006/relationships/notesSlide" Target="/ppt/notesSlides/notesSlide17.xml" Id="R063e5bc2fb4840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964e89fe24e03" /><Relationship Type="http://schemas.openxmlformats.org/officeDocument/2006/relationships/notesSlide" Target="/ppt/notesSlides/notesSlide18.xml" Id="R93f6c826b9c949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5d8fbf304fb8" /><Relationship Type="http://schemas.openxmlformats.org/officeDocument/2006/relationships/notesSlide" Target="/ppt/notesSlides/notesSlide19.xml" Id="R94f852a9f43240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d564b54f4410a" /><Relationship Type="http://schemas.openxmlformats.org/officeDocument/2006/relationships/notesSlide" Target="/ppt/notesSlides/notesSlide20.xml" Id="R32d6bc39e8014a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90150-051D-4CD1-99C5-4DD75B5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">
            <a:extLst xmlns:a="http://schemas.openxmlformats.org/drawingml/2006/main">
              <a:ext uri="{FF2B5EF4-FFF2-40B4-BE49-F238E27FC236}">
                <a16:creationId xmlns:a16="http://schemas.microsoft.com/office/drawing/2014/main" id="{DA6FE1D0-90D1-43CC-8293-146A4805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A3F77-87D2-45EE-B607-0D69F8B5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1">
            <a:extLst xmlns:a="http://schemas.openxmlformats.org/drawingml/2006/main">
              <a:ext uri="{FF2B5EF4-FFF2-40B4-BE49-F238E27FC236}">
                <a16:creationId xmlns:a16="http://schemas.microsoft.com/office/drawing/2014/main" id="{FDCE4D7C-BCCA-4FD5-8ED4-4296362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Hemoptysis + Lung Mass | Editable M&amp;M Deck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339D07F1-C598-4566-86C2-66D0A82F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7F571-1E29-4E79-8AC4-A2884F7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2B5"/>
                </a:solidFill>
              </a:defRPr>
            </a:pPr>
            <a:r>
              <a:rPr sz="1050" b="1">
                <a:solidFill>
                  <a:srgbClr val="0072B5"/>
                </a:solidFill>
              </a:rPr>
              <a:t>M&amp;M CLINICAL REVIEW</a:t>
            </a:r>
          </a:p>
        </p:txBody>
      </p:sp>
      <p:sp>
        <p:nvSpPr>
          <p:cNvPr id="7" name="deck-title">
            <a:extLst xmlns:a="http://schemas.openxmlformats.org/drawingml/2006/main">
              <a:ext uri="{FF2B5EF4-FFF2-40B4-BE49-F238E27FC236}">
                <a16:creationId xmlns:a16="http://schemas.microsoft.com/office/drawing/2014/main" id="{0CEFB4AE-5A12-4FA7-8013-144231D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02124"/>
                </a:solidFill>
              </a:defRPr>
            </a:pPr>
            <a:r>
              <a:rPr sz="4350" b="1">
                <a:solidFill>
                  <a:srgbClr val="202124"/>
                </a:solidFill>
              </a:rPr>
              <a:t>Hemoptysis + Lung Mass</a:t>
            </a:r>
          </a:p>
        </p:txBody>
      </p:sp>
      <p:sp>
        <p:nvSpPr>
          <p:cNvPr id="8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7E75623-4B61-46A5-95F2-26EF47E8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</a:defRPr>
            </a:pPr>
            <a:r>
              <a:rPr sz="1875" b="0">
                <a:solidFill>
                  <a:srgbClr val="5F6368"/>
                </a:solidFill>
              </a:rPr>
              <a:t>When hemostasis is not the end of the diagnosis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89B6-8BE7-41D1-86A9-827CFDAF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57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EC0CC-1FC0-46C7-8FE3-2844F397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2B5"/>
                </a:solidFill>
              </a:defRPr>
            </a:pPr>
            <a:r>
              <a:rPr sz="1350" b="1">
                <a:solidFill>
                  <a:srgbClr val="0072B5"/>
                </a:solidFill>
              </a:rPr>
              <a:t>Severity  •  Localization  •  Hemostasis  •  Etiology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D8674-98DC-4B2C-94F1-A0F6B39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CCAF-AD6D-461F-9F7F-CFFDEB21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D8AD6-94BB-48A3-B583-FFAB0E66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BC634-4310-45F8-810D-FBDE266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193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E821C-6A05-43BE-AFFA-E02E088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86075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8E574-D8C1-42A1-9C8C-9D828E5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908D4-C890-408B-AF6F-591B9F3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52825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F9E7A-6F51-495A-99EA-52979CCF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528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D853E-C607-4E02-AD5F-D560C41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9575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EA83E-F464-48FB-824B-8B13FC38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Editable bilingual edition</a:t>
            </a:r>
          </a:p>
          <a:p xmlns:a="http://schemas.openxmlformats.org/drawingml/2006/main">
            <a:pPr algn="ctr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NEJM-derived palette</a:t>
            </a:r>
          </a:p>
        </p:txBody>
      </p:sp>
    </p:spTree>
    <p:extLst>
      <p:ext uri="{BB962C8B-B14F-4D97-AF65-F5344CB8AC3E}">
        <p14:creationId xmlns:p14="http://schemas.microsoft.com/office/powerpoint/2010/main" val="1019382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7183A-4829-4F5E-A2AF-72E8308A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ED14A8E7-B22A-4CB7-BB1F-6855EC9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CLINICAL-FRAME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FAB5AD73-7F28-4577-AA02-810EC6F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Four questions must stay open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76BD9-88E4-4ADF-AC43-283E2E3F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3A513-5C71-4D88-8B99-EA730C2E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2">
            <a:extLst xmlns:a="http://schemas.openxmlformats.org/drawingml/2006/main">
              <a:ext uri="{FF2B5EF4-FFF2-40B4-BE49-F238E27FC236}">
                <a16:creationId xmlns:a16="http://schemas.microsoft.com/office/drawing/2014/main" id="{B57DA56C-D6E4-489C-8EFE-00BB628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Expanded review synthesis; AAFP 2022; CIRSE 2022.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46C07DAD-1E2D-4CEF-88E0-FB8BCAF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0AED2-06DB-44CE-BB82-5D287CF2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54A43-E811-46CE-92DE-C2477A0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D27BE-1BE8-424D-9FD5-0E5F34E7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Severity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2DFB0-018B-4BD2-A03D-775C8964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Is the patient at immediate risk from airway obstruction, gas-exchange failure, or hemodynamic collapse?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C0FB6-A161-4B41-B5C8-7BF85962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9007A-DED7-4E13-B34F-59BBD1F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3B950-B33B-4527-82A6-17DEB211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416F3-71B3-4572-B658-023E8F2F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99AD"/>
                </a:solidFill>
              </a:defRPr>
            </a:pPr>
            <a:r>
              <a:rPr sz="1800" b="1">
                <a:solidFill>
                  <a:srgbClr val="6F99AD"/>
                </a:solidFill>
              </a:rPr>
              <a:t>Localization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51B67-A913-48E5-93DA-261C19C5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Which side, lobe, lesion, and vascular bed are responsible for the bleeding?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3A6F0-9106-4F35-A139-38826C4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A3E6B-6E15-4275-9687-B04DE830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3B1C2-48D1-4C25-B947-E2418BB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B71D4-2362-4D25-8E85-C5D06A85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90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Hemostasis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66083-122C-4909-8179-3CD58F2D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719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What will control bleeding now - bronchoscopy, embolization, surgery, or a combination?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19D97-474C-4D1B-8664-CDCCB02B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F2A2E-0ED4-4DD5-AED8-E5FD4F8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68ADB-10D1-4E72-93C0-0694EF7D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BBB16-465A-4761-94CF-BD25A5FC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95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Etiology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C1C26-DFCE-4B06-95B2-78AAA02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76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What underlying process created the mass, cavity, or abnormal vascular circuit?</a:t>
            </a:r>
          </a:p>
        </p:txBody>
      </p:sp>
    </p:spTree>
    <p:extLst>
      <p:ext uri="{BB962C8B-B14F-4D97-AF65-F5344CB8AC3E}">
        <p14:creationId xmlns:p14="http://schemas.microsoft.com/office/powerpoint/2010/main" val="400325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2652F-87C0-4A47-80BB-7C6835D3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3">
            <a:extLst xmlns:a="http://schemas.openxmlformats.org/drawingml/2006/main">
              <a:ext uri="{FF2B5EF4-FFF2-40B4-BE49-F238E27FC236}">
                <a16:creationId xmlns:a16="http://schemas.microsoft.com/office/drawing/2014/main" id="{E5A0F2C9-49EF-4B4B-8B40-39175994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CASE-SNAPSHOT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340C1E77-014F-4BA8-BCB4-53489D30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Define the patient before the lesion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28A2B-FDA8-47F4-A5DC-1E311972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8AA36-3A9A-4FC8-ACED-367F03DE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3">
            <a:extLst xmlns:a="http://schemas.openxmlformats.org/drawingml/2006/main">
              <a:ext uri="{FF2B5EF4-FFF2-40B4-BE49-F238E27FC236}">
                <a16:creationId xmlns:a16="http://schemas.microsoft.com/office/drawing/2014/main" id="{DD7E96BE-9ADD-4782-ABE4-6E5B646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Hemoptysis + Lung Mass | Editable M&amp;M Deck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71FB5EC8-F3AD-49E4-A8CE-FDD1CC8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934CD-3C4E-4748-B1F0-0D8E833B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3827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F959B-8A03-41DA-9064-4275B297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859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REPLACE WITH CHART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09ED3-A55F-48B1-91AA-7403A32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Age / sex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F1EB7-FF64-420B-BA9F-C984202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E82AC-0905-47FC-92EC-240A4D47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[Age / sex]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A75F4-EEC6-4421-8142-053882E8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Relevant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AABB2-0812-4348-A923-798DDBF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64467-6D1F-4D3C-A6C9-2F95A48F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[Smoking • infection • cancer • anticoagulation]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3E3BB-4AAF-4AF4-8EBB-C14C9F64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Chief concern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2F1C9-A27C-4FFC-908D-0CCAFA2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A28BE-651E-4322-8A55-1373B48F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[Pattern • duration • amount • trajectory]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AEBF7-6FC0-409C-8F29-00A136A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Physiology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23D9B-7519-4A78-B261-4CBFE8CE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B2BF3-914E-4200-A355-AB49B04F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[Airway • oxygen • blood pressure • Hb]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323E9-2027-4811-825D-F5F1F90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Imaging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97982-D41F-4BB1-8D5C-636AAAD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F763C-3BB6-4EE5-B78E-E045C21C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[Mass/cavity • nodes • hemorrhage • vessels]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A89F7-797A-4E95-BD2A-96CF9FE0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Current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CE02C-FA32-44C2-A3DE-6DFA2512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6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6B970-7AFF-4C98-920D-3A7E197B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[Malignant • benign • still nondiagnostic]</a:t>
            </a:r>
          </a:p>
        </p:txBody>
      </p:sp>
    </p:spTree>
    <p:extLst>
      <p:ext uri="{BB962C8B-B14F-4D97-AF65-F5344CB8AC3E}">
        <p14:creationId xmlns:p14="http://schemas.microsoft.com/office/powerpoint/2010/main" val="626061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89B79-7652-4346-B703-98C36041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4">
            <a:extLst xmlns:a="http://schemas.openxmlformats.org/drawingml/2006/main">
              <a:ext uri="{FF2B5EF4-FFF2-40B4-BE49-F238E27FC236}">
                <a16:creationId xmlns:a16="http://schemas.microsoft.com/office/drawing/2014/main" id="{5D4722D3-BD28-460A-8FAF-90F0B47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CASE-TIMELINE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791C6AF-FCFC-4A0F-AFDA-50F81164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Show where uncertainty accumulated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CA3D2-C39F-4921-BFC7-034C8BE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73F69-6BE8-493B-B926-5F38ED4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4">
            <a:extLst xmlns:a="http://schemas.openxmlformats.org/drawingml/2006/main">
              <a:ext uri="{FF2B5EF4-FFF2-40B4-BE49-F238E27FC236}">
                <a16:creationId xmlns:a16="http://schemas.microsoft.com/office/drawing/2014/main" id="{A9F7E8A3-68C3-44F4-8854-5C9D84BC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Hemoptysis + Lung Mass | Editable M&amp;M Deck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A1B32D1E-8422-43FF-84F0-D626957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0F8F0-A6C9-4EEE-9CE4-E2E9E4C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38275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87F12-79CB-4A93-B9C4-E358820C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8590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REPLACE WITH CHART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DB4D3-A257-4BAE-912D-254A6C0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78476-7F8C-47E5-91B4-728B2E99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D65C1-1244-4127-BB03-584745CD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FD14F-AAC6-400E-B152-EC921FC4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Initial 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E2BA5-7F32-412A-93D3-6DE95F9B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[Bleeding physiology]</a:t>
            </a:r>
          </a:p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[CT mass/cavity]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1A1E7-24FC-41C0-8B6B-7BFBF5D2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B9298"/>
                </a:solidFill>
              </a:defRPr>
            </a:pPr>
            <a:r>
              <a:rPr sz="1350" b="0">
                <a:solidFill>
                  <a:srgbClr val="8B9298"/>
                </a:solidFill>
              </a:rPr>
              <a:t>Known?</a:t>
            </a:r>
          </a:p>
          <a:p xmlns:a="http://schemas.openxmlformats.org/drawingml/2006/main">
            <a:pPr algn="ctr">
              <a:defRPr sz="1350" b="0">
                <a:solidFill>
                  <a:srgbClr val="8B9298"/>
                </a:solidFill>
              </a:defRPr>
            </a:pPr>
            <a:r>
              <a:rPr sz="1350" b="0">
                <a:solidFill>
                  <a:srgbClr val="8B9298"/>
                </a:solidFill>
              </a:rPr>
              <a:t>Still unknown?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BB0E3-4743-4E71-BD74-345532A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FEDC1-8852-4195-B1E5-D1036045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45233-37D6-4B8A-A155-4D6A1F4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99AD"/>
                </a:solidFill>
              </a:defRPr>
            </a:pPr>
            <a:r>
              <a:rPr sz="1800" b="1">
                <a:solidFill>
                  <a:srgbClr val="6F99AD"/>
                </a:solidFill>
              </a:rPr>
              <a:t>First sampling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856C4-0BB7-45DE-846D-14EC72E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577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[Target + route]</a:t>
            </a:r>
          </a:p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[Pathology wording]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7AF84-182A-4AD3-B310-2937506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12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B9298"/>
                </a:solidFill>
              </a:defRPr>
            </a:pPr>
            <a:r>
              <a:rPr sz="1350" b="0">
                <a:solidFill>
                  <a:srgbClr val="8B9298"/>
                </a:solidFill>
              </a:rPr>
              <a:t>Known?</a:t>
            </a:r>
          </a:p>
          <a:p xmlns:a="http://schemas.openxmlformats.org/drawingml/2006/main">
            <a:pPr algn="ctr">
              <a:defRPr sz="1350" b="0">
                <a:solidFill>
                  <a:srgbClr val="8B9298"/>
                </a:solidFill>
              </a:defRPr>
            </a:pPr>
            <a:r>
              <a:rPr sz="1350" b="0">
                <a:solidFill>
                  <a:srgbClr val="8B9298"/>
                </a:solidFill>
              </a:rPr>
              <a:t>Still unknown?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65ED8-76A8-46A7-8422-845D7C9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9A993-B7D4-4EA0-BEE9-8F647D2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4DBF3-C6FB-4915-BAB4-02CE007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Recurrence / CTA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0F8A2-C205-449B-B5D6-EEA69CB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[Interval change]</a:t>
            </a:r>
          </a:p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[Vascular map]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7ADC1-BF6C-4DDE-AC00-6BA4049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B9298"/>
                </a:solidFill>
              </a:defRPr>
            </a:pPr>
            <a:r>
              <a:rPr sz="1350" b="0">
                <a:solidFill>
                  <a:srgbClr val="8B9298"/>
                </a:solidFill>
              </a:rPr>
              <a:t>Known?</a:t>
            </a:r>
          </a:p>
          <a:p xmlns:a="http://schemas.openxmlformats.org/drawingml/2006/main">
            <a:pPr algn="ctr">
              <a:defRPr sz="1350" b="0">
                <a:solidFill>
                  <a:srgbClr val="8B9298"/>
                </a:solidFill>
              </a:defRPr>
            </a:pPr>
            <a:r>
              <a:rPr sz="1350" b="0">
                <a:solidFill>
                  <a:srgbClr val="8B9298"/>
                </a:solidFill>
              </a:rPr>
              <a:t>Still unknown?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44790-B041-4ADB-ABAE-F8748E49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1B594-3C47-4C83-8DD6-55C35DC5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1C3DE-F7DD-4501-8806-D5FF818F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BAE / post-BAE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FD778-7C14-48EE-A021-587505FA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[Technical result]</a:t>
            </a:r>
          </a:p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[Next tissue plan]</a:t>
            </a:r>
          </a:p>
        </p:txBody>
      </p:sp>
    </p:spTree>
    <p:extLst>
      <p:ext uri="{BB962C8B-B14F-4D97-AF65-F5344CB8AC3E}">
        <p14:creationId xmlns:p14="http://schemas.microsoft.com/office/powerpoint/2010/main" val="1287713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8FFFC-8AB3-4B88-9916-7CDE497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5">
            <a:extLst xmlns:a="http://schemas.openxmlformats.org/drawingml/2006/main">
              <a:ext uri="{FF2B5EF4-FFF2-40B4-BE49-F238E27FC236}">
                <a16:creationId xmlns:a16="http://schemas.microsoft.com/office/drawing/2014/main" id="{389C3E27-F29A-410B-8D22-7B2D8204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FUNCTIONAL-SEVERITY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F682AC95-56F7-44D1-AF70-DBEDA177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Severity is physiologic - not volumetric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CE0BB-CDD2-4476-B84B-90C943F9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DF831-3DB8-4260-8B6A-E0FEF86C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5">
            <a:extLst xmlns:a="http://schemas.openxmlformats.org/drawingml/2006/main">
              <a:ext uri="{FF2B5EF4-FFF2-40B4-BE49-F238E27FC236}">
                <a16:creationId xmlns:a16="http://schemas.microsoft.com/office/drawing/2014/main" id="{93CFF90E-F077-4D20-AFA3-70C5520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O'Gurek &amp; Choi, Am Fam Physician. 2022;105:144-151.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4909C21D-608F-440E-A47E-60DE6166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51015-31A5-4A06-9089-38595A25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79896-1AB8-41AF-96E8-3F1D07A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906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C3C29"/>
                </a:solidFill>
              </a:defRPr>
            </a:pPr>
            <a:r>
              <a:rPr sz="1875" b="1">
                <a:solidFill>
                  <a:srgbClr val="BC3C29"/>
                </a:solidFill>
              </a:rPr>
              <a:t>Airway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F3AB2-C8C5-41BF-A2DA-93F6D534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Cannot clear clot, voice change, unilateral flooding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F0B08-AA7F-4377-A37A-E979A88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9FDCF-E53E-400E-9D9B-FD192766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18727"/>
                </a:solidFill>
              </a:defRPr>
            </a:pPr>
            <a:r>
              <a:rPr sz="1875" b="1">
                <a:solidFill>
                  <a:srgbClr val="E18727"/>
                </a:solidFill>
              </a:rPr>
              <a:t>Gas exchange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BFE94-ECCC-4934-823A-173B31E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479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Rising respiratory effort, falling SpO2, escalating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961B7-AEC9-41AC-88D5-F4D74E3A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539F6-64FF-4969-A5C8-C056BEB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76B1"/>
                </a:solidFill>
              </a:defRPr>
            </a:pPr>
            <a:r>
              <a:rPr sz="1875" b="1">
                <a:solidFill>
                  <a:srgbClr val="7876B1"/>
                </a:solidFill>
              </a:rPr>
              <a:t>Hemodynamics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0B1C8-A787-40D0-BE49-854BEB5F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Hypotension, hemoglobin fall, transfusion or vasopressor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0AC0F-BA20-4B56-ACEB-9D417C0B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F6925-2BB8-424A-852F-CBBC53A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2B5"/>
                </a:solidFill>
              </a:defRPr>
            </a:pPr>
            <a:r>
              <a:rPr sz="1875" b="1">
                <a:solidFill>
                  <a:srgbClr val="0072B5"/>
                </a:solidFill>
              </a:rPr>
              <a:t>Trajectory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7D2BD-FFCF-4B10-8352-84CB2A7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814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Recurrent, accelerating, or ongoing active bleeding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7D379-856F-4CC8-83E3-BAE46E8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71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98404-6651-49F7-95AD-EBC03B4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577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854E"/>
                </a:solidFill>
              </a:defRPr>
            </a:pPr>
            <a:r>
              <a:rPr sz="1875" b="1">
                <a:solidFill>
                  <a:srgbClr val="20854E"/>
                </a:solidFill>
              </a:rPr>
              <a:t>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EDF43-6524-444B-B161-C63CA16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124"/>
                </a:solidFill>
              </a:defRPr>
            </a:pPr>
            <a:r>
              <a:rPr sz="1800" b="0">
                <a:solidFill>
                  <a:srgbClr val="202124"/>
                </a:solidFill>
              </a:rPr>
              <a:t>COPD, prior lung resection, cardiac disease, anticoagulation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17817-22B1-429D-BC70-C2DB021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674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C3C29"/>
                </a:solidFill>
              </a:defRPr>
            </a:pPr>
            <a:r>
              <a:rPr sz="1950" b="1">
                <a:solidFill>
                  <a:srgbClr val="BC3C29"/>
                </a:solidFill>
              </a:rPr>
              <a:t>The immediate threat is usually asphyxiation.</a:t>
            </a:r>
          </a:p>
        </p:txBody>
      </p:sp>
    </p:spTree>
    <p:extLst>
      <p:ext uri="{BB962C8B-B14F-4D97-AF65-F5344CB8AC3E}">
        <p14:creationId xmlns:p14="http://schemas.microsoft.com/office/powerpoint/2010/main" val="1125487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13F1D-9FA4-45DC-8800-FA47DC0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6">
            <a:extLst xmlns:a="http://schemas.openxmlformats.org/drawingml/2006/main">
              <a:ext uri="{FF2B5EF4-FFF2-40B4-BE49-F238E27FC236}">
                <a16:creationId xmlns:a16="http://schemas.microsoft.com/office/drawing/2014/main" id="{CA542E1E-282E-42E0-B88B-4EFB154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IMMEDIATE-PATHWAY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D5F168F7-305E-451D-A236-685029A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Protect the airway; use CTA to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96BC1-D60E-4EDF-BE34-626329DC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907D0-49E4-4E7A-B86C-CBF8745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6">
            <a:extLst xmlns:a="http://schemas.openxmlformats.org/drawingml/2006/main">
              <a:ext uri="{FF2B5EF4-FFF2-40B4-BE49-F238E27FC236}">
                <a16:creationId xmlns:a16="http://schemas.microsoft.com/office/drawing/2014/main" id="{80EA04D0-5B5C-469D-BDBA-233D6F2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Sources: AAFP 2022; ACR Appropriateness Criteria Hemoptysis; CIRSE 2022.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8A384DF2-7070-48E7-A4CC-54C79AE1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9EBF1-DBFE-4ACD-9FE4-CC6E4C4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52625"/>
            <a:ext cx="1028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B1091-ABBC-4A9B-A401-72EAE77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8AED4-E27B-4F61-A24E-28AE75E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4230-9A1B-4F87-A4EC-DCED535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04950"/>
            <a:ext cx="4419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EC467-8B4A-4AA2-ACA3-02A1929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Hemoptysis with threatened physiology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EA0D0-0512-4D28-A75E-8F2FDED2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0DA06-99D2-4935-9CA0-44DC418E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D1C8A-F026-4694-884D-FD80823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UNSTABLE / AIRWAY THREATENED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0FCEC-52AB-400F-9BCF-94872C3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STABLE ENOUGH FOR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3E61F-A779-4648-B45D-C9213B4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3924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1. Bleeding lung down</a:t>
            </a:r>
          </a:p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2. Secure / isolate airway</a:t>
            </a:r>
          </a:p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3. Bronchoscopy for clot and localization</a:t>
            </a:r>
          </a:p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4. CTA or angiography when feasible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09F49-1ACD-4A0C-900F-F717F9BA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924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1. Contrast CT / CTA</a:t>
            </a:r>
          </a:p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2. Define lesion and bleeding territory</a:t>
            </a:r>
          </a:p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3. Map all three vascular beds</a:t>
            </a:r>
          </a:p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4. Choose endoscopic, vascular, or surgical route</a:t>
            </a:r>
          </a:p>
        </p:txBody>
      </p:sp>
    </p:spTree>
    <p:extLst>
      <p:ext uri="{BB962C8B-B14F-4D97-AF65-F5344CB8AC3E}">
        <p14:creationId xmlns:p14="http://schemas.microsoft.com/office/powerpoint/2010/main" val="2119746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D0109-28E5-452C-8130-5E100F5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7">
            <a:extLst xmlns:a="http://schemas.openxmlformats.org/drawingml/2006/main">
              <a:ext uri="{FF2B5EF4-FFF2-40B4-BE49-F238E27FC236}">
                <a16:creationId xmlns:a16="http://schemas.microsoft.com/office/drawing/2014/main" id="{DE0FB39C-E5CB-469C-AF8E-0D9B30F6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MECHANISM-DIFFERENTIAL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A79B4656-4956-4E83-97AE-85D5E8BC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A mass with hemoptysis needs a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147FA-5D3B-4266-94CE-F188E1D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219F9-89A0-49D4-91CE-E7F388C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7">
            <a:extLst xmlns:a="http://schemas.openxmlformats.org/drawingml/2006/main">
              <a:ext uri="{FF2B5EF4-FFF2-40B4-BE49-F238E27FC236}">
                <a16:creationId xmlns:a16="http://schemas.microsoft.com/office/drawing/2014/main" id="{8E3858E6-F863-497E-8130-96819C33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Expanded review synthesis; AAFP 2022 differential framework.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1B3B67D2-2AE8-47FF-BE2F-107BCD5B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3433E-BF84-4AB9-B63F-205F74DF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46C50-1F3A-4C35-930D-E6D61079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A50FF-1D2A-487D-B00B-536229EC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Malignancy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339A2-BB08-421E-884B-45A8A3C8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Mass • necrosis •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New vessels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Airway invasion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Arterial erosion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Need malignant tissue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0308A-D226-42FE-AF03-38852A3B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8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1E759-7EF7-4C23-ADA6-A90ADB94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89F2D-ED39-456E-8F9D-A267AB6E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854E"/>
                </a:solidFill>
              </a:defRPr>
            </a:pPr>
            <a:r>
              <a:rPr sz="1650" b="1">
                <a:solidFill>
                  <a:srgbClr val="20854E"/>
                </a:solidFill>
              </a:rPr>
              <a:t>Infection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3F60E-0834-4965-BC93-C352259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TB • NTM • fungus • abscess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Cavity erosion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Collateral flow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Pseudoaneurysm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Need tissue + cultures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34C6E-05B7-4536-89BA-0BD5A417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76B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AC0C3-95D5-448E-85BD-F76CB23F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A2C9A-B501-4E9B-A58D-C17413D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76B1"/>
                </a:solidFill>
              </a:defRPr>
            </a:pPr>
            <a:r>
              <a:rPr sz="1650" b="1">
                <a:solidFill>
                  <a:srgbClr val="7876B1"/>
                </a:solidFill>
              </a:rPr>
              <a:t>Inflammatory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60D34-4E1D-4CE0-909A-26361A6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Vasculitis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Organizing pneumonia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Inflammatory mass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Capillaritis or vessel injury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Inflammation alone is insufficient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AA227-EFE9-4AEA-9129-FEB0CEB9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00200"/>
            <a:ext cx="26003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1AF30-5732-4EB4-9F61-F0DB7277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00200"/>
            <a:ext cx="26003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08DD2-420E-403B-A337-F089061B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66900"/>
            <a:ext cx="2257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C3C29"/>
                </a:solidFill>
              </a:defRPr>
            </a:pPr>
            <a:r>
              <a:rPr sz="1650" b="1">
                <a:solidFill>
                  <a:srgbClr val="BC3C29"/>
                </a:solidFill>
              </a:rPr>
              <a:t>Vascular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C806B-9CD0-427E-8E65-C2009084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76500"/>
            <a:ext cx="22574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Aneurysm • AVM • fistula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High-pressure inflow</a:t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Fragile circuit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May explain bleeding—not the mass</a:t>
            </a:r>
          </a:p>
        </p:txBody>
      </p:sp>
    </p:spTree>
    <p:extLst>
      <p:ext uri="{BB962C8B-B14F-4D97-AF65-F5344CB8AC3E}">
        <p14:creationId xmlns:p14="http://schemas.microsoft.com/office/powerpoint/2010/main" val="2143786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DDECEA-4EA7-4DC7-A7E1-0B66346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8">
            <a:extLst xmlns:a="http://schemas.openxmlformats.org/drawingml/2006/main">
              <a:ext uri="{FF2B5EF4-FFF2-40B4-BE49-F238E27FC236}">
                <a16:creationId xmlns:a16="http://schemas.microsoft.com/office/drawing/2014/main" id="{815CF73D-C07B-4D50-80CA-C25304D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MODALITY-ROLES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2452CE1F-314A-4922-B6BB-B999907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Each test answers a different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45866-7798-4491-9820-CF2FE02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82AFD-D6B1-4683-9D66-47E9291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8">
            <a:extLst xmlns:a="http://schemas.openxmlformats.org/drawingml/2006/main">
              <a:ext uri="{FF2B5EF4-FFF2-40B4-BE49-F238E27FC236}">
                <a16:creationId xmlns:a16="http://schemas.microsoft.com/office/drawing/2014/main" id="{0E57FEAD-E346-4CBD-B1A1-04C60D9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Sources: AAFP 2022; ACR; CIRSE 2022.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ACB781C8-3E38-4920-BFBA-8890ECEC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6B248-6E3A-4E22-B424-C470F96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A737E-C664-48AF-B4C6-E07B180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4B2EC-9E26-4A34-B554-C109879B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753DC-300A-4342-B79E-135BF48E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66875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Best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086CC-E2D0-48FE-97AC-19B38EC9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8115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F237B-F679-44E4-942B-E5C9CE28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Cannot answer alone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6178A-475D-4B52-BCBC-0527EB2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8AE76-7B7B-461D-9CDF-9C66F5E6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Contrast 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D2321-BE70-4D4E-943D-B84E966A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22645-7CEC-4F60-8416-C2C8FCE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Mass, cavity, lung and nodes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13751-6789-4594-AC63-BB8C208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29254-54E4-478C-A074-624627FD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Full arterial map / airway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463A7-C165-4881-AC57-0124C58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7BEE9-667C-4A9A-B328-9A983B8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4E588-3E3B-47ED-B569-C6558024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F2F8C-83F9-4930-988F-57B25548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Bleeding territory + 3 vascular beds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5211F-4F37-4F92-842D-C0AC0AF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C142A-2802-42FA-8A0C-B9F36DE3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Tissue diagnosis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6629E9-1ED3-41C0-9B7A-DF017F4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D9DF6-9017-47B8-9803-FBE33500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Bronchoscopy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0D183-CB89-4DC8-9685-74DDD4B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B8C20-C5BF-4313-9B71-3F6AC291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433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Airway, clot, active bleed, sampling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228D3-734F-40E8-B197-361BB1B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B3660-B8A9-4A1B-B8D9-E75F80A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Full systemic vascular map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F2FAF-90BF-4A5B-A5F5-323E76C1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CFF8A-B6B3-480D-8246-87F9A6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Angiography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559036-2A98-4C62-8B95-FB29711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4076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85465-AECA-4803-A29D-1D96DD1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387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Flow, culprit vessel, shunt, embolization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05E69-869C-4455-87BA-73377D6E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4171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FC799B-1435-4DCF-9C76-E6BCD1F7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</a:defRPr>
            </a:pPr>
            <a:r>
              <a:rPr sz="1575" b="0">
                <a:solidFill>
                  <a:srgbClr val="202124"/>
                </a:solidFill>
              </a:rPr>
              <a:t>Mass pathology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7B87CF-B81D-4952-89C5-2688EC22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91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18727"/>
                </a:solidFill>
              </a:defRPr>
            </a:pPr>
            <a:r>
              <a:rPr sz="1950" b="1">
                <a:solidFill>
                  <a:srgbClr val="E18727"/>
                </a:solidFill>
              </a:rPr>
              <a:t>Use them together.</a:t>
            </a:r>
          </a:p>
        </p:txBody>
      </p:sp>
    </p:spTree>
    <p:extLst>
      <p:ext uri="{BB962C8B-B14F-4D97-AF65-F5344CB8AC3E}">
        <p14:creationId xmlns:p14="http://schemas.microsoft.com/office/powerpoint/2010/main" val="14340223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C0B7A-C40E-42FA-8B50-D9BD8311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9">
            <a:extLst xmlns:a="http://schemas.openxmlformats.org/drawingml/2006/main">
              <a:ext uri="{FF2B5EF4-FFF2-40B4-BE49-F238E27FC236}">
                <a16:creationId xmlns:a16="http://schemas.microsoft.com/office/drawing/2014/main" id="{3B3838F6-16AC-4B80-8284-DCFB1A03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DIAGNOSTIC-STATUS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2B375EAC-E770-4690-9440-0588AC61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Nondiagnostic is not benign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F8086-344A-4A48-BA28-B0E2976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8F80-1845-489D-8D29-6D2DA8D1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9">
            <a:extLst xmlns:a="http://schemas.openxmlformats.org/drawingml/2006/main">
              <a:ext uri="{FF2B5EF4-FFF2-40B4-BE49-F238E27FC236}">
                <a16:creationId xmlns:a16="http://schemas.microsoft.com/office/drawing/2014/main" id="{33CD88F2-36A8-49EA-BF9C-3E34234A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Gonzalez et al. ATS/ACCP Research Statement. AJRCCM. 2024;209:634-646.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1DDC0F26-4810-4778-B035-14D7BCEA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704FB-00D5-49FE-917E-E5E4CA6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766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5F8C1-7753-4F84-9535-6E1763CF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764EB-1108-4F07-9AF5-0FD9C824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Specific malignant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896FC-BD66-4382-B7DB-2812357A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Malignant tissue that explains the lesion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6BFBF-D325-4499-8578-AD60852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2766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08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EC29C-DA51-4137-A174-5176A528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A9765-546F-4A2E-AA1B-2362DBC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854E"/>
                </a:solidFill>
              </a:defRPr>
            </a:pPr>
            <a:r>
              <a:rPr sz="1800" b="1">
                <a:solidFill>
                  <a:srgbClr val="20854E"/>
                </a:solidFill>
              </a:rPr>
              <a:t>Specific benign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F9085-AC3B-4F1E-AA33-0569BDC3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 benign diagnosis that fully explains the lesion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64F62-358B-4754-B90C-6DD2F686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C3C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68064-A8BD-4937-A0AA-8FC56C8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C1D8B-1446-4200-A8F9-9E75F7E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Nondiagnostic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C9A3D-3730-483F-A06D-A25598FC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2819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Atypia • inflammation • blood • necrosis • insufficient tissue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3CD93-3B34-4D2E-B6B1-A3A9CCC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87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64CC7-D53E-4A15-A891-99A9CDF7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18727"/>
                </a:solidFill>
              </a:defRPr>
            </a:pPr>
            <a:r>
              <a:rPr sz="2025" b="1">
                <a:solidFill>
                  <a:srgbClr val="E18727"/>
                </a:solidFill>
              </a:rPr>
              <a:t>If more tissue is needed, the diagnosis is still open.</a:t>
            </a:r>
          </a:p>
        </p:txBody>
      </p:sp>
    </p:spTree>
    <p:extLst>
      <p:ext uri="{BB962C8B-B14F-4D97-AF65-F5344CB8AC3E}">
        <p14:creationId xmlns:p14="http://schemas.microsoft.com/office/powerpoint/2010/main" val="375995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050EE-B8FC-4354-AD58-5C35D077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0">
            <a:extLst xmlns:a="http://schemas.openxmlformats.org/drawingml/2006/main">
              <a:ext uri="{FF2B5EF4-FFF2-40B4-BE49-F238E27FC236}">
                <a16:creationId xmlns:a16="http://schemas.microsoft.com/office/drawing/2014/main" id="{684FB2B5-0E45-4265-82B9-DB4CC0A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FAILURE-ANALYSIS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76CC6104-4461-47F2-AD1D-C287A18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Why repeated sampling fails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1B503-C02E-4D90-BDEE-A64EFA57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5070C-2D81-4B10-89A9-74769FF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0">
            <a:extLst xmlns:a="http://schemas.openxmlformats.org/drawingml/2006/main">
              <a:ext uri="{FF2B5EF4-FFF2-40B4-BE49-F238E27FC236}">
                <a16:creationId xmlns:a16="http://schemas.microsoft.com/office/drawing/2014/main" id="{220DE962-EE20-41A2-86DC-92D8CA8D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Expanded review synthesis; ATS/ACCP 2024.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A0AD3C97-27AB-4517-8326-B85977AB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9798D-36D7-4E1E-A16B-081AE0D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F6368"/>
                </a:solidFill>
              </a:defRPr>
            </a:pPr>
            <a:r>
              <a:rPr sz="1575" b="1">
                <a:solidFill>
                  <a:srgbClr val="5F6368"/>
                </a:solidFill>
              </a:rPr>
              <a:t>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F8466-4C0A-4D11-9185-9D76A5F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F6368"/>
                </a:solidFill>
              </a:defRPr>
            </a:pPr>
            <a:r>
              <a:rPr sz="1575" b="1">
                <a:solidFill>
                  <a:srgbClr val="5F6368"/>
                </a:solidFill>
              </a:rPr>
              <a:t>What went wrong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D929-6489-44D6-977A-75B5C4AF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F6368"/>
                </a:solidFill>
              </a:defRPr>
            </a:pPr>
            <a:r>
              <a:rPr sz="1575" b="1">
                <a:solidFill>
                  <a:srgbClr val="5F6368"/>
                </a:solidFill>
              </a:rPr>
              <a:t>Change before repeating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59D20-C39C-47DC-B7D3-E26F4D0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47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BF927-135B-4CF3-A339-8D225E53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D234F-3308-4BD3-8355-F8996A61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3E574-1A1B-4B6E-B23B-9B14927A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574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Tool missed the lesion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DC7F3-7B5D-4201-8C93-DDB87FD3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Re-read CT; choose airway, pleural, or nodal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6708A-B361-420A-8C8C-62961652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47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255B9-9BDF-49F6-B439-1634042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7DC1B-C56B-4286-965E-A54B7920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Sample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E4238-7871-487F-A1B5-972ACEE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Surface tissue, necrosis, or too little 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A3708-14BC-48B5-9D05-8441C795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Change the needle, biopsy method, or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33971-C0CE-443E-A89B-3FA852E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47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A2731-19F6-4770-B1C3-18724C08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DFA5A-6DBF-43E1-BBA2-EAB1FA96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Pathology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2DFA1-380C-4A01-BEB0-F8999A25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Blood, necrosis, atypia, or inflammation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F70B2-4DFB-4037-893A-8FD76E3C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Call it nondiagnostic—not benign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707ED-1BEA-420E-924E-07D708F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47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ADEA4-F92F-45A4-AF9E-7ED08C7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E6797-9E0D-4C79-93D2-0BD0CECF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854E"/>
                </a:solidFill>
              </a:defRPr>
            </a:pPr>
            <a:r>
              <a:rPr sz="1800" b="1">
                <a:solidFill>
                  <a:srgbClr val="20854E"/>
                </a:solidFill>
              </a:rPr>
              <a:t>Cultures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75EE7-0783-4827-8779-1A6FC0E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No AFB, fungal, or bacterial allocation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786DE-4CEB-4628-B46E-698AB11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Plan specimen allocation before the procedure</a:t>
            </a:r>
          </a:p>
        </p:txBody>
      </p:sp>
    </p:spTree>
    <p:extLst>
      <p:ext uri="{BB962C8B-B14F-4D97-AF65-F5344CB8AC3E}">
        <p14:creationId xmlns:p14="http://schemas.microsoft.com/office/powerpoint/2010/main" val="1670353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ECFDB-17BB-4531-A0E2-660B112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1">
            <a:extLst xmlns:a="http://schemas.openxmlformats.org/drawingml/2006/main">
              <a:ext uri="{FF2B5EF4-FFF2-40B4-BE49-F238E27FC236}">
                <a16:creationId xmlns:a16="http://schemas.microsoft.com/office/drawing/2014/main" id="{5BCCFE51-214B-4B8A-A565-F8E134D2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VASCULAR-BEDS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B912B043-9FEB-4EF6-AFC3-1F794E02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Most severe bleeding is systemic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90930-56AE-4FC6-AB0F-DD526F18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BBE02-962D-4EC4-8877-A752C6C2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1">
            <a:extLst xmlns:a="http://schemas.openxmlformats.org/drawingml/2006/main">
              <a:ext uri="{FF2B5EF4-FFF2-40B4-BE49-F238E27FC236}">
                <a16:creationId xmlns:a16="http://schemas.microsoft.com/office/drawing/2014/main" id="{BE42DD26-2583-4899-95DF-B72300B7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Standards of Practice on BAE. 2022.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58153585-C576-4D09-BA4E-EA7B3B33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E821B-6280-4C1F-98F8-7BC0554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BC3C29"/>
                </a:solidFill>
              </a:defRPr>
            </a:pPr>
            <a:r>
              <a:rPr sz="4050" b="1">
                <a:solidFill>
                  <a:srgbClr val="BC3C29"/>
                </a:solidFill>
              </a:rPr>
              <a:t>90%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05155-8C4B-43FE-88C9-4477B698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Bronchial circulation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F78FC-3CA2-4E42-B4BB-5A3C358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High-pressure systemic bed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B54C4-AB33-412A-BF01-80A2433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072B5"/>
                </a:solidFill>
              </a:defRPr>
            </a:pPr>
            <a:r>
              <a:rPr sz="4050" b="1">
                <a:solidFill>
                  <a:srgbClr val="0072B5"/>
                </a:solidFill>
              </a:rPr>
              <a:t>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BC8DE-4464-40C6-9052-0F0A8D29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Pulmonary circulation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B5836-7AD4-4CD5-BBA5-DEFAB7B2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Pseudoaneurysm / erosion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18D1-0F41-4C20-B1CA-BD1F7AC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16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18727"/>
                </a:solidFill>
              </a:defRPr>
            </a:pPr>
            <a:r>
              <a:rPr sz="4050" b="1">
                <a:solidFill>
                  <a:srgbClr val="E18727"/>
                </a:solidFill>
              </a:rPr>
              <a:t>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2B459-75FD-4D47-9555-B74C9CB6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Non-bronchial systemic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CCF5B-7905-4A4E-AC67-99E77893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Pleural collateral supply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78578-35D8-4631-B0CC-07D72DF5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33600"/>
            <a:ext cx="17145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6092-5508-429F-AC08-1A7CF83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17145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87EED-C882-4381-AC71-35284D7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7277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1DE1D-CFF6-4939-9116-B667546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A search priority - not an exclusion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F663E-99D1-40AB-9250-6B0F8CC7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578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F6368"/>
                </a:solidFill>
              </a:defRPr>
            </a:pPr>
            <a:r>
              <a:rPr sz="1950" b="0">
                <a:solidFill>
                  <a:srgbClr val="5F6368"/>
                </a:solidFill>
              </a:rPr>
              <a:t>Always match the vessel to the lesion.</a:t>
            </a:r>
          </a:p>
        </p:txBody>
      </p:sp>
    </p:spTree>
    <p:extLst>
      <p:ext uri="{BB962C8B-B14F-4D97-AF65-F5344CB8AC3E}">
        <p14:creationId xmlns:p14="http://schemas.microsoft.com/office/powerpoint/2010/main" val="1858373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8AF9F-DAE1-41E8-8F12-6990F628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2">
            <a:extLst xmlns:a="http://schemas.openxmlformats.org/drawingml/2006/main">
              <a:ext uri="{FF2B5EF4-FFF2-40B4-BE49-F238E27FC236}">
                <a16:creationId xmlns:a16="http://schemas.microsoft.com/office/drawing/2014/main" id="{6D06B45C-5A7D-4438-98E8-88426DC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CULPRIT-CIRCUIT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C23C0EDF-D4E2-415F-BCD8-618D711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Map the entire culprit 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B73EA-3410-42D9-93C2-6BA199C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1E1F6-9466-4B9B-9D80-BCAA77E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2">
            <a:extLst xmlns:a="http://schemas.openxmlformats.org/drawingml/2006/main">
              <a:ext uri="{FF2B5EF4-FFF2-40B4-BE49-F238E27FC236}">
                <a16:creationId xmlns:a16="http://schemas.microsoft.com/office/drawing/2014/main" id="{ABD4AC83-0A7C-4F7C-82AC-C0749ABF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 abnormal artery signs; expanded review synthesis.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BDAAEB81-77DB-4AE6-808B-B02EEAF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5CBDF-A565-4413-AFE8-E0A597D2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6050"/>
            <a:ext cx="1676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solidFill>
              <a:srgbClr val="BC3C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827B6-432C-4BCB-9FC6-3E39195F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1676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solidFill>
              <a:srgbClr val="E18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5912E-730B-470B-B185-DF2819C4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066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0">
            <a:solidFill>
              <a:srgbClr val="6F99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C4AD2-3B05-4385-9145-66156EBB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C3C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05838-B1D6-440E-B495-4D01DBD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Inflow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BFDA1-8FC2-4B2A-A02D-AADB89D7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609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Hypertrophic systemic feeder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7259C-21FE-46C4-AA46-168D7E0E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187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3EC3A-5961-4A7B-9595-B1F736D8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Lesion / sac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22F0C-A38B-411D-B87A-6734F96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609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Blush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Aneurysm / pseudoaneurysm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F4908-C7E5-4727-9300-C8D2CE2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72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A9060-2B2B-4DD9-A3E2-FA2540A4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2B5"/>
                </a:solidFill>
              </a:defRPr>
            </a:pPr>
            <a:r>
              <a:rPr sz="1800" b="1">
                <a:solidFill>
                  <a:srgbClr val="0072B5"/>
                </a:solidFill>
              </a:rPr>
              <a:t>Outflow / shunt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C3753-8DB8-4040-AE46-D7A6A1F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609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Early venous filling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Shunt / flow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263CA-8D48-4CB8-AF9D-A6F1F4D3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6F99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73FDE-474E-4321-B9D0-AD2805B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94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99AD"/>
                </a:solidFill>
              </a:defRPr>
            </a:pPr>
            <a:r>
              <a:rPr sz="1800" b="1">
                <a:solidFill>
                  <a:srgbClr val="6F99AD"/>
                </a:solidFill>
              </a:rPr>
              <a:t>Report: hypertrophy • blush • early venous filling • pseudoaneurysm • shunt</a:t>
            </a:r>
          </a:p>
        </p:txBody>
      </p:sp>
    </p:spTree>
    <p:extLst>
      <p:ext uri="{BB962C8B-B14F-4D97-AF65-F5344CB8AC3E}">
        <p14:creationId xmlns:p14="http://schemas.microsoft.com/office/powerpoint/2010/main" val="1577836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0102A-62F3-4B21-8FEB-864CBD2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3">
            <a:extLst xmlns:a="http://schemas.openxmlformats.org/drawingml/2006/main">
              <a:ext uri="{FF2B5EF4-FFF2-40B4-BE49-F238E27FC236}">
                <a16:creationId xmlns:a16="http://schemas.microsoft.com/office/drawing/2014/main" id="{8EFDF6C5-1F48-4173-8869-6DCEB61C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PSEUDOANEURYSM-FLOW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39017343-E1D0-4904-A4CB-3827E64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Treat the circuit - not the brightest spot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98304-B7A0-46DA-98E8-C151B12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37D65-E49A-41B5-AECD-6D9D26EF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3">
            <a:extLst xmlns:a="http://schemas.openxmlformats.org/drawingml/2006/main">
              <a:ext uri="{FF2B5EF4-FFF2-40B4-BE49-F238E27FC236}">
                <a16:creationId xmlns:a16="http://schemas.microsoft.com/office/drawing/2014/main" id="{0880E626-EAAF-41F2-8AA6-5C754BA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Chen et al. J Thorac Dis. 2022;14:1784-1793. Mechanistic case series (n=9).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03E9CDDB-FE9B-4F90-AAA9-CF5C35BE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3D49D-853C-4C28-B2D3-30085BE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73AC0-FA83-403A-8B7C-1C9E949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2B5"/>
                </a:solidFill>
              </a:defRPr>
            </a:pPr>
            <a:r>
              <a:rPr sz="1725" b="1">
                <a:solidFill>
                  <a:srgbClr val="0072B5"/>
                </a:solidFill>
              </a:rPr>
              <a:t>Type 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26903-142D-4006-A600-E4F0AEA9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288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Pulmonary artery pseudoaneurysm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6973D-464D-44FE-8A77-67821D3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PA is the parent vessel; systemic collaterals may fill it retrogradely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A497-6564-45D4-A7BE-D7384DD4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1930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solidFill>
              <a:srgbClr val="0072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D18D9-AB0A-446F-B0B2-3760338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3C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7D73B-DF6B-43C1-BC23-27F897C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C3C29"/>
                </a:solidFill>
              </a:defRPr>
            </a:pPr>
            <a:r>
              <a:rPr sz="1725" b="1">
                <a:solidFill>
                  <a:srgbClr val="BC3C29"/>
                </a:solidFill>
              </a:rPr>
              <a:t>Type II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346A0-6970-4408-BFDF-FA6E347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Systemic arterial pseudoaneurysm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B56E7-30CE-4A13-8937-B5F432E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5277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The sac arises from a bronchial or non-bronchial systemic artery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193BC-F70D-45E5-A6A3-61D3A1A2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04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solidFill>
              <a:srgbClr val="BC3C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49635-1DF7-48A3-9D69-2D3FAAA3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DF66B-AB81-4C26-B0A8-AD7B2ACA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18727"/>
                </a:solidFill>
              </a:defRPr>
            </a:pPr>
            <a:r>
              <a:rPr sz="1725" b="1">
                <a:solidFill>
                  <a:srgbClr val="E18727"/>
                </a:solidFill>
              </a:rPr>
              <a:t>Type III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F3ECA-2043-4590-BC03-4575D39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Systemic-pulmonary anastomotic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7C4AF-1682-4A14-9015-2DAF1488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Systemic and pulmonary branches form a shared circuit; direction may vary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2952D-4E5A-40F0-A5E4-723985D9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8155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solidFill>
              <a:srgbClr val="E187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4D270-6816-4F8D-874D-3075AC1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18727"/>
                </a:solidFill>
              </a:defRPr>
            </a:pPr>
            <a:r>
              <a:rPr sz="2025" b="1">
                <a:solidFill>
                  <a:srgbClr val="E18727"/>
                </a:solidFill>
              </a:rPr>
              <a:t>Treat the entire inflow-sac-outflow circuit.</a:t>
            </a:r>
          </a:p>
        </p:txBody>
      </p:sp>
    </p:spTree>
    <p:extLst>
      <p:ext uri="{BB962C8B-B14F-4D97-AF65-F5344CB8AC3E}">
        <p14:creationId xmlns:p14="http://schemas.microsoft.com/office/powerpoint/2010/main" val="16691022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18FF1-2FA8-465D-A03F-4A4703FF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4">
            <a:extLst xmlns:a="http://schemas.openxmlformats.org/drawingml/2006/main">
              <a:ext uri="{FF2B5EF4-FFF2-40B4-BE49-F238E27FC236}">
                <a16:creationId xmlns:a16="http://schemas.microsoft.com/office/drawing/2014/main" id="{694CBF21-28B5-4D52-B33A-4B500B6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BAE-ROLE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4F8CB904-DC07-4EE2-A136-B35F8C5D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BAE controls bleeding - not the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42BCF-E476-4470-9810-83595BD7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5E43C-F610-4407-9574-F158D0D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4">
            <a:extLst xmlns:a="http://schemas.openxmlformats.org/drawingml/2006/main">
              <a:ext uri="{FF2B5EF4-FFF2-40B4-BE49-F238E27FC236}">
                <a16:creationId xmlns:a16="http://schemas.microsoft.com/office/drawing/2014/main" id="{50A52B36-6BEF-4E03-83FA-9687F370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2022; expanded review synthesis.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3B506119-DE3F-4841-A57A-BA21E26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D59AA-937A-4717-B410-8C2199C1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4857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085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D48F8-F4D3-407A-BC56-BD8CDACA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857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C3C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F2C09-B2A3-4EFD-AC90-DA4789A2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854E"/>
                </a:solidFill>
              </a:defRPr>
            </a:pPr>
            <a:r>
              <a:rPr sz="1800" b="1">
                <a:solidFill>
                  <a:srgbClr val="20854E"/>
                </a:solidFill>
              </a:rPr>
              <a:t>BAE 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05E18-498D-424A-93C9-B1C96323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BAE CANNOT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FFB69-4CDC-4394-AC28-03844620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C6221-B686-4B1F-BF4C-EED574E5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47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Control active bleeding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B4918-2765-4A4E-AA05-286F8DE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8437B-8503-4201-B061-FD138C6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00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Treat identified pathologic arteries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2DA7C-D57A-4CC7-BAA8-4876B4E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3A501-FAF3-4E2A-9CCA-2B1AA580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528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Create a safer diagnostic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E6C17-BA03-4570-9BF6-55704AA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58E95-67FD-4E92-997F-51D1482F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053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Bridge to surgery or definitive therapy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DF2B1-6681-4945-9B99-F10617D5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BF560-561F-413F-9F10-532A3E9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Prove the mass is benign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92CD8-B622-4693-B305-C3E0561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3763C-A238-4026-B175-BF942E6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Replace pathology or microbiology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5AE00-D98E-4509-AEA9-ACFD0BD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4AA8F-52EC-43B7-861A-4A37F3ED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528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Explain every recurrence by itself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99033-6C01-4EE8-90B0-C83DA436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D645B-1D08-4D67-BD29-78D2CD44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Resolve diagnostic ownership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9F8A9-BB46-458F-B1B0-42EA766B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76900"/>
            <a:ext cx="735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72B5"/>
                </a:solidFill>
              </a:defRPr>
            </a:pPr>
            <a:r>
              <a:rPr sz="2175" b="1">
                <a:solidFill>
                  <a:srgbClr val="0072B5"/>
                </a:solidFill>
              </a:rPr>
              <a:t>Hemostasis is not a diagnosis.</a:t>
            </a:r>
          </a:p>
        </p:txBody>
      </p:sp>
    </p:spTree>
    <p:extLst>
      <p:ext uri="{BB962C8B-B14F-4D97-AF65-F5344CB8AC3E}">
        <p14:creationId xmlns:p14="http://schemas.microsoft.com/office/powerpoint/2010/main" val="251054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1B9C5-E0FB-482B-A31B-FE56222D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5">
            <a:extLst xmlns:a="http://schemas.openxmlformats.org/drawingml/2006/main">
              <a:ext uri="{FF2B5EF4-FFF2-40B4-BE49-F238E27FC236}">
                <a16:creationId xmlns:a16="http://schemas.microsoft.com/office/drawing/2014/main" id="{6B5A0453-B53A-4728-B9AF-3128F89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BAE-OUTCOMES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7A55F09F-128B-49E5-9D00-03C18BD3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Immediate success is high; durability varies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7B015-95FA-4CCB-BA84-9B1EA2B9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538E5-BD35-4849-B44E-6383DD8C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5">
            <a:extLst xmlns:a="http://schemas.openxmlformats.org/drawingml/2006/main">
              <a:ext uri="{FF2B5EF4-FFF2-40B4-BE49-F238E27FC236}">
                <a16:creationId xmlns:a16="http://schemas.microsoft.com/office/drawing/2014/main" id="{BC78F364-AD71-4FC0-ACC3-4D9CC838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2022, Table 7. Ranges reflect heterogeneous studies and etiologies.</a:t>
            </a:r>
          </a:p>
        </p:txBody>
      </p:sp>
      <p:sp>
        <p:nvSpPr>
          <p:cNvPr id="7" name="page-15">
            <a:extLst xmlns:a="http://schemas.openxmlformats.org/drawingml/2006/main">
              <a:ext uri="{FF2B5EF4-FFF2-40B4-BE49-F238E27FC236}">
                <a16:creationId xmlns:a16="http://schemas.microsoft.com/office/drawing/2014/main" id="{6715A9FA-36D8-4E0E-97ED-7F5A446A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6ADFE-DB2B-4A3B-A886-BEC7E48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234D4-BB2B-4043-BB05-82CEEC22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BB7ED-8B23-4EC8-A538-1864577D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1923C-CA1E-41FD-A081-654E7C1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342AA-6D97-409B-B5CF-7DF5B55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03911-74BB-40B9-B86D-50121CF8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60DA-E26C-4331-8E1D-E6FFE0B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538E7-6E58-41E1-A5BE-C8B6748D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B67F4-2341-47B8-9FA3-CEC6284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0B70F-A87C-4D2C-B87F-CBE16CA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826D3-4196-4143-9F9E-784A35A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8B862-2B4C-4667-94AA-2D28ABF2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A48F7-9D83-414E-A8A0-68004BC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Technical success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6EDA1-B040-417C-9863-7AA334A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A6A50-0E56-489A-9BD4-6CAFAB18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66925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0B89-E2D8-4850-8C07-C47D958E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90-100%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DF840-51EC-496E-B471-8BB7B3E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Clinical success - 24 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DB273-6CE3-4F44-B226-611FA7CE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B99E2-A13E-4A39-80AE-4553E655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47975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85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86054-DC17-44FB-8ED9-F0FF3C5F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384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82-100%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9D597-E4C7-4797-8685-54E6665F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Clinical success - 30 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44E5B-390B-4047-98AF-55103FF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56EBD-9736-4639-AE98-30C3E80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466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EB435-1238-4A22-B28E-4D89AB13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70-92%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53A8B-76A2-4F83-9AA3-566DE1CF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Clinical success - 1 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E3FFAC-A3D3-43A4-8593-1EC0EE17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FB319-A370-4642-A055-493851D7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DAC155-0244-4D1B-B6B4-0C249948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005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64-92%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5CE43C-EB6E-4129-A2FE-8D0B6E69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C3C29"/>
                </a:solidFill>
              </a:defRPr>
            </a:pPr>
            <a:r>
              <a:rPr sz="2025" b="1">
                <a:solidFill>
                  <a:srgbClr val="BC3C29"/>
                </a:solidFill>
              </a:rPr>
              <a:t>Technical success is not one-year control.</a:t>
            </a:r>
          </a:p>
        </p:txBody>
      </p:sp>
    </p:spTree>
    <p:extLst>
      <p:ext uri="{BB962C8B-B14F-4D97-AF65-F5344CB8AC3E}">
        <p14:creationId xmlns:p14="http://schemas.microsoft.com/office/powerpoint/2010/main" val="17941268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196A58-57F8-4B32-9EAB-CE46CF53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6">
            <a:extLst xmlns:a="http://schemas.openxmlformats.org/drawingml/2006/main">
              <a:ext uri="{FF2B5EF4-FFF2-40B4-BE49-F238E27FC236}">
                <a16:creationId xmlns:a16="http://schemas.microsoft.com/office/drawing/2014/main" id="{AC16B360-E049-46C3-BD99-00D56286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REBLEEDING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1D77071D-C021-4BFE-B2AB-B2AED2D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Rebleeding means source control is incomplete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1664B-CF05-443A-AFA7-3316B9BA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C5B31-32CF-4A2A-BA22-E8C7B04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6">
            <a:extLst xmlns:a="http://schemas.openxmlformats.org/drawingml/2006/main">
              <a:ext uri="{FF2B5EF4-FFF2-40B4-BE49-F238E27FC236}">
                <a16:creationId xmlns:a16="http://schemas.microsoft.com/office/drawing/2014/main" id="{F7BF80CA-8579-4A36-B23A-F59FC99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Source: CIRSE 2022, rebleeding risk factors.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9A35BD28-9884-4C1F-862A-E4A3000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4A1EC-2918-4767-BF46-A3E38D7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20FCE-2E17-400B-8BE0-C89E4596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A7E3F-D19C-4A13-902A-D8961CF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C3C29"/>
                </a:solidFill>
              </a:defRPr>
            </a:pPr>
            <a:r>
              <a:rPr sz="1950" b="1">
                <a:solidFill>
                  <a:srgbClr val="BC3C29"/>
                </a:solidFill>
              </a:rPr>
              <a:t>Incomplete embolization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00966-BBE1-4CAB-A942-2D61A32C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A culprit artery or collateral was missed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2B54F-4B62-45C0-A453-93F8E4B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718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CF025-0739-4280-9EBE-2FF9A145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EBF51-E227-4031-A850-E5FDCAE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F69EC-E51A-418A-ACC2-6D24A363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2B5"/>
                </a:solidFill>
              </a:defRPr>
            </a:pPr>
            <a:r>
              <a:rPr sz="1950" b="1">
                <a:solidFill>
                  <a:srgbClr val="0072B5"/>
                </a:solidFill>
              </a:rPr>
              <a:t>Untreated disease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94595-F24A-4BA7-9DCE-9BFB775F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Tumor, infection, or inflammation continues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ADBAC-6EC3-408A-ACD8-1E2D7939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D2135-A7D1-4FAF-BC22-BF9DA44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59BFB-45D7-43BF-B552-25EEB961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29FAE-340D-45BA-B91F-9228DCC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18727"/>
                </a:solidFill>
              </a:defRPr>
            </a:pPr>
            <a:r>
              <a:rPr sz="1950" b="1">
                <a:solidFill>
                  <a:srgbClr val="E18727"/>
                </a:solidFill>
              </a:rPr>
              <a:t>Recanalization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00963-25C7-4AC1-8D2A-0DE1BC2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A treated vessel becomes patent again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90727-4B02-4183-816D-B5A7E27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05A2D-E0BF-4111-94FE-B2D03D8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76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876CC-6CE9-48B1-BF33-9340425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473D2-866A-41F6-99CD-CF20F41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876B1"/>
                </a:solidFill>
              </a:defRPr>
            </a:pPr>
            <a:r>
              <a:rPr sz="1950" b="1">
                <a:solidFill>
                  <a:srgbClr val="7876B1"/>
                </a:solidFill>
              </a:rPr>
              <a:t>New collaterals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478EB-0B6A-4047-8C65-FE4AE72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Chronic inflammation recruits new supply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8C3EE-F704-47FE-AAF3-51BB5946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F2D5A-55F2-4E21-A3CA-206036B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C3C29"/>
                </a:solidFill>
              </a:defRPr>
            </a:pPr>
            <a:r>
              <a:rPr sz="2100" b="1">
                <a:solidFill>
                  <a:srgbClr val="BC3C29"/>
                </a:solidFill>
              </a:rPr>
              <a:t>Re-localize. Reassess the disease.</a:t>
            </a:r>
          </a:p>
        </p:txBody>
      </p:sp>
    </p:spTree>
    <p:extLst>
      <p:ext uri="{BB962C8B-B14F-4D97-AF65-F5344CB8AC3E}">
        <p14:creationId xmlns:p14="http://schemas.microsoft.com/office/powerpoint/2010/main" val="13602355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691B04-33F8-4EF7-9760-52908D4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7">
            <a:extLst xmlns:a="http://schemas.openxmlformats.org/drawingml/2006/main">
              <a:ext uri="{FF2B5EF4-FFF2-40B4-BE49-F238E27FC236}">
                <a16:creationId xmlns:a16="http://schemas.microsoft.com/office/drawing/2014/main" id="{9073D1B7-5556-4719-9970-9B0AE09D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TISSUE-STRATEGY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FEC7CFB7-6798-413C-8707-9A8A46F5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Choose a new tissue target after BAE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E1450-487C-4C4B-8DFE-0DDD271F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B075C-E965-4E1D-8BAF-010F658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7">
            <a:extLst xmlns:a="http://schemas.openxmlformats.org/drawingml/2006/main">
              <a:ext uri="{FF2B5EF4-FFF2-40B4-BE49-F238E27FC236}">
                <a16:creationId xmlns:a16="http://schemas.microsoft.com/office/drawing/2014/main" id="{1925D1CC-FC7F-4816-8DF4-784A7AE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Sources: Expanded review synthesis; JAMA 2022 nodule review (route trade-offs, scope qualified).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4211808F-5618-41DF-96DE-1AB0B204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041D8-DCA5-4E3B-978B-F9EA98E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ECAF5-318E-4FD5-A0A1-B790CF2F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Best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7A036-BF5E-40B8-B40C-8259AD66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04950"/>
            <a:ext cx="611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D524A-A5A9-4103-BFB1-B1274DE1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6210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8EA16-530A-4C79-8281-71E0315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91645-3F7B-4491-A643-57B60B6F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C3C29"/>
                </a:solidFill>
              </a:defRPr>
            </a:pPr>
            <a:r>
              <a:rPr sz="1650" b="1">
                <a:solidFill>
                  <a:srgbClr val="BC3C29"/>
                </a:solidFill>
              </a:rPr>
              <a:t>Visible endobronchial lesion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C4266-8F94-4A60-BE2C-CE29E0C9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24050"/>
            <a:ext cx="6115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CD6F8-7495-4253-A87A-5E88619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193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Conventional bronchoscopy biopsy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6A14E-057B-498F-8BB8-6EEFDA26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D4C5B-5E16-4EC5-8695-4053353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99AD"/>
                </a:solidFill>
              </a:defRPr>
            </a:pPr>
            <a:r>
              <a:rPr sz="1650" b="1">
                <a:solidFill>
                  <a:srgbClr val="6F99AD"/>
                </a:solidFill>
              </a:rPr>
              <a:t>Airway-adjacent peripheral lesion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FFACF-E03A-413D-AF6A-1A5C1F56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6115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70380-D073-49F3-A4C7-5AD686C7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Guided / robotic bronchoscopy ± radial EBUS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2010B-D1DD-4042-83DA-3A46C631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96500-486F-42FD-AA1A-65BDF19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2B5"/>
                </a:solidFill>
              </a:defRPr>
            </a:pPr>
            <a:r>
              <a:rPr sz="1650" b="1">
                <a:solidFill>
                  <a:srgbClr val="0072B5"/>
                </a:solidFill>
              </a:rPr>
              <a:t>Pleural-based or peripheral mass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604F0-AF8C-4197-A94F-B54B9A8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48050"/>
            <a:ext cx="6115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10BE6-590A-47E4-9167-78B2329F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CT-guided core biopsy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00690-C1F3-4531-94F0-0D17B0B3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687D3-E3D5-46DF-92A8-B4B0B42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854E"/>
                </a:solidFill>
              </a:defRPr>
            </a:pPr>
            <a:r>
              <a:rPr sz="1650" b="1">
                <a:solidFill>
                  <a:srgbClr val="20854E"/>
                </a:solidFill>
              </a:rPr>
              <a:t>Mediastinal / hilar node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C4919-1D73-4222-A7CA-819D368D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6115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4D6B0-E042-4D80-AC67-AF516552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053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EBUS-TBNA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38FD6-BAA7-4225-9F53-D4B7001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D0D6D4-BA31-4EA5-9BC4-5608AA60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18727"/>
                </a:solidFill>
              </a:defRPr>
            </a:pPr>
            <a:r>
              <a:rPr sz="1650" b="1">
                <a:solidFill>
                  <a:srgbClr val="E18727"/>
                </a:solidFill>
              </a:rPr>
              <a:t>Persistent high suspicion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AE3EB-82DC-4E22-802D-4D148B2D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72050"/>
            <a:ext cx="6115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6A1C1-2B51-4EFF-ACF1-25659EE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673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VATS / surgical biopsy or resection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83B83-B1BE-4B1C-98EC-9F34375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483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C3C29"/>
                </a:solidFill>
              </a:defRPr>
            </a:pPr>
            <a:r>
              <a:rPr sz="1875" b="1">
                <a:solidFill>
                  <a:srgbClr val="BC3C29"/>
                </a:solidFill>
              </a:rPr>
              <a:t>Confirm vascular safety before sampling.</a:t>
            </a:r>
          </a:p>
        </p:txBody>
      </p:sp>
    </p:spTree>
    <p:extLst>
      <p:ext uri="{BB962C8B-B14F-4D97-AF65-F5344CB8AC3E}">
        <p14:creationId xmlns:p14="http://schemas.microsoft.com/office/powerpoint/2010/main" val="18050460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6CDD1-9B02-4825-A9EB-7C535A7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8">
            <a:extLst xmlns:a="http://schemas.openxmlformats.org/drawingml/2006/main">
              <a:ext uri="{FF2B5EF4-FFF2-40B4-BE49-F238E27FC236}">
                <a16:creationId xmlns:a16="http://schemas.microsoft.com/office/drawing/2014/main" id="{3CD71249-C77D-4A04-B261-CF1864F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MM-INFLECTION</a:t>
            </a:r>
          </a:p>
        </p:txBody>
      </p:sp>
      <p:sp>
        <p:nvSpPr>
          <p:cNvPr id="3" name="title-18">
            <a:extLst xmlns:a="http://schemas.openxmlformats.org/drawingml/2006/main">
              <a:ext uri="{FF2B5EF4-FFF2-40B4-BE49-F238E27FC236}">
                <a16:creationId xmlns:a16="http://schemas.microsoft.com/office/drawing/2014/main" id="{C1547853-F572-4283-A17A-8421E020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M&amp;M error: hemostasis became diagnostic 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E9898-6EB6-4335-B6B3-85119D3F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F11F6-68CC-4059-8247-7CF0D65B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8">
            <a:extLst xmlns:a="http://schemas.openxmlformats.org/drawingml/2006/main">
              <a:ext uri="{FF2B5EF4-FFF2-40B4-BE49-F238E27FC236}">
                <a16:creationId xmlns:a16="http://schemas.microsoft.com/office/drawing/2014/main" id="{0E5B6B08-4F01-45FD-8CD6-9762A587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M&amp;M framework: avoid hindsight bias; distinguish hemostatic and diagnostic outcomes.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A0FD0D5E-466D-43C1-8676-00ECEFF2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DE257-0A8E-4542-8458-0267E3B1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10325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62B33-03A9-4CAA-B886-89D0A325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CA252-D13E-4601-BC16-92636D22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ECEEE-C814-44D5-ABDB-7A70296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C3C29"/>
                </a:solidFill>
              </a:defRPr>
            </a:pPr>
            <a:r>
              <a:rPr sz="1800" b="1">
                <a:solidFill>
                  <a:srgbClr val="BC3C29"/>
                </a:solidFill>
              </a:rPr>
              <a:t>Bleeding identified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F49E5-B658-4F11-9E4D-D8CCC858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Severity and source uncertain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F1A9F-9134-487A-BEB6-5B4C30A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9106-F5B1-4719-A0A3-6348F9E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B04D0-E81A-4751-81D7-9A7138D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957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99AD"/>
                </a:solidFill>
              </a:defRPr>
            </a:pPr>
            <a:r>
              <a:rPr sz="1800" b="1">
                <a:solidFill>
                  <a:srgbClr val="6F99AD"/>
                </a:solidFill>
              </a:rPr>
              <a:t>Nondiagnostic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91562-21A8-42CE-8F33-D9A49E85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Mass remains unresolved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B5A42-6DA8-482B-AF0E-87BC08F2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D98A8-53DE-46F5-8300-8A8FE7D1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89228-DFA7-4FDA-8302-7A554D8E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957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854E"/>
                </a:solidFill>
              </a:defRPr>
            </a:pPr>
            <a:r>
              <a:rPr sz="1800" b="1">
                <a:solidFill>
                  <a:srgbClr val="20854E"/>
                </a:solidFill>
              </a:rPr>
              <a:t>BAE controls bleeding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48DF7-875C-4219-A0B0-6FFF6B04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Acute hazard improves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E9336-530B-4F91-AC94-2C88C1D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EA05A-333D-49C5-83BF-D01F6FB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860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B4264-55F4-474C-A888-0BA6C6BA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8727"/>
                </a:solidFill>
              </a:defRPr>
            </a:pPr>
            <a:r>
              <a:rPr sz="1800" b="1">
                <a:solidFill>
                  <a:srgbClr val="E18727"/>
                </a:solidFill>
              </a:rPr>
              <a:t>Diagnostic closure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A2C5E-8819-4B0C-9531-CFF1CC10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The mass loses an 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7AB14-9C3F-4B4C-8148-61345CA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2450C-B1BE-4129-BEB8-0683C439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18727"/>
                </a:solidFill>
              </a:defRPr>
            </a:pPr>
            <a:r>
              <a:rPr sz="1650" b="1">
                <a:solidFill>
                  <a:srgbClr val="E18727"/>
                </a:solidFill>
              </a:rPr>
              <a:t>Who owns the</a:t>
            </a:r>
          </a:p>
          <a:p xmlns:a="http://schemas.openxmlformats.org/drawingml/2006/main">
            <a:pPr algn="ctr">
              <a:defRPr sz="1650" b="1">
                <a:solidFill>
                  <a:srgbClr val="E18727"/>
                </a:solidFill>
              </a:defRPr>
            </a:pPr>
            <a:r>
              <a:rPr sz="1650" b="1">
                <a:solidFill>
                  <a:srgbClr val="E18727"/>
                </a:solidFill>
              </a:rPr>
              <a:t>unresolved diagnosis?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90E8F-5246-4265-95FA-FA9CA985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1975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124"/>
                </a:solidFill>
              </a:defRPr>
            </a:pPr>
            <a:r>
              <a:rPr sz="1875" b="1">
                <a:solidFill>
                  <a:srgbClr val="202124"/>
                </a:solidFill>
              </a:rPr>
              <a:t>Ask what was known then—and why uncertainty vanished.</a:t>
            </a:r>
          </a:p>
        </p:txBody>
      </p:sp>
    </p:spTree>
    <p:extLst>
      <p:ext uri="{BB962C8B-B14F-4D97-AF65-F5344CB8AC3E}">
        <p14:creationId xmlns:p14="http://schemas.microsoft.com/office/powerpoint/2010/main" val="1978555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0A196-C716-44EB-A4D3-4FACCAB4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19">
            <a:extLst xmlns:a="http://schemas.openxmlformats.org/drawingml/2006/main">
              <a:ext uri="{FF2B5EF4-FFF2-40B4-BE49-F238E27FC236}">
                <a16:creationId xmlns:a16="http://schemas.microsoft.com/office/drawing/2014/main" id="{BCABE529-6229-40F2-A1B8-ADCF137E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PREVENTION-BUNDLE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F42C8675-880F-4CBE-89A0-70D6765B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Prevention needs ownership and deadlines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8C811-759A-41A4-A204-0892BBF3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54ECA-9DE8-4F11-A1A4-5661EDFF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19">
            <a:extLst xmlns:a="http://schemas.openxmlformats.org/drawingml/2006/main">
              <a:ext uri="{FF2B5EF4-FFF2-40B4-BE49-F238E27FC236}">
                <a16:creationId xmlns:a16="http://schemas.microsoft.com/office/drawing/2014/main" id="{B471DF09-6322-4C68-AAFD-0C9BAC00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Hemoptysis + Lung Mass | Editable M&amp;M Deck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DB0A5DFE-1D89-4474-8A48-B9210E3A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5190A-DA3A-45E5-B405-34DA7D9B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718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40B41-2A39-455E-8436-1D3B6CD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718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0A78D-FBD5-4FDD-8F06-805184C2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solidFill>
              <a:srgbClr val="D9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D1A6A-CB01-4D1B-A638-362A91E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2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F7B27-7DFF-4BE4-B174-C4C4935D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45242-0C58-425C-8E6D-77538BBA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FB323-D900-4BC1-9928-49CB0BCB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2B5"/>
                </a:solidFill>
              </a:defRPr>
            </a:pPr>
            <a:r>
              <a:rPr sz="1875" b="1">
                <a:solidFill>
                  <a:srgbClr val="0072B5"/>
                </a:solidFill>
              </a:rPr>
              <a:t>Diagnostic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99CC3-DF42-4C25-8992-CC15852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One clinician owns the unresolved 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84986-F937-46DE-A62F-952FD39E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F99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73961-EB3A-4600-B86C-9A74EF7B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9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E2D4C-434C-4B3C-8980-50DF98BF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A3DB8-CDC6-4150-8F3F-68FDEDD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F99AD"/>
                </a:solidFill>
              </a:defRPr>
            </a:pPr>
            <a:r>
              <a:rPr sz="1875" b="1">
                <a:solidFill>
                  <a:srgbClr val="6F99AD"/>
                </a:solidFill>
              </a:rPr>
              <a:t>Exact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BA716-DCF9-418E-B403-2F539D5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Name the lesion, airway, node, or vessel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6D418-1C16-45E3-8BBF-9478BBB8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85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76481-20C6-41D3-B096-54C7DFD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854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7F3BC-954E-489E-BEE5-F1347FE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EFADB-7996-459F-A13B-C8DC1FD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854E"/>
                </a:solidFill>
              </a:defRPr>
            </a:pPr>
            <a:r>
              <a:rPr sz="1875" b="1">
                <a:solidFill>
                  <a:srgbClr val="20854E"/>
                </a:solidFill>
              </a:rPr>
              <a:t>Specimen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C7C86-F3BB-4F09-B2C3-A7183121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Pre-assign pathology and cultures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07764-DCD2-4FED-885D-D2ABBEB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381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87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DE89C-8FA0-43F6-8B9E-5EB27D5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621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11ACE0-1502-4B66-9120-AD6C0C1F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24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0C4FF-E1BC-4D5B-A56B-8D83574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18727"/>
                </a:solidFill>
              </a:defRPr>
            </a:pPr>
            <a:r>
              <a:rPr sz="1875" b="1">
                <a:solidFill>
                  <a:srgbClr val="E18727"/>
                </a:solidFill>
              </a:rPr>
              <a:t>Deadline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2E027-5402-4C98-BC57-915BECB2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Set the next test and escalation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801CD-7B2A-41ED-AC93-AF8E8C8E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19750"/>
            <a:ext cx="624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C3C29"/>
                </a:solidFill>
              </a:defRPr>
            </a:pPr>
            <a:r>
              <a:rPr sz="2025" b="1">
                <a:solidFill>
                  <a:srgbClr val="BC3C29"/>
                </a:solidFill>
              </a:rPr>
              <a:t>Keep the unresolved diagnosis active.</a:t>
            </a:r>
          </a:p>
        </p:txBody>
      </p:sp>
    </p:spTree>
    <p:extLst>
      <p:ext uri="{BB962C8B-B14F-4D97-AF65-F5344CB8AC3E}">
        <p14:creationId xmlns:p14="http://schemas.microsoft.com/office/powerpoint/2010/main" val="2521425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FFBCC-3A51-404C-B9F1-7CF2E162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bel-20">
            <a:extLst xmlns:a="http://schemas.openxmlformats.org/drawingml/2006/main">
              <a:ext uri="{FF2B5EF4-FFF2-40B4-BE49-F238E27FC236}">
                <a16:creationId xmlns:a16="http://schemas.microsoft.com/office/drawing/2014/main" id="{BF2EBDF8-5FFA-488F-8A09-D6A1782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99AD"/>
                </a:solidFill>
              </a:defRPr>
            </a:pPr>
            <a:r>
              <a:rPr sz="825" b="1">
                <a:solidFill>
                  <a:srgbClr val="6F99AD"/>
                </a:solidFill>
              </a:rPr>
              <a:t>TAKE-HOME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88A6F504-AA8D-4B32-8C28-224A98AA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</a:defRPr>
            </a:pPr>
            <a:r>
              <a:rPr sz="2850" b="1">
                <a:solidFill>
                  <a:srgbClr val="202124"/>
                </a:solidFill>
              </a:rPr>
              <a:t>Control bleeding. Finish the diagnosis.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C73B8-826D-4617-B987-016553F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43783-8EA8-4DC5-BBF9-530B0DCD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20">
            <a:extLst xmlns:a="http://schemas.openxmlformats.org/drawingml/2006/main">
              <a:ext uri="{FF2B5EF4-FFF2-40B4-BE49-F238E27FC236}">
                <a16:creationId xmlns:a16="http://schemas.microsoft.com/office/drawing/2014/main" id="{D30BF4FB-0437-4DE7-8C97-2F7241F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334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298"/>
                </a:solidFill>
              </a:defRPr>
            </a:pPr>
            <a:r>
              <a:rPr sz="750" b="0">
                <a:solidFill>
                  <a:srgbClr val="8B9298"/>
                </a:solidFill>
              </a:rPr>
              <a:t>Educational synthesis; patient-specific decisions require multidisciplinary judgment.</a:t>
            </a:r>
          </a:p>
        </p:txBody>
      </p:sp>
      <p:sp>
        <p:nvSpPr>
          <p:cNvPr id="7" name="page-20">
            <a:extLst xmlns:a="http://schemas.openxmlformats.org/drawingml/2006/main">
              <a:ext uri="{FF2B5EF4-FFF2-40B4-BE49-F238E27FC236}">
                <a16:creationId xmlns:a16="http://schemas.microsoft.com/office/drawing/2014/main" id="{7D8C37EB-5708-4EAD-B75C-368C05EA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865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BC72F-9A64-4E84-9CC0-9A9FF76C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3C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4C5B6-FDFF-4887-A156-99B242B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6E328-4F92-4E20-9C65-ACF087DD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811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C3C29"/>
                </a:solidFill>
              </a:defRPr>
            </a:pPr>
            <a:r>
              <a:rPr sz="2025" b="1">
                <a:solidFill>
                  <a:srgbClr val="BC3C29"/>
                </a:solidFill>
              </a:rPr>
              <a:t>Control bleeding by physiology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CBF07-5962-4325-B40D-99D4E425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76450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Airway, oxygenation, circulation, trajectory, and reserve set urgency.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50A39-EDA6-44C3-B5C8-51FEEBE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7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0044F-245B-495A-9722-7F316A19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C23F6-A114-45DA-B637-3B6F67A6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813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18727"/>
                </a:solidFill>
              </a:defRPr>
            </a:pPr>
            <a:r>
              <a:rPr sz="2025" b="1">
                <a:solidFill>
                  <a:srgbClr val="E18727"/>
                </a:solidFill>
              </a:rPr>
              <a:t>Keep procedure results honest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6FC03-D2C7-44CE-99E0-B3781B4F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76600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Blood, necrosis, atypia, and inflammation are nondiagnostic—not benign.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C37C1-76CD-4C42-B64B-F77B173E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ED6E9-BAA0-48F4-8376-87DD718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7CEBC-AAE7-4FBC-9F23-C185012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81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2B5"/>
                </a:solidFill>
              </a:defRPr>
            </a:pPr>
            <a:r>
              <a:rPr sz="2025" b="1">
                <a:solidFill>
                  <a:srgbClr val="0072B5"/>
                </a:solidFill>
              </a:rPr>
              <a:t>Finish the diagnosis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C8A52-6670-488C-BD89-3C51BA8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After BAE, choose a better target, route, specimen plan, and owner.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171FF-5704-4E85-98A0-5C0B9BF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AC58C-9DE1-4264-B117-A6726555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Key sources: AAFP 2022 • ACR Hemoptysis • CIRSE 2022 • ATS/ACCP 2024 • JAMA 2022 • Chen 2022</a:t>
            </a:r>
          </a:p>
          <a:p xmlns:a="http://schemas.openxmlformats.org/drawingml/2006/main"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Scope warning: pulmonary nodule thresholds do not automatically apply to a &gt;3 cm mass.</a:t>
            </a:r>
          </a:p>
        </p:txBody>
      </p:sp>
    </p:spTree>
    <p:extLst>
      <p:ext uri="{BB962C8B-B14F-4D97-AF65-F5344CB8AC3E}">
        <p14:creationId xmlns:p14="http://schemas.microsoft.com/office/powerpoint/2010/main" val="1034817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2026-07-19T08:25:16.6300000Z</dcterms:created>
  <dcterms:modified xsi:type="dcterms:W3CDTF">2026-07-19T08:25:16.6300000Z</dcterms:modified>
</coreProperties>
</file>