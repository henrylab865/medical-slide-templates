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dda8fe0d3241a6" /><Relationship Type="http://schemas.openxmlformats.org/officeDocument/2006/relationships/extended-properties" Target="/docProps/app.xml" Id="R7f4429263b3b460e" /><Relationship Type="http://schemas.openxmlformats.org/officeDocument/2006/relationships/officeDocument" Target="/ppt/presentation.xml" Id="Ra6b54610e6814d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588f8a19514951"/>
  </p:sldMasterIdLst>
  <p:notesMasterIdLst>
    <p:notesMasterId xmlns:r="http://schemas.openxmlformats.org/officeDocument/2006/relationships" r:id="R3948c1d4a856489e"/>
  </p:notesMasterIdLst>
  <p:sldIdLst>
    <p:sldId xmlns:r="http://schemas.openxmlformats.org/officeDocument/2006/relationships" id="256" r:id="R1c2e960e702e4690"/>
    <p:sldId xmlns:r="http://schemas.openxmlformats.org/officeDocument/2006/relationships" id="257" r:id="R363794df191e4ee5"/>
    <p:sldId xmlns:r="http://schemas.openxmlformats.org/officeDocument/2006/relationships" id="258" r:id="R1217174f17864e14"/>
    <p:sldId xmlns:r="http://schemas.openxmlformats.org/officeDocument/2006/relationships" id="259" r:id="R86224e5c22284db9"/>
    <p:sldId xmlns:r="http://schemas.openxmlformats.org/officeDocument/2006/relationships" id="260" r:id="R6f7a69cb1ba44b6d"/>
    <p:sldId xmlns:r="http://schemas.openxmlformats.org/officeDocument/2006/relationships" id="261" r:id="R4f11ee2f0ec74097"/>
    <p:sldId xmlns:r="http://schemas.openxmlformats.org/officeDocument/2006/relationships" id="262" r:id="R50ebd07cf71f4872"/>
    <p:sldId xmlns:r="http://schemas.openxmlformats.org/officeDocument/2006/relationships" id="263" r:id="R6b6488e278c84ff2"/>
    <p:sldId xmlns:r="http://schemas.openxmlformats.org/officeDocument/2006/relationships" id="264" r:id="Rb0095a6f35f24b9a"/>
    <p:sldId xmlns:r="http://schemas.openxmlformats.org/officeDocument/2006/relationships" id="265" r:id="R7d5654d7312747ad"/>
    <p:sldId xmlns:r="http://schemas.openxmlformats.org/officeDocument/2006/relationships" id="266" r:id="R10e5a424f3db40eb"/>
    <p:sldId xmlns:r="http://schemas.openxmlformats.org/officeDocument/2006/relationships" id="267" r:id="R3a85c977621b45e3"/>
    <p:sldId xmlns:r="http://schemas.openxmlformats.org/officeDocument/2006/relationships" id="268" r:id="R04c5587f31734abc"/>
    <p:sldId xmlns:r="http://schemas.openxmlformats.org/officeDocument/2006/relationships" id="269" r:id="Rdc1a870e7dde4bde"/>
    <p:sldId xmlns:r="http://schemas.openxmlformats.org/officeDocument/2006/relationships" id="270" r:id="R34c13b2ba69f4ff8"/>
    <p:sldId xmlns:r="http://schemas.openxmlformats.org/officeDocument/2006/relationships" id="271" r:id="Rb41780ec0f054947"/>
    <p:sldId xmlns:r="http://schemas.openxmlformats.org/officeDocument/2006/relationships" id="272" r:id="R13d8640a6f9f4493"/>
    <p:sldId xmlns:r="http://schemas.openxmlformats.org/officeDocument/2006/relationships" id="273" r:id="Raf9ace847f094897"/>
    <p:sldId xmlns:r="http://schemas.openxmlformats.org/officeDocument/2006/relationships" id="274" r:id="Raa51c997b65e47e0"/>
    <p:sldId xmlns:r="http://schemas.openxmlformats.org/officeDocument/2006/relationships" id="275" r:id="R7aaaf86ebbcf4b4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0c08714fa14098" /><Relationship Type="http://schemas.openxmlformats.org/officeDocument/2006/relationships/slideMaster" Target="/ppt/slideMasters/slideMaster1.xml" Id="Rc6588f8a19514951" /><Relationship Type="http://schemas.openxmlformats.org/officeDocument/2006/relationships/notesMaster" Target="/ppt/notesMasters/notesMaster1.xml" Id="R3948c1d4a856489e" /><Relationship Type="http://schemas.openxmlformats.org/officeDocument/2006/relationships/presProps" Target="/ppt/presProps.xml" Id="Rc51bac0ac3ae4101" /><Relationship Type="http://schemas.openxmlformats.org/officeDocument/2006/relationships/tableStyles" Target="/ppt/tableStyles.xml" Id="R28f4aa35ca4943a0" /><Relationship Type="http://schemas.openxmlformats.org/officeDocument/2006/relationships/slide" Target="/ppt/slides/slide1.xml" Id="R1c2e960e702e4690" /><Relationship Type="http://schemas.openxmlformats.org/officeDocument/2006/relationships/slide" Target="/ppt/slides/slide2.xml" Id="R363794df191e4ee5" /><Relationship Type="http://schemas.openxmlformats.org/officeDocument/2006/relationships/slide" Target="/ppt/slides/slide3.xml" Id="R1217174f17864e14" /><Relationship Type="http://schemas.openxmlformats.org/officeDocument/2006/relationships/slide" Target="/ppt/slides/slide4.xml" Id="R86224e5c22284db9" /><Relationship Type="http://schemas.openxmlformats.org/officeDocument/2006/relationships/slide" Target="/ppt/slides/slide5.xml" Id="R6f7a69cb1ba44b6d" /><Relationship Type="http://schemas.openxmlformats.org/officeDocument/2006/relationships/slide" Target="/ppt/slides/slide6.xml" Id="R4f11ee2f0ec74097" /><Relationship Type="http://schemas.openxmlformats.org/officeDocument/2006/relationships/slide" Target="/ppt/slides/slide7.xml" Id="R50ebd07cf71f4872" /><Relationship Type="http://schemas.openxmlformats.org/officeDocument/2006/relationships/slide" Target="/ppt/slides/slide8.xml" Id="R6b6488e278c84ff2" /><Relationship Type="http://schemas.openxmlformats.org/officeDocument/2006/relationships/slide" Target="/ppt/slides/slide9.xml" Id="Rb0095a6f35f24b9a" /><Relationship Type="http://schemas.openxmlformats.org/officeDocument/2006/relationships/slide" Target="/ppt/slides/slide10.xml" Id="R7d5654d7312747ad" /><Relationship Type="http://schemas.openxmlformats.org/officeDocument/2006/relationships/slide" Target="/ppt/slides/slide11.xml" Id="R10e5a424f3db40eb" /><Relationship Type="http://schemas.openxmlformats.org/officeDocument/2006/relationships/slide" Target="/ppt/slides/slide12.xml" Id="R3a85c977621b45e3" /><Relationship Type="http://schemas.openxmlformats.org/officeDocument/2006/relationships/slide" Target="/ppt/slides/slide13.xml" Id="R04c5587f31734abc" /><Relationship Type="http://schemas.openxmlformats.org/officeDocument/2006/relationships/slide" Target="/ppt/slides/slide14.xml" Id="Rdc1a870e7dde4bde" /><Relationship Type="http://schemas.openxmlformats.org/officeDocument/2006/relationships/slide" Target="/ppt/slides/slide15.xml" Id="R34c13b2ba69f4ff8" /><Relationship Type="http://schemas.openxmlformats.org/officeDocument/2006/relationships/slide" Target="/ppt/slides/slide16.xml" Id="Rb41780ec0f054947" /><Relationship Type="http://schemas.openxmlformats.org/officeDocument/2006/relationships/slide" Target="/ppt/slides/slide17.xml" Id="R13d8640a6f9f4493" /><Relationship Type="http://schemas.openxmlformats.org/officeDocument/2006/relationships/slide" Target="/ppt/slides/slide18.xml" Id="Raf9ace847f094897" /><Relationship Type="http://schemas.openxmlformats.org/officeDocument/2006/relationships/slide" Target="/ppt/slides/slide19.xml" Id="Raa51c997b65e47e0" /><Relationship Type="http://schemas.openxmlformats.org/officeDocument/2006/relationships/slide" Target="/ppt/slides/slide20.xml" Id="R7aaaf86ebbcf4b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321eccf6104c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417f038028481c" /><Relationship Type="http://schemas.openxmlformats.org/officeDocument/2006/relationships/notesMaster" Target="/ppt/notesMasters/notesMaster1.xml" Id="Rde218f0d9c224c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194e200031450a" /><Relationship Type="http://schemas.openxmlformats.org/officeDocument/2006/relationships/notesMaster" Target="/ppt/notesMasters/notesMaster1.xml" Id="R8caf3b72667b43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013285e002493f" /><Relationship Type="http://schemas.openxmlformats.org/officeDocument/2006/relationships/notesMaster" Target="/ppt/notesMasters/notesMaster1.xml" Id="R089398afea8149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38ec165d074bb8" /><Relationship Type="http://schemas.openxmlformats.org/officeDocument/2006/relationships/notesMaster" Target="/ppt/notesMasters/notesMaster1.xml" Id="Ra985e9fd0dd74c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b587643f7af4bce" /><Relationship Type="http://schemas.openxmlformats.org/officeDocument/2006/relationships/notesMaster" Target="/ppt/notesMasters/notesMaster1.xml" Id="R01dcf859f9194d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08dded82f54a47" /><Relationship Type="http://schemas.openxmlformats.org/officeDocument/2006/relationships/notesMaster" Target="/ppt/notesMasters/notesMaster1.xml" Id="R56a12d292aae4a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35bf405bb84517" /><Relationship Type="http://schemas.openxmlformats.org/officeDocument/2006/relationships/notesMaster" Target="/ppt/notesMasters/notesMaster1.xml" Id="Rb74a2a0b639141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6070d4a5a84a9e" /><Relationship Type="http://schemas.openxmlformats.org/officeDocument/2006/relationships/notesMaster" Target="/ppt/notesMasters/notesMaster1.xml" Id="R057de72bb8b140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f98a9d6ad534cc9" /><Relationship Type="http://schemas.openxmlformats.org/officeDocument/2006/relationships/notesMaster" Target="/ppt/notesMasters/notesMaster1.xml" Id="Rf925a477456a445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f2335ec66174dcf" /><Relationship Type="http://schemas.openxmlformats.org/officeDocument/2006/relationships/notesMaster" Target="/ppt/notesMasters/notesMaster1.xml" Id="Rd3552509f84d425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15e763284554744" /><Relationship Type="http://schemas.openxmlformats.org/officeDocument/2006/relationships/notesMaster" Target="/ppt/notesMasters/notesMaster1.xml" Id="R38429225d75447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5b3d1e3d0a4772" /><Relationship Type="http://schemas.openxmlformats.org/officeDocument/2006/relationships/notesMaster" Target="/ppt/notesMasters/notesMaster1.xml" Id="Re590b64c168441c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f561f9d248c40b4" /><Relationship Type="http://schemas.openxmlformats.org/officeDocument/2006/relationships/notesMaster" Target="/ppt/notesMasters/notesMaster1.xml" Id="Rb46021556caf41d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05b3b7ce98742ec" /><Relationship Type="http://schemas.openxmlformats.org/officeDocument/2006/relationships/notesMaster" Target="/ppt/notesMasters/notesMaster1.xml" Id="R47fd3f18e555413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5a5c4cb016241f5" /><Relationship Type="http://schemas.openxmlformats.org/officeDocument/2006/relationships/notesMaster" Target="/ppt/notesMasters/notesMaster1.xml" Id="R9109bc577e134cc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0d98c3df3ae400f" /><Relationship Type="http://schemas.openxmlformats.org/officeDocument/2006/relationships/notesMaster" Target="/ppt/notesMasters/notesMaster1.xml" Id="R167dcbd071954d3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59dde5b3d9b4ae1" /><Relationship Type="http://schemas.openxmlformats.org/officeDocument/2006/relationships/notesMaster" Target="/ppt/notesMasters/notesMaster1.xml" Id="R802dc51bb21242e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498e41589c7405b" /><Relationship Type="http://schemas.openxmlformats.org/officeDocument/2006/relationships/notesMaster" Target="/ppt/notesMasters/notesMaster1.xml" Id="R9dfecb5bddbc438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82e99969fe7453e" /><Relationship Type="http://schemas.openxmlformats.org/officeDocument/2006/relationships/notesMaster" Target="/ppt/notesMasters/notesMaster1.xml" Id="R66ca6749903945c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cfdb046ec2a438e" /><Relationship Type="http://schemas.openxmlformats.org/officeDocument/2006/relationships/notesMaster" Target="/ppt/notesMasters/notesMaster1.xml" Id="R25b609f8bf2a40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1dc62e4beb47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db5be2317f4b55" /><Relationship Type="http://schemas.openxmlformats.org/officeDocument/2006/relationships/slideLayout" Target="/ppt/slideLayouts/slideLayout1.xml" Id="R96166eaccbbd4ae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166eaccbbd4ae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a3d4c31a14ff6" /><Relationship Type="http://schemas.openxmlformats.org/officeDocument/2006/relationships/notesSlide" Target="/ppt/notesSlides/notesSlide1.xml" Id="R505e5985795c41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133e0856d4c03" /><Relationship Type="http://schemas.openxmlformats.org/officeDocument/2006/relationships/notesSlide" Target="/ppt/notesSlides/notesSlide2.xml" Id="R8c9ffc5edfa849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3b151aba14787" /><Relationship Type="http://schemas.openxmlformats.org/officeDocument/2006/relationships/notesSlide" Target="/ppt/notesSlides/notesSlide3.xml" Id="R0a04147e894d45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b491f4f38481d" /><Relationship Type="http://schemas.openxmlformats.org/officeDocument/2006/relationships/notesSlide" Target="/ppt/notesSlides/notesSlide4.xml" Id="Rd80f2c3ee6ab48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c061754d44bc9" /><Relationship Type="http://schemas.openxmlformats.org/officeDocument/2006/relationships/notesSlide" Target="/ppt/notesSlides/notesSlide5.xml" Id="Rc26edc5122454d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f8c948dd24e55" /><Relationship Type="http://schemas.openxmlformats.org/officeDocument/2006/relationships/notesSlide" Target="/ppt/notesSlides/notesSlide6.xml" Id="R7e9030210f6d44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002f08d4041b9" /><Relationship Type="http://schemas.openxmlformats.org/officeDocument/2006/relationships/notesSlide" Target="/ppt/notesSlides/notesSlide7.xml" Id="R9b00cd0f7a3844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90102912843f7" /><Relationship Type="http://schemas.openxmlformats.org/officeDocument/2006/relationships/notesSlide" Target="/ppt/notesSlides/notesSlide8.xml" Id="R9123411f0cac4b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922c7390e44d14" /><Relationship Type="http://schemas.openxmlformats.org/officeDocument/2006/relationships/notesSlide" Target="/ppt/notesSlides/notesSlide9.xml" Id="Red760f81fedb4c5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2b6a1382e845fa" /><Relationship Type="http://schemas.openxmlformats.org/officeDocument/2006/relationships/notesSlide" Target="/ppt/notesSlides/notesSlide10.xml" Id="R133b35821f1144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c73396e0a409d" /><Relationship Type="http://schemas.openxmlformats.org/officeDocument/2006/relationships/notesSlide" Target="/ppt/notesSlides/notesSlide11.xml" Id="R9d2a1a33f41643a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30dd2199b54e14" /><Relationship Type="http://schemas.openxmlformats.org/officeDocument/2006/relationships/notesSlide" Target="/ppt/notesSlides/notesSlide12.xml" Id="Rae8cbf8fd7c549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eff0b1ef44387" /><Relationship Type="http://schemas.openxmlformats.org/officeDocument/2006/relationships/notesSlide" Target="/ppt/notesSlides/notesSlide13.xml" Id="R611c4266d0f94c8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f21368a5ef4633" /><Relationship Type="http://schemas.openxmlformats.org/officeDocument/2006/relationships/notesSlide" Target="/ppt/notesSlides/notesSlide14.xml" Id="R5213d2bc90944fc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176156d6e4bfc" /><Relationship Type="http://schemas.openxmlformats.org/officeDocument/2006/relationships/notesSlide" Target="/ppt/notesSlides/notesSlide15.xml" Id="R1e08600616e1468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0dfc510a346ff" /><Relationship Type="http://schemas.openxmlformats.org/officeDocument/2006/relationships/notesSlide" Target="/ppt/notesSlides/notesSlide16.xml" Id="R5fc584e71c244a4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130fb5ee8424d" /><Relationship Type="http://schemas.openxmlformats.org/officeDocument/2006/relationships/notesSlide" Target="/ppt/notesSlides/notesSlide17.xml" Id="Rfe72e06332cd4df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1336a9952445ff" /><Relationship Type="http://schemas.openxmlformats.org/officeDocument/2006/relationships/notesSlide" Target="/ppt/notesSlides/notesSlide18.xml" Id="R1e87677b635747c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108064780c4c31" /><Relationship Type="http://schemas.openxmlformats.org/officeDocument/2006/relationships/notesSlide" Target="/ppt/notesSlides/notesSlide19.xml" Id="R442bffe8aa804e9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98cdf731a4d96" /><Relationship Type="http://schemas.openxmlformats.org/officeDocument/2006/relationships/notesSlide" Target="/ppt/notesSlides/notesSlide20.xml" Id="Ra1bd3f1ce44b4f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F9B799-D318-43FF-B844-4847E932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">
            <a:extLst xmlns:a="http://schemas.openxmlformats.org/drawingml/2006/main">
              <a:ext uri="{FF2B5EF4-FFF2-40B4-BE49-F238E27FC236}">
                <a16:creationId xmlns:a16="http://schemas.microsoft.com/office/drawing/2014/main" id="{EBE838F2-8D86-4085-8F23-0782D817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TITLE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C6258-ED3F-40F1-98A6-D9196E31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1">
            <a:extLst xmlns:a="http://schemas.openxmlformats.org/drawingml/2006/main">
              <a:ext uri="{FF2B5EF4-FFF2-40B4-BE49-F238E27FC236}">
                <a16:creationId xmlns:a16="http://schemas.microsoft.com/office/drawing/2014/main" id="{0F7C8DBD-60A8-4089-9ABD-07AB3219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Hemoptysis + Lung Mass | Editable M&amp;M Deck</a:t>
            </a:r>
          </a:p>
        </p:txBody>
      </p:sp>
      <p:sp>
        <p:nvSpPr>
          <p:cNvPr id="5" name="page-1">
            <a:extLst xmlns:a="http://schemas.openxmlformats.org/drawingml/2006/main">
              <a:ext uri="{FF2B5EF4-FFF2-40B4-BE49-F238E27FC236}">
                <a16:creationId xmlns:a16="http://schemas.microsoft.com/office/drawing/2014/main" id="{0662566E-1FEF-4CF5-A111-0CD1E1C9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159EAC-1F8E-4C81-BE9C-3EFE2D8E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72B5"/>
                </a:solidFill>
              </a:defRPr>
            </a:pPr>
            <a:r>
              <a:rPr sz="1050" b="1">
                <a:solidFill>
                  <a:srgbClr val="0072B5"/>
                </a:solidFill>
              </a:rPr>
              <a:t>M&amp;M CLINICAL REVIEW</a:t>
            </a:r>
          </a:p>
        </p:txBody>
      </p:sp>
      <p:sp>
        <p:nvSpPr>
          <p:cNvPr id="7" name="deck-title">
            <a:extLst xmlns:a="http://schemas.openxmlformats.org/drawingml/2006/main">
              <a:ext uri="{FF2B5EF4-FFF2-40B4-BE49-F238E27FC236}">
                <a16:creationId xmlns:a16="http://schemas.microsoft.com/office/drawing/2014/main" id="{61D6F937-DA34-482B-BBA6-0FC834A5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7429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02124"/>
                </a:solidFill>
              </a:defRPr>
            </a:pPr>
            <a:r>
              <a:rPr sz="4350" b="1">
                <a:solidFill>
                  <a:srgbClr val="202124"/>
                </a:solidFill>
              </a:rPr>
              <a:t>Hemoptysis + Lung Mass</a:t>
            </a:r>
          </a:p>
        </p:txBody>
      </p:sp>
      <p:sp>
        <p:nvSpPr>
          <p:cNvPr id="8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5AE7C3A4-8BA1-4886-8846-D620CC28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F6368"/>
                </a:solidFill>
              </a:defRPr>
            </a:pPr>
            <a:r>
              <a:rPr sz="1875" b="0">
                <a:solidFill>
                  <a:srgbClr val="5F6368"/>
                </a:solidFill>
              </a:rPr>
              <a:t>When hemostasis is not the end of the diagnosis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FC584-D393-4AE6-981F-EE78D20E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3825"/>
            <a:ext cx="457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977761-1759-44F3-8056-7178CDBC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72B5"/>
                </a:solidFill>
              </a:defRPr>
            </a:pPr>
            <a:r>
              <a:rPr sz="1350" b="1">
                <a:solidFill>
                  <a:srgbClr val="0072B5"/>
                </a:solidFill>
              </a:rPr>
              <a:t>Severity  •  Localization  •  Hemostasis  •  Etiology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528B4C-EC6A-4A90-A206-ED393099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24000"/>
            <a:ext cx="2095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9A4BD5-5D75-4364-843B-ADD001E1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5262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2D2968-6750-4C1B-8C80-DE899D1D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19325"/>
            <a:ext cx="1066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E106C8-5B39-4AC9-9F75-F24374D0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193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9C7182-FA69-47B3-B9FF-811D944A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86075"/>
            <a:ext cx="95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ADCB0A-3B95-4F46-BF2F-639AFADD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8612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F4A02D-953D-4CEE-BF91-2F996C02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52825"/>
            <a:ext cx="838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446068-AFDD-44B4-B24C-78EAEFEF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52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823F96-5177-48A1-8E4F-D81F4ACB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19575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8706E7-11E2-4F87-8B63-96EDF921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3340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6368"/>
                </a:solidFill>
              </a:defRPr>
            </a:pPr>
            <a:r>
              <a:rPr sz="1200" b="1">
                <a:solidFill>
                  <a:srgbClr val="5F6368"/>
                </a:solidFill>
              </a:rPr>
              <a:t>Editable bilingual edition</a:t>
            </a:r>
          </a:p>
          <a:p xmlns:a="http://schemas.openxmlformats.org/drawingml/2006/main">
            <a:pPr algn="ctr">
              <a:defRPr sz="1200" b="1">
                <a:solidFill>
                  <a:srgbClr val="5F6368"/>
                </a:solidFill>
              </a:defRPr>
            </a:pPr>
            <a:r>
              <a:rPr sz="1200" b="1">
                <a:solidFill>
                  <a:srgbClr val="5F6368"/>
                </a:solidFill>
              </a:rPr>
              <a:t>NEJM-derived palette</a:t>
            </a:r>
          </a:p>
        </p:txBody>
      </p:sp>
    </p:spTree>
    <p:extLst>
      <p:ext uri="{BB962C8B-B14F-4D97-AF65-F5344CB8AC3E}">
        <p14:creationId xmlns:p14="http://schemas.microsoft.com/office/powerpoint/2010/main" val="10780368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06A012-2B4E-422D-ADBD-37774189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2">
            <a:extLst xmlns:a="http://schemas.openxmlformats.org/drawingml/2006/main">
              <a:ext uri="{FF2B5EF4-FFF2-40B4-BE49-F238E27FC236}">
                <a16:creationId xmlns:a16="http://schemas.microsoft.com/office/drawing/2014/main" id="{95ABD17E-27C7-4D19-9B36-BF2239FC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CLINICAL-FRAME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E22CF8CC-6C29-4F4A-9BE4-EAD65A18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One presentation, four unfinished clinical problems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F9D8A2-0385-452C-8220-D356972E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D8E982-970A-418C-97D5-B7AABEE1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2">
            <a:extLst xmlns:a="http://schemas.openxmlformats.org/drawingml/2006/main">
              <a:ext uri="{FF2B5EF4-FFF2-40B4-BE49-F238E27FC236}">
                <a16:creationId xmlns:a16="http://schemas.microsoft.com/office/drawing/2014/main" id="{6CDAED97-E783-4917-92D2-9A7C19BE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Expanded review synthesis; AAFP 2022; CIRSE 2022.</a:t>
            </a:r>
          </a:p>
        </p:txBody>
      </p:sp>
      <p:sp>
        <p:nvSpPr>
          <p:cNvPr id="7" name="page-2">
            <a:extLst xmlns:a="http://schemas.openxmlformats.org/drawingml/2006/main">
              <a:ext uri="{FF2B5EF4-FFF2-40B4-BE49-F238E27FC236}">
                <a16:creationId xmlns:a16="http://schemas.microsoft.com/office/drawing/2014/main" id="{7EC89756-FA3A-457B-A845-50880B25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72F1FF-E797-4DD5-AAEB-13E9AD33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E9F50A-1192-406D-A6B1-93078167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BCABA6-70AE-436A-96F3-3E046265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581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Severity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2A431B-5942-430A-80DE-C579245C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581150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</a:defRPr>
            </a:pPr>
            <a:r>
              <a:rPr sz="1425" b="0">
                <a:solidFill>
                  <a:srgbClr val="202124"/>
                </a:solidFill>
              </a:rPr>
              <a:t>Is the patient at immediate risk from airway obstruction, gas-exchange failure, or hemodynamic collapse?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AA82AF-CD82-4B23-8BAD-28ECCE7F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8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3370DE-E650-4D0F-88DD-94204C41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99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A81EFD-C647-4BF1-A86F-0C7D5789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03458D-664A-400C-9107-5CAC5EEE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686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F99AD"/>
                </a:solidFill>
              </a:defRPr>
            </a:pPr>
            <a:r>
              <a:rPr sz="1800" b="1">
                <a:solidFill>
                  <a:srgbClr val="6F99AD"/>
                </a:solidFill>
              </a:rPr>
              <a:t>Localization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ED4F18-2584-4FF1-9C55-EFEC1898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86050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</a:defRPr>
            </a:pPr>
            <a:r>
              <a:rPr sz="1425" b="0">
                <a:solidFill>
                  <a:srgbClr val="202124"/>
                </a:solidFill>
              </a:rPr>
              <a:t>Which side, lobe, lesion, and vascular bed are responsible for the bleeding?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E0D1CC-CAE4-43E1-B7C5-5CB3DFEC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38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0A2383-87F6-43A8-9F08-2A145AC1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27F65F-6D95-41E6-97F9-78680767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D1B2C1-CA27-4148-AB42-00FC38E3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909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18727"/>
                </a:solidFill>
              </a:defRPr>
            </a:pPr>
            <a:r>
              <a:rPr sz="1800" b="1">
                <a:solidFill>
                  <a:srgbClr val="E18727"/>
                </a:solidFill>
              </a:rPr>
              <a:t>Hemostasis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31170-F8B0-4990-BE0D-E0530A09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790950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</a:defRPr>
            </a:pPr>
            <a:r>
              <a:rPr sz="1425" b="0">
                <a:solidFill>
                  <a:srgbClr val="202124"/>
                </a:solidFill>
              </a:rPr>
              <a:t>What will control bleeding now - bronchoscopy, embolization, surgery, or a combination?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7C77B0-0EDD-477D-9947-4FD4C1E2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38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1ED8D5-6381-47FF-8FAA-134401F1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9DA0F7-A243-4569-A597-528C81AB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EA7F71-AD53-4BBB-A1ED-BC516E49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895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2B5"/>
                </a:solidFill>
              </a:defRPr>
            </a:pPr>
            <a:r>
              <a:rPr sz="1800" b="1">
                <a:solidFill>
                  <a:srgbClr val="0072B5"/>
                </a:solidFill>
              </a:rPr>
              <a:t>Etiology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021A07-7289-436B-9AC0-2EC8E314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95850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02124"/>
                </a:solidFill>
              </a:defRPr>
            </a:pPr>
            <a:r>
              <a:rPr sz="1425" b="0">
                <a:solidFill>
                  <a:srgbClr val="202124"/>
                </a:solidFill>
              </a:rPr>
              <a:t>What underlying process created the mass, cavity, or abnormal vascular circuit?</a:t>
            </a:r>
          </a:p>
        </p:txBody>
      </p:sp>
    </p:spTree>
    <p:extLst>
      <p:ext uri="{BB962C8B-B14F-4D97-AF65-F5344CB8AC3E}">
        <p14:creationId xmlns:p14="http://schemas.microsoft.com/office/powerpoint/2010/main" val="13483411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CD3097-4831-4641-90E7-8FCF87B6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3">
            <a:extLst xmlns:a="http://schemas.openxmlformats.org/drawingml/2006/main">
              <a:ext uri="{FF2B5EF4-FFF2-40B4-BE49-F238E27FC236}">
                <a16:creationId xmlns:a16="http://schemas.microsoft.com/office/drawing/2014/main" id="{F800C8CB-91F0-4169-A95E-5DD7CD59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CASE-SNAPSHOT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1D0A5A18-ED6B-4E95-AA7E-84A6A1D0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Case snapshot: define the patient before defining the lesion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7F722-D4A3-4568-8A8A-693C3934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0E5CB6-58BD-439D-B017-E4D7CDF5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3">
            <a:extLst xmlns:a="http://schemas.openxmlformats.org/drawingml/2006/main">
              <a:ext uri="{FF2B5EF4-FFF2-40B4-BE49-F238E27FC236}">
                <a16:creationId xmlns:a16="http://schemas.microsoft.com/office/drawing/2014/main" id="{8ECF265F-6ED2-45E1-93E7-34C3221D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Hemoptysis + Lung Mass | Editable M&amp;M Deck</a:t>
            </a:r>
          </a:p>
        </p:txBody>
      </p:sp>
      <p:sp>
        <p:nvSpPr>
          <p:cNvPr id="7" name="page-3">
            <a:extLst xmlns:a="http://schemas.openxmlformats.org/drawingml/2006/main">
              <a:ext uri="{FF2B5EF4-FFF2-40B4-BE49-F238E27FC236}">
                <a16:creationId xmlns:a16="http://schemas.microsoft.com/office/drawing/2014/main" id="{477D034F-FFF7-4E46-BE24-4BFE631A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B9FBA3-1D73-4EE9-808F-B77A42F1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38275"/>
            <a:ext cx="2381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35A9AD-7933-46C5-875C-9C4C375B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85900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REPLACE WITH CHART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E74779-40B9-400A-B2EB-C72D6DA8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72B5"/>
                </a:solidFill>
              </a:defRPr>
            </a:pPr>
            <a:r>
              <a:rPr sz="1275" b="1">
                <a:solidFill>
                  <a:srgbClr val="0072B5"/>
                </a:solidFill>
              </a:rPr>
              <a:t>Age / sex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989BA9-0E9B-4C1C-9A86-E663CD2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9BBEFB-1E24-42E0-BA43-0F589CEA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87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[Age / sex]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A30E13-2473-4F99-8784-6A3CB5FA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72B5"/>
                </a:solidFill>
              </a:defRPr>
            </a:pPr>
            <a:r>
              <a:rPr sz="1275" b="1">
                <a:solidFill>
                  <a:srgbClr val="0072B5"/>
                </a:solidFill>
              </a:rPr>
              <a:t>Relevant 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1406C6-2ECB-4CF8-B1FD-3492C4C8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431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F2F348-0B41-43AF-99B7-6AE4F3CB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487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[Smoking, TB/NTM, cancer, anticoagulation, prior thoracic procedure]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36F309-6612-4DEC-AAE4-92F80A83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72B5"/>
                </a:solidFill>
              </a:defRPr>
            </a:pPr>
            <a:r>
              <a:rPr sz="1275" b="1">
                <a:solidFill>
                  <a:srgbClr val="0072B5"/>
                </a:solidFill>
              </a:rPr>
              <a:t>Chief concern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81A289-C6B8-4B8C-A2E3-AC9FA3C7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1731FA-BCD1-41E2-B970-50C08F1B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67100"/>
            <a:ext cx="487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[Hemoptysis pattern, duration, estimated volume, trajectory]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DA0422-A875-4185-A96B-19DB9CB8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908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72B5"/>
                </a:solidFill>
              </a:defRPr>
            </a:pPr>
            <a:r>
              <a:rPr sz="1275" b="1">
                <a:solidFill>
                  <a:srgbClr val="0072B5"/>
                </a:solidFill>
              </a:rPr>
              <a:t>Physiology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7FC749-359E-4038-8924-2F208FF7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147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2385C1-A569-402A-BACD-FD61E7FC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67100"/>
            <a:ext cx="487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[Airway, oxygen requirement, hemodynamics, hemoglobin trend]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B694C8-3C04-4A26-937B-26F60A68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72B5"/>
                </a:solidFill>
              </a:defRPr>
            </a:pPr>
            <a:r>
              <a:rPr sz="1275" b="1">
                <a:solidFill>
                  <a:srgbClr val="0072B5"/>
                </a:solidFill>
              </a:rPr>
              <a:t>Imaging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8D8B5C-E5AA-4A02-B3BE-EB3A811A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6CE91B-99C5-41D9-B15C-1A6EC50A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487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[Mass/cavity location, nodes, hemorrhage, vascular signs]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224CFA-291F-4D80-9808-EF324885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72B5"/>
                </a:solidFill>
              </a:defRPr>
            </a:pPr>
            <a:r>
              <a:rPr sz="1275" b="1">
                <a:solidFill>
                  <a:srgbClr val="0072B5"/>
                </a:solidFill>
              </a:rPr>
              <a:t>Current status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DB87FF-C2C6-4AEB-AC44-2F9EEE01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863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79EDC7-01A3-44D5-AFD6-2526FEB0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838700"/>
            <a:ext cx="487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[Specific malignant / specific benign / unresolved nondiagnostic mass]</a:t>
            </a:r>
          </a:p>
        </p:txBody>
      </p:sp>
    </p:spTree>
    <p:extLst>
      <p:ext uri="{BB962C8B-B14F-4D97-AF65-F5344CB8AC3E}">
        <p14:creationId xmlns:p14="http://schemas.microsoft.com/office/powerpoint/2010/main" val="17782883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A02421-A589-4DDD-B88D-DF176AFD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4">
            <a:extLst xmlns:a="http://schemas.openxmlformats.org/drawingml/2006/main">
              <a:ext uri="{FF2B5EF4-FFF2-40B4-BE49-F238E27FC236}">
                <a16:creationId xmlns:a16="http://schemas.microsoft.com/office/drawing/2014/main" id="{754EBFEB-2B7F-4732-AE10-1D7D1DA8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CASE-TIMELINE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8F44A859-47FC-4F7C-A97C-3A9553F3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The timeline should show where uncertainty accumulated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23DD9E-222A-4105-83E5-08168403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1B768-F27C-4022-8D40-7FDC56F9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4">
            <a:extLst xmlns:a="http://schemas.openxmlformats.org/drawingml/2006/main">
              <a:ext uri="{FF2B5EF4-FFF2-40B4-BE49-F238E27FC236}">
                <a16:creationId xmlns:a16="http://schemas.microsoft.com/office/drawing/2014/main" id="{A60AD425-35BB-4BA2-A231-FD7FF0C0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Hemoptysis + Lung Mass | Editable M&amp;M Deck</a:t>
            </a:r>
          </a:p>
        </p:txBody>
      </p:sp>
      <p:sp>
        <p:nvSpPr>
          <p:cNvPr id="7" name="page-4">
            <a:extLst xmlns:a="http://schemas.openxmlformats.org/drawingml/2006/main">
              <a:ext uri="{FF2B5EF4-FFF2-40B4-BE49-F238E27FC236}">
                <a16:creationId xmlns:a16="http://schemas.microsoft.com/office/drawing/2014/main" id="{0880D5CA-F8F0-44F9-A0AF-5307FF9E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05FB45-E752-413A-B00A-7A5EA2C3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38275"/>
            <a:ext cx="2381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B6FA24-8915-4597-B6DE-25FA3521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85900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REPLACE WITH CHART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E0C78-D8C4-453E-854A-0457BF89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52800"/>
            <a:ext cx="9525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3416A4-94C2-4AC1-A927-6215818C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480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5C1504-4283-496E-964E-3568A8FA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813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5EF3E1-E80A-46E5-807E-479915FC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9052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C3C29"/>
                </a:solidFill>
              </a:defRPr>
            </a:pPr>
            <a:r>
              <a:rPr sz="1500" b="1">
                <a:solidFill>
                  <a:srgbClr val="BC3C29"/>
                </a:solidFill>
              </a:rPr>
              <a:t>Initial presentation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BED69E-4DFC-4D39-AC67-2F2D1BC39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362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[Bleeding physiology]</a:t>
            </a:r>
          </a:p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[CT mass/cavity]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C351E4-7820-4DEA-9A97-0674A329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381250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B9298"/>
                </a:solidFill>
              </a:defRPr>
            </a:pPr>
            <a:r>
              <a:rPr sz="900" b="0">
                <a:solidFill>
                  <a:srgbClr val="8B9298"/>
                </a:solidFill>
              </a:rPr>
              <a:t>What was known?</a:t>
            </a:r>
          </a:p>
          <a:p xmlns:a="http://schemas.openxmlformats.org/drawingml/2006/main">
            <a:pPr algn="ctr">
              <a:defRPr sz="900" b="0">
                <a:solidFill>
                  <a:srgbClr val="8B9298"/>
                </a:solidFill>
              </a:defRPr>
            </a:pPr>
            <a:r>
              <a:rPr sz="900" b="0">
                <a:solidFill>
                  <a:srgbClr val="8B9298"/>
                </a:solidFill>
              </a:rPr>
              <a:t>What remained unknown?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903A3C-DBB7-4E3C-AED7-86EAF85D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480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99AD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CE7291-F208-4E00-9DE3-D767CAB5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813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BA81B2-52FC-4006-8516-ADE29D14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9052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F99AD"/>
                </a:solidFill>
              </a:defRPr>
            </a:pPr>
            <a:r>
              <a:rPr sz="1500" b="1">
                <a:solidFill>
                  <a:srgbClr val="6F99AD"/>
                </a:solidFill>
              </a:rPr>
              <a:t>First sampling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9F54BC-E7F6-47D6-9399-22219051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62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[Target + route]</a:t>
            </a:r>
          </a:p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[Pathology wording]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4FA804-87C9-40B6-B67E-22508B99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381250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B9298"/>
                </a:solidFill>
              </a:defRPr>
            </a:pPr>
            <a:r>
              <a:rPr sz="900" b="0">
                <a:solidFill>
                  <a:srgbClr val="8B9298"/>
                </a:solidFill>
              </a:rPr>
              <a:t>What was known?</a:t>
            </a:r>
          </a:p>
          <a:p xmlns:a="http://schemas.openxmlformats.org/drawingml/2006/main">
            <a:pPr algn="ctr">
              <a:defRPr sz="900" b="0">
                <a:solidFill>
                  <a:srgbClr val="8B9298"/>
                </a:solidFill>
              </a:defRPr>
            </a:pPr>
            <a:r>
              <a:rPr sz="900" b="0">
                <a:solidFill>
                  <a:srgbClr val="8B9298"/>
                </a:solidFill>
              </a:rPr>
              <a:t>What remained unknown?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0C4C34-4AC0-46E2-9D7F-B6FCD5DC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480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472F02-F739-4E34-AB27-C5E63F24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813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FE5BB2-26F4-4A09-BB4E-E961CF10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052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18727"/>
                </a:solidFill>
              </a:defRPr>
            </a:pPr>
            <a:r>
              <a:rPr sz="1500" b="1">
                <a:solidFill>
                  <a:srgbClr val="E18727"/>
                </a:solidFill>
              </a:rPr>
              <a:t>Recurrence / CTA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06FD72-712C-4F08-BBAC-19750A16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362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[Interval change]</a:t>
            </a:r>
          </a:p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[Vascular map]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FFF1D1-F619-4F24-9612-A55BB2CF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381250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B9298"/>
                </a:solidFill>
              </a:defRPr>
            </a:pPr>
            <a:r>
              <a:rPr sz="900" b="0">
                <a:solidFill>
                  <a:srgbClr val="8B9298"/>
                </a:solidFill>
              </a:rPr>
              <a:t>What was known?</a:t>
            </a:r>
          </a:p>
          <a:p xmlns:a="http://schemas.openxmlformats.org/drawingml/2006/main">
            <a:pPr algn="ctr">
              <a:defRPr sz="900" b="0">
                <a:solidFill>
                  <a:srgbClr val="8B9298"/>
                </a:solidFill>
              </a:defRPr>
            </a:pPr>
            <a:r>
              <a:rPr sz="900" b="0">
                <a:solidFill>
                  <a:srgbClr val="8B9298"/>
                </a:solidFill>
              </a:rPr>
              <a:t>What remained unknown?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A8663D-E608-4140-BB56-EE9F25EB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480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E3921B-FAAA-4E17-B8C7-5FEC53DC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1813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FB8B5C-05F1-4175-A1FE-6C5DCFB4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9052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72B5"/>
                </a:solidFill>
              </a:defRPr>
            </a:pPr>
            <a:r>
              <a:rPr sz="1500" b="1">
                <a:solidFill>
                  <a:srgbClr val="0072B5"/>
                </a:solidFill>
              </a:rPr>
              <a:t>BAE / post-BAE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822F3D-3728-45F3-B65F-0A3C9112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362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[Technical result]</a:t>
            </a:r>
          </a:p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[Next tissue plan]</a:t>
            </a:r>
          </a:p>
        </p:txBody>
      </p:sp>
    </p:spTree>
    <p:extLst>
      <p:ext uri="{BB962C8B-B14F-4D97-AF65-F5344CB8AC3E}">
        <p14:creationId xmlns:p14="http://schemas.microsoft.com/office/powerpoint/2010/main" val="5682895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F51EE3-6D96-42EA-B15E-52D72BD8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5">
            <a:extLst xmlns:a="http://schemas.openxmlformats.org/drawingml/2006/main">
              <a:ext uri="{FF2B5EF4-FFF2-40B4-BE49-F238E27FC236}">
                <a16:creationId xmlns:a16="http://schemas.microsoft.com/office/drawing/2014/main" id="{4FAF1BE2-0545-40B9-BD39-AC284116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FUNCTIONAL-SEVERITY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EA0DB34A-C080-4653-8DCC-1E94DBB0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Severity is functional - not a single volume threshold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66B910-4124-4C1A-AC92-1B4177B1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B97E0-D35A-4202-931A-CCD41587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5">
            <a:extLst xmlns:a="http://schemas.openxmlformats.org/drawingml/2006/main">
              <a:ext uri="{FF2B5EF4-FFF2-40B4-BE49-F238E27FC236}">
                <a16:creationId xmlns:a16="http://schemas.microsoft.com/office/drawing/2014/main" id="{043CAA15-E39C-4AC9-8727-4D72A53C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O'Gurek &amp; Choi, Am Fam Physician. 2022;105:144-151.</a:t>
            </a:r>
          </a:p>
        </p:txBody>
      </p:sp>
      <p:sp>
        <p:nvSpPr>
          <p:cNvPr id="7" name="page-5">
            <a:extLst xmlns:a="http://schemas.openxmlformats.org/drawingml/2006/main">
              <a:ext uri="{FF2B5EF4-FFF2-40B4-BE49-F238E27FC236}">
                <a16:creationId xmlns:a16="http://schemas.microsoft.com/office/drawing/2014/main" id="{583105A2-04AA-4F57-B2F3-E9D8E565D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22EC5D-B8F4-4445-83E4-64BFDC35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7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5B54DE-FF7C-4917-8FBA-2624D67D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2047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C3C29"/>
                </a:solidFill>
              </a:defRPr>
            </a:pPr>
            <a:r>
              <a:rPr sz="1650" b="1">
                <a:solidFill>
                  <a:srgbClr val="BC3C29"/>
                </a:solidFill>
              </a:rPr>
              <a:t>Airway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B51F2-3331-4C75-AECE-2889ACD9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600200"/>
            <a:ext cx="752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Cannot clear clot, voice change, unilateral flooding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3A1624-9C64-4469-92E3-0FB9BAD2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17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4DE3D4-EF4F-4FC6-AA17-61D9CB77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76500"/>
            <a:ext cx="2047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18727"/>
                </a:solidFill>
              </a:defRPr>
            </a:pPr>
            <a:r>
              <a:rPr sz="1650" b="1">
                <a:solidFill>
                  <a:srgbClr val="E18727"/>
                </a:solidFill>
              </a:rPr>
              <a:t>Gas exchange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BDA0CA-397E-4741-8828-653250BB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466975"/>
            <a:ext cx="752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Rising respiratory effort, falling SpO2, escalating support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6A7A39-7009-4735-8AC4-7CFAED45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7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76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57A285-B1C6-4B18-BB26-81A6D599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43275"/>
            <a:ext cx="2047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876B1"/>
                </a:solidFill>
              </a:defRPr>
            </a:pPr>
            <a:r>
              <a:rPr sz="1650" b="1">
                <a:solidFill>
                  <a:srgbClr val="7876B1"/>
                </a:solidFill>
              </a:rPr>
              <a:t>Hemodynamics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5177FE-595F-4FF5-8636-DE5FF678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33750"/>
            <a:ext cx="752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Hypotension, hemoglobin fall, transfusion or vasopressor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8E7603-37EF-4AA8-98B2-C5452484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17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B292FF-1425-4F1A-A52E-478ACEAA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0050"/>
            <a:ext cx="2047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Trajectory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352256-910C-425A-9A3D-D7545D41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00525"/>
            <a:ext cx="752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Recurrent, accelerating, or ongoing active bleeding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CF4D8E-342A-4C8A-927A-68BB33C3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7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611489-A6D2-480E-AD14-8C891CCB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76825"/>
            <a:ext cx="2047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854E"/>
                </a:solidFill>
              </a:defRPr>
            </a:pPr>
            <a:r>
              <a:rPr sz="1650" b="1">
                <a:solidFill>
                  <a:srgbClr val="20854E"/>
                </a:solidFill>
              </a:rPr>
              <a:t>Reserve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8BE4C8-1BF7-482F-AC1A-19847512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67300"/>
            <a:ext cx="752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COPD, prior lung resection, cardiac disease, anticoagulation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341B56-3F21-4F65-9801-72EA73A6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905500"/>
            <a:ext cx="733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C3C29"/>
                </a:solidFill>
              </a:defRPr>
            </a:pPr>
            <a:r>
              <a:rPr sz="1575" b="1">
                <a:solidFill>
                  <a:srgbClr val="BC3C29"/>
                </a:solidFill>
              </a:rPr>
              <a:t>The dominant threat is usually asphyxiation, not exsanguination.</a:t>
            </a:r>
          </a:p>
        </p:txBody>
      </p:sp>
    </p:spTree>
    <p:extLst>
      <p:ext uri="{BB962C8B-B14F-4D97-AF65-F5344CB8AC3E}">
        <p14:creationId xmlns:p14="http://schemas.microsoft.com/office/powerpoint/2010/main" val="20577332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508269-43FB-4F39-9893-6812BB55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6">
            <a:extLst xmlns:a="http://schemas.openxmlformats.org/drawingml/2006/main">
              <a:ext uri="{FF2B5EF4-FFF2-40B4-BE49-F238E27FC236}">
                <a16:creationId xmlns:a16="http://schemas.microsoft.com/office/drawing/2014/main" id="{B7980C0D-670F-41F2-B1F9-3FB55632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IMMEDIATE-PATHWAY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E9A86D7A-D3EF-44AD-9709-FEB086F3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Protect the airway first; use CTA to map the next move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EC0124-23EB-43A1-A335-690C6AE0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BFF45-3703-48B8-91F9-DFF56FC52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6">
            <a:extLst xmlns:a="http://schemas.openxmlformats.org/drawingml/2006/main">
              <a:ext uri="{FF2B5EF4-FFF2-40B4-BE49-F238E27FC236}">
                <a16:creationId xmlns:a16="http://schemas.microsoft.com/office/drawing/2014/main" id="{FD93B417-CCC7-4BFB-B883-45B51D9E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Sources: AAFP 2022; ACR Appropriateness Criteria Hemoptysis; CIRSE 2022.</a:t>
            </a:r>
          </a:p>
        </p:txBody>
      </p:sp>
      <p:sp>
        <p:nvSpPr>
          <p:cNvPr id="7" name="page-6">
            <a:extLst xmlns:a="http://schemas.openxmlformats.org/drawingml/2006/main">
              <a:ext uri="{FF2B5EF4-FFF2-40B4-BE49-F238E27FC236}">
                <a16:creationId xmlns:a16="http://schemas.microsoft.com/office/drawing/2014/main" id="{53EABA80-2397-44E8-9CAD-2E0C87F2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F8EA61-9954-4693-87BF-3B67DB20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952625"/>
            <a:ext cx="10287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2A02D-F79A-4D32-B636-62188E19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28950"/>
            <a:ext cx="13335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61F31E-A7C4-417C-A00E-4F32E45D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28950"/>
            <a:ext cx="13335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2C786B-18E0-436C-8CC0-345C162E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504950"/>
            <a:ext cx="44196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19050">
            <a:solidFill>
              <a:srgbClr val="BC3C2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11FC73-0EAD-401F-A729-04549596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1450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C3C29"/>
                </a:solidFill>
              </a:defRPr>
            </a:pPr>
            <a:r>
              <a:rPr sz="1650" b="1">
                <a:solidFill>
                  <a:srgbClr val="BC3C29"/>
                </a:solidFill>
              </a:rPr>
              <a:t>Hemoptysis with threatened physiology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A829E0-BC2B-4CC9-AB8C-B07DDFCC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C3C2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4D06C6-97A0-4888-B052-276CA963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2B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02DA6A-DFE1-402B-8700-54FF0089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05150"/>
            <a:ext cx="407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BC3C29"/>
                </a:solidFill>
              </a:defRPr>
            </a:pPr>
            <a:r>
              <a:rPr sz="1425" b="1">
                <a:solidFill>
                  <a:srgbClr val="BC3C29"/>
                </a:solidFill>
              </a:rPr>
              <a:t>UNSTABLE / AIRWAY THREATENED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F717D1-22E7-4EBC-AEAF-AC8585DE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407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72B5"/>
                </a:solidFill>
              </a:defRPr>
            </a:pPr>
            <a:r>
              <a:rPr sz="1425" b="1">
                <a:solidFill>
                  <a:srgbClr val="0072B5"/>
                </a:solidFill>
              </a:rPr>
              <a:t>STABLE ENOUGH FOR MAPPING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57F5DA-56E3-47D5-B5F2-95707800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76650"/>
            <a:ext cx="3924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1. Position bleeding lung down</a:t>
            </a:r>
          </a:p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2. Secure airway / isolate lung if needed</a:t>
            </a:r>
          </a:p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3. Bronchoscopy for clot, airway, localization</a:t>
            </a:r>
          </a:p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4. Proceed to CTA/angiography when feasible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4739AF-9633-457E-9756-54F2E12F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76650"/>
            <a:ext cx="3924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1. Contrast CT / CTA</a:t>
            </a:r>
          </a:p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2. Define lesion and bleeding territory</a:t>
            </a:r>
          </a:p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3. Map bronchial, non-bronchial, pulmonary beds</a:t>
            </a:r>
          </a:p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4. Select bronchoscopic, endovascular, or surgical route</a:t>
            </a:r>
          </a:p>
        </p:txBody>
      </p:sp>
    </p:spTree>
    <p:extLst>
      <p:ext uri="{BB962C8B-B14F-4D97-AF65-F5344CB8AC3E}">
        <p14:creationId xmlns:p14="http://schemas.microsoft.com/office/powerpoint/2010/main" val="3148586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166FEF-6ED4-4F75-BD91-630D3470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7">
            <a:extLst xmlns:a="http://schemas.openxmlformats.org/drawingml/2006/main">
              <a:ext uri="{FF2B5EF4-FFF2-40B4-BE49-F238E27FC236}">
                <a16:creationId xmlns:a16="http://schemas.microsoft.com/office/drawing/2014/main" id="{5AF785BE-B390-431A-A141-63C30E29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MECHANISM-DIFFERENTIAL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7E88E5A9-BC75-45EB-8A37-F0CA31F9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A mass plus hemoptysis needs a mechanism-based differential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B7E5C-9D20-4AE5-A650-1A352CAC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1F9AE-FF37-4A22-9417-D0945B7E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7">
            <a:extLst xmlns:a="http://schemas.openxmlformats.org/drawingml/2006/main">
              <a:ext uri="{FF2B5EF4-FFF2-40B4-BE49-F238E27FC236}">
                <a16:creationId xmlns:a16="http://schemas.microsoft.com/office/drawing/2014/main" id="{5DF5C5BD-922A-4B0E-93B7-86BBF747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Expanded review synthesis; AAFP 2022 differential framework.</a:t>
            </a:r>
          </a:p>
        </p:txBody>
      </p:sp>
      <p:sp>
        <p:nvSpPr>
          <p:cNvPr id="7" name="page-7">
            <a:extLst xmlns:a="http://schemas.openxmlformats.org/drawingml/2006/main">
              <a:ext uri="{FF2B5EF4-FFF2-40B4-BE49-F238E27FC236}">
                <a16:creationId xmlns:a16="http://schemas.microsoft.com/office/drawing/2014/main" id="{EFE1F7BE-AD98-41E9-962B-C90489EC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5850A0-A40F-4B56-82C5-1586C8EB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60032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2B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A29CD-D83B-4EA6-BEAC-B6E2E938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600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0C1030-DBBF-4758-B179-D09D9139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22574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Malignancy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D1F3F-9D98-48B2-9684-607A3CD4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2257425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Mass / necrosis / nodes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Bleeding: neovascularity, airway invasion, arterial erosion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Need: specific malignant tissue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A3D822-A248-4CF1-8BD6-6FE6A93A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600200"/>
            <a:ext cx="260032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854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2F9ECF-ED0E-4DBF-84EE-6A97915E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600200"/>
            <a:ext cx="2600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4F4CD0-E1E5-4A02-A677-D664EBFF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66900"/>
            <a:ext cx="22574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854E"/>
                </a:solidFill>
              </a:defRPr>
            </a:pPr>
            <a:r>
              <a:rPr sz="1650" b="1">
                <a:solidFill>
                  <a:srgbClr val="20854E"/>
                </a:solidFill>
              </a:rPr>
              <a:t>Infection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8AE0DB-47BF-43A3-9683-CAC41C5D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476500"/>
            <a:ext cx="2257425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TB / NTM / Aspergillus / abscess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Bleeding: cavity erosion, collateral recruitment, pseudoaneurysm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Need: pathology + microbiology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21790C-931A-4E15-BF45-ACCE708D5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260032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76B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27AAE2-268E-4AFC-B708-9DD53FFD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2600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76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FC7C53-9FB0-4FEB-B9AE-37D8B2D9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66900"/>
            <a:ext cx="22574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876B1"/>
                </a:solidFill>
              </a:defRPr>
            </a:pPr>
            <a:r>
              <a:rPr sz="1650" b="1">
                <a:solidFill>
                  <a:srgbClr val="7876B1"/>
                </a:solidFill>
              </a:rPr>
              <a:t>Inflammatory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1E7D84-6747-43D8-9920-49A4A328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76500"/>
            <a:ext cx="2257425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Vasculitis / organizing pneumonia / inflammatory mass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Bleeding: capillaritis or vascular injury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Nonspecific inflammation is insufficient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BE9A70-7C56-48DC-A0B2-9A6A10A9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600200"/>
            <a:ext cx="260032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C3C2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BC8E5F-6B5C-4AE9-8E1E-64DE367F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600200"/>
            <a:ext cx="2600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E393D4-02CE-4D72-817E-7865D8F1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866900"/>
            <a:ext cx="22574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C3C29"/>
                </a:solidFill>
              </a:defRPr>
            </a:pPr>
            <a:r>
              <a:rPr sz="1650" b="1">
                <a:solidFill>
                  <a:srgbClr val="BC3C29"/>
                </a:solidFill>
              </a:rPr>
              <a:t>Vascular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48C45F-990F-440B-B7B3-57D74F07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76500"/>
            <a:ext cx="2257425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Aneurysm / pseudoaneurysm / AVM / fistula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Bleeding: high-pressure inflow or fragile circuit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May explain bleeding but not the mass</a:t>
            </a:r>
          </a:p>
        </p:txBody>
      </p:sp>
    </p:spTree>
    <p:extLst>
      <p:ext uri="{BB962C8B-B14F-4D97-AF65-F5344CB8AC3E}">
        <p14:creationId xmlns:p14="http://schemas.microsoft.com/office/powerpoint/2010/main" val="15418911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E24F89-BB47-46E4-AB9A-B2E726B6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8">
            <a:extLst xmlns:a="http://schemas.openxmlformats.org/drawingml/2006/main">
              <a:ext uri="{FF2B5EF4-FFF2-40B4-BE49-F238E27FC236}">
                <a16:creationId xmlns:a16="http://schemas.microsoft.com/office/drawing/2014/main" id="{B89BE7F1-7916-4C24-B0C9-BB2F4A34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MODALITY-ROLES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5E47D091-1D4F-493A-B1E4-12F798E2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CT, CTA, bronchoscopy, and angiography answer different questions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935414-739A-4A1B-9283-6B172724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B63724-D88A-4E9F-800F-DC0FEB78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8">
            <a:extLst xmlns:a="http://schemas.openxmlformats.org/drawingml/2006/main">
              <a:ext uri="{FF2B5EF4-FFF2-40B4-BE49-F238E27FC236}">
                <a16:creationId xmlns:a16="http://schemas.microsoft.com/office/drawing/2014/main" id="{5FBAE6B3-584E-4D14-92CB-6515CA12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Sources: AAFP 2022; ACR; CIRSE 2022.</a:t>
            </a:r>
          </a:p>
        </p:txBody>
      </p:sp>
      <p:sp>
        <p:nvSpPr>
          <p:cNvPr id="7" name="page-8">
            <a:extLst xmlns:a="http://schemas.openxmlformats.org/drawingml/2006/main">
              <a:ext uri="{FF2B5EF4-FFF2-40B4-BE49-F238E27FC236}">
                <a16:creationId xmlns:a16="http://schemas.microsoft.com/office/drawing/2014/main" id="{78E40B67-127C-438D-8153-C01D6DCA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F04292-0FB7-48D1-91F8-2940CDAD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2266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FE39FD-7AAB-4FA5-99B6-6DD0F209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Tool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D988C5-6997-4F5B-BADF-0DBBFB6A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81150"/>
            <a:ext cx="4076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681EDD-06BE-4A95-8A25-385C8363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695450"/>
            <a:ext cx="384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Best question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0939D-8AE6-458D-94B0-230167F4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581150"/>
            <a:ext cx="4171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1A42CF-5D7C-4612-8D76-7B2E4B04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954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Cannot answer alone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7C3D2C-35C7-4E6E-BB55-E0E64AB5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266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89EB8B-8102-4FFD-B791-1DD2CEA8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907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72B5"/>
                </a:solidFill>
              </a:defRPr>
            </a:pPr>
            <a:r>
              <a:rPr sz="1350" b="1">
                <a:solidFill>
                  <a:srgbClr val="0072B5"/>
                </a:solidFill>
              </a:rPr>
              <a:t>Contrast 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A2B74B-8637-4EF3-9D01-796EDD16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38350"/>
            <a:ext cx="40767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AFC3EE-2024-4DA5-8A3A-533DC61F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19075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Mass/cavity morphology, parenchyma, nodes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8D0CA4-1257-471D-B6B1-AED979FF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38350"/>
            <a:ext cx="4171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57DF9A-B1A5-42D8-B9BC-895B4219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19075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Complete arterial map or airway control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EE6E68-8610-4DBF-8270-37DD149D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2266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83F31F-2B03-4118-84C7-E0328E96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861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72B5"/>
                </a:solidFill>
              </a:defRPr>
            </a:pPr>
            <a:r>
              <a:rPr sz="1350" b="1">
                <a:solidFill>
                  <a:srgbClr val="0072B5"/>
                </a:solidFill>
              </a:rPr>
              <a:t>CTA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BB56DF-A12D-4D3E-B650-7DC8D01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33700"/>
            <a:ext cx="40767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204BAE-069A-47A1-8F1D-F9088692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8610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Bleeding territory and bronchial/NBSA/pulmonary map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27F5C2-F9E8-4DE1-B0DE-1DB132AD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933700"/>
            <a:ext cx="4171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23D3F6-9883-42D5-A0F4-84DA160D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861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Tissue diagnosis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B45038-92C1-4C48-8D7C-DA9D8BD1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2266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8E5B1C-0A03-4FDE-9700-1B566EF0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814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72B5"/>
                </a:solidFill>
              </a:defRPr>
            </a:pPr>
            <a:r>
              <a:rPr sz="1350" b="1">
                <a:solidFill>
                  <a:srgbClr val="0072B5"/>
                </a:solidFill>
              </a:rPr>
              <a:t>Bronchoscopy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F6AC89-8834-43B2-BA57-F132134BD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29050"/>
            <a:ext cx="40767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F654A4-F6BF-4D68-8A64-B78F44E4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98145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Airway, clot, active bleed, endobronchial lesion, sampling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19BC43-01EF-4AE3-BFC8-6BEC2CCD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29050"/>
            <a:ext cx="4171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50FC0D-2DCE-4DAE-8213-B0983751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98145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Complete systemic vascular map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FD816B-81EB-40F9-A195-471870A9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2266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DDC90B-13B0-495D-BDF9-8A61CEC0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768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72B5"/>
                </a:solidFill>
              </a:defRPr>
            </a:pPr>
            <a:r>
              <a:rPr sz="1350" b="1">
                <a:solidFill>
                  <a:srgbClr val="0072B5"/>
                </a:solidFill>
              </a:rPr>
              <a:t>Angiography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11615A-97D1-454A-B57F-4DCC0187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24400"/>
            <a:ext cx="40767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DDDCC2-9736-4D4B-BE2D-EDCA8B65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87680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Dynamic flow, culprit vessel, shunt, embolization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D75ECD-B627-44C9-A213-D7468592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724400"/>
            <a:ext cx="4171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34E839-4C02-4423-8492-ED44790A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8768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Mass pathology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3A0496-ECC6-4A80-9852-214A963F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8293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18727"/>
                </a:solidFill>
              </a:defRPr>
            </a:pPr>
            <a:r>
              <a:rPr sz="1500" b="1">
                <a:solidFill>
                  <a:srgbClr val="E18727"/>
                </a:solidFill>
              </a:rPr>
              <a:t>These tools are complementary - not competitors.</a:t>
            </a:r>
          </a:p>
        </p:txBody>
      </p:sp>
    </p:spTree>
    <p:extLst>
      <p:ext uri="{BB962C8B-B14F-4D97-AF65-F5344CB8AC3E}">
        <p14:creationId xmlns:p14="http://schemas.microsoft.com/office/powerpoint/2010/main" val="9073031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A1EDEB-66E6-4108-8F73-67E092FE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9">
            <a:extLst xmlns:a="http://schemas.openxmlformats.org/drawingml/2006/main">
              <a:ext uri="{FF2B5EF4-FFF2-40B4-BE49-F238E27FC236}">
                <a16:creationId xmlns:a16="http://schemas.microsoft.com/office/drawing/2014/main" id="{B241A1FB-5586-4D94-8870-AFD9BB2F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DIAGNOSTIC-STATUS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DFCB812D-C4DE-45A5-B355-AE2395B3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A nondiagnostic bronchoscopy does not close the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9B16A2-123F-4C9F-AF98-DFBA462E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A4AAB-4BE3-4DF1-AB60-5152B3B4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9">
            <a:extLst xmlns:a="http://schemas.openxmlformats.org/drawingml/2006/main">
              <a:ext uri="{FF2B5EF4-FFF2-40B4-BE49-F238E27FC236}">
                <a16:creationId xmlns:a16="http://schemas.microsoft.com/office/drawing/2014/main" id="{698F61CA-5614-4D53-822D-82F092C0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Gonzalez et al. ATS/ACCP Research Statement. AJRCCM. 2024;209:634-646.</a:t>
            </a:r>
          </a:p>
        </p:txBody>
      </p:sp>
      <p:sp>
        <p:nvSpPr>
          <p:cNvPr id="7" name="page-9">
            <a:extLst xmlns:a="http://schemas.openxmlformats.org/drawingml/2006/main">
              <a:ext uri="{FF2B5EF4-FFF2-40B4-BE49-F238E27FC236}">
                <a16:creationId xmlns:a16="http://schemas.microsoft.com/office/drawing/2014/main" id="{3A0DBDF1-A715-4E3C-B40E-19B73325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9BF7-351F-48A3-9409-4A30888A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2766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72B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AD2A7-9343-403E-9408-5054EE2E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C5F457-437D-4B57-AA05-655ACDA15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72B5"/>
                </a:solidFill>
              </a:defRPr>
            </a:pPr>
            <a:r>
              <a:rPr sz="1800" b="1">
                <a:solidFill>
                  <a:srgbClr val="0072B5"/>
                </a:solidFill>
              </a:rPr>
              <a:t>Specific malignant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415AF2-6F86-4B73-AB03-DA52DF60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2743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Cancer subtype or malignant diagnosis that explains the lesion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BC0D02-02C9-45B9-B5C9-24D00EF4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2766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0854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C7857-C5EB-4CB5-9868-145A1180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41CA59-8C8C-4AE5-BAC6-4FBC7A4A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0854E"/>
                </a:solidFill>
              </a:defRPr>
            </a:pPr>
            <a:r>
              <a:rPr sz="1800" b="1">
                <a:solidFill>
                  <a:srgbClr val="20854E"/>
                </a:solidFill>
              </a:rPr>
              <a:t>Specific benign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E0030E-DD08-4012-BFF3-49266E45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33700"/>
            <a:ext cx="2743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A diagnosis that explains the lesion and does not require immediate additional intervention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2E88EE-366A-495D-BDFB-F37501D3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76400"/>
            <a:ext cx="32766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BC3C2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D60BB4-1D1E-47E5-AAD9-58D3A2CE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764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0CBE04-AD70-4A1B-BEE9-109F5B99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574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Nondiagnostic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F20A85-FDC2-4180-A8BF-B3095062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33700"/>
            <a:ext cx="2743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Atypia • nonspecific inflammation • blood • necrosis • normal lung • insufficient tissue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0A974C-630E-40A4-819D-470928C5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19700"/>
            <a:ext cx="8991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E1872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AEDB3-B8F7-4AFF-A531-2A8753BC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911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18727"/>
                </a:solidFill>
              </a:defRPr>
            </a:pPr>
            <a:r>
              <a:rPr sz="1500" b="1">
                <a:solidFill>
                  <a:srgbClr val="E18727"/>
                </a:solidFill>
              </a:rPr>
              <a:t>If another biopsy or surgery is still needed now, the prior procedure did not resolve the diagnostic question.</a:t>
            </a:r>
          </a:p>
        </p:txBody>
      </p:sp>
    </p:spTree>
    <p:extLst>
      <p:ext uri="{BB962C8B-B14F-4D97-AF65-F5344CB8AC3E}">
        <p14:creationId xmlns:p14="http://schemas.microsoft.com/office/powerpoint/2010/main" val="18282224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6BA0B6-0592-4AA2-B710-840980D6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0">
            <a:extLst xmlns:a="http://schemas.openxmlformats.org/drawingml/2006/main">
              <a:ext uri="{FF2B5EF4-FFF2-40B4-BE49-F238E27FC236}">
                <a16:creationId xmlns:a16="http://schemas.microsoft.com/office/drawing/2014/main" id="{3020102E-C353-4F56-9D72-D193D0E6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FAILURE-ANALYSIS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91ED887E-DEA4-441A-96BD-E81D8D24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Repeated sampling fails for identifiable - and correctable - reasons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0A85E-2C9C-4CC5-8B2E-ADA85F58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C8746-1BE0-4F00-93DC-B521B8B7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0">
            <a:extLst xmlns:a="http://schemas.openxmlformats.org/drawingml/2006/main">
              <a:ext uri="{FF2B5EF4-FFF2-40B4-BE49-F238E27FC236}">
                <a16:creationId xmlns:a16="http://schemas.microsoft.com/office/drawing/2014/main" id="{305F9741-BEF4-48F6-9A61-53DE48538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Expanded review synthesis; ATS/ACCP 2024.</a:t>
            </a:r>
          </a:p>
        </p:txBody>
      </p:sp>
      <p:sp>
        <p:nvSpPr>
          <p:cNvPr id="7" name="page-10">
            <a:extLst xmlns:a="http://schemas.openxmlformats.org/drawingml/2006/main">
              <a:ext uri="{FF2B5EF4-FFF2-40B4-BE49-F238E27FC236}">
                <a16:creationId xmlns:a16="http://schemas.microsoft.com/office/drawing/2014/main" id="{0A1047B4-9452-4470-ABFF-9B0675F7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A52428-7654-4D8F-A8F4-F064D072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</a:defRPr>
            </a:pPr>
            <a:r>
              <a:rPr sz="1200" b="1">
                <a:solidFill>
                  <a:srgbClr val="5F6368"/>
                </a:solidFill>
              </a:rPr>
              <a:t>Failure mode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495ACF-1F35-4F15-A086-9646CCED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859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</a:defRPr>
            </a:pPr>
            <a:r>
              <a:rPr sz="1200" b="1">
                <a:solidFill>
                  <a:srgbClr val="5F6368"/>
                </a:solidFill>
              </a:rPr>
              <a:t>What went wrong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607E40-A3EA-4119-8043-351CDAD8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859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368"/>
                </a:solidFill>
              </a:defRPr>
            </a:pPr>
            <a:r>
              <a:rPr sz="1200" b="1">
                <a:solidFill>
                  <a:srgbClr val="5F6368"/>
                </a:solidFill>
              </a:rPr>
              <a:t>Change before repeating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0976CA-944F-408B-8F91-B09CEB06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47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CC24FF-2347-4836-9F8A-A51C1DF1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50E025-7094-48D0-A4EC-DB4E2031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66925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72B5"/>
                </a:solidFill>
              </a:defRPr>
            </a:pPr>
            <a:r>
              <a:rPr sz="1425" b="1">
                <a:solidFill>
                  <a:srgbClr val="0072B5"/>
                </a:solidFill>
              </a:rPr>
              <a:t>Targeting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DF858F-8AA3-4062-B57E-BC647451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097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Peripheral lesion, absent bronchus sign, tool not in lesion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77FF89-D60C-4FED-9CB1-BDAC6A50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09775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72B5"/>
                </a:solidFill>
              </a:defRPr>
            </a:pPr>
            <a:r>
              <a:rPr sz="1200" b="1">
                <a:solidFill>
                  <a:srgbClr val="0072B5"/>
                </a:solidFill>
              </a:rPr>
              <a:t>Re-read CT; choose airway, pleural, or nodal target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FC77F7-66F9-4276-A764-78DF32C6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047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1066E3-83AE-47B2-8465-D88927A6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7898F4-24D4-4E11-AB09-13280049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67025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18727"/>
                </a:solidFill>
              </a:defRPr>
            </a:pPr>
            <a:r>
              <a:rPr sz="1425" b="1">
                <a:solidFill>
                  <a:srgbClr val="E18727"/>
                </a:solidFill>
              </a:rPr>
              <a:t>Sampling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85A910-E429-4FA5-9394-62351447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09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Surface tissue, necrotic center, insufficient 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3CFB6B-BBA5-44B3-B6BA-092F806F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09875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72B5"/>
                </a:solidFill>
              </a:defRPr>
            </a:pPr>
            <a:r>
              <a:rPr sz="1200" b="1">
                <a:solidFill>
                  <a:srgbClr val="0072B5"/>
                </a:solidFill>
              </a:rPr>
              <a:t>Change needle / cryobiopsy / TTNB route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C6559C-5B6C-42E6-A669-D223C36C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047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40F01F-20D5-49CE-98D6-CDF8C69B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9BD278-B3C3-4E5C-9F84-75E205A8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67125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C3C29"/>
                </a:solidFill>
              </a:defRPr>
            </a:pPr>
            <a:r>
              <a:rPr sz="1425" b="1">
                <a:solidFill>
                  <a:srgbClr val="BC3C29"/>
                </a:solidFill>
              </a:rPr>
              <a:t>Pathology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43D007-7862-46B8-A9F7-42150721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099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Blood, necrosis, atypia, nonspecific inflammation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40AE66-9B6F-46DD-B341-2C685A25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09975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72B5"/>
                </a:solidFill>
              </a:defRPr>
            </a:pPr>
            <a:r>
              <a:rPr sz="1200" b="1">
                <a:solidFill>
                  <a:srgbClr val="0072B5"/>
                </a:solidFill>
              </a:rPr>
              <a:t>Label as nondiagnostic; do not call benign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26B7D7-EEE6-43D2-981A-36B11D0E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47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5D611B-E7F0-45B4-AB2A-26D9417E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795BCE-086F-4A00-918A-E429CB3B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67225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854E"/>
                </a:solidFill>
              </a:defRPr>
            </a:pPr>
            <a:r>
              <a:rPr sz="1425" b="1">
                <a:solidFill>
                  <a:srgbClr val="20854E"/>
                </a:solidFill>
              </a:rPr>
              <a:t>Microbiology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E85F16-E6ED-48EC-966E-0D9A06CC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100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Cytology only; no AFB / fungal / bacterial allocation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F320FD-99EA-4D50-9F49-CF9D56C6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10075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72B5"/>
                </a:solidFill>
              </a:defRPr>
            </a:pPr>
            <a:r>
              <a:rPr sz="1200" b="1">
                <a:solidFill>
                  <a:srgbClr val="0072B5"/>
                </a:solidFill>
              </a:rPr>
              <a:t>Predefine specimen allocation before the procedure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B940A0-340D-445B-A82C-EA68FBD0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10477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D53DDB-07A3-4697-8E6C-23411FD4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76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36EEF-234D-4C97-83D3-CA7CBE8D3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67325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7876B1"/>
                </a:solidFill>
              </a:defRPr>
            </a:pPr>
            <a:r>
              <a:rPr sz="1425" b="1">
                <a:solidFill>
                  <a:srgbClr val="7876B1"/>
                </a:solidFill>
              </a:rPr>
              <a:t>System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609866-39AC-45B0-902D-3E3DDB6E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Same route repeated without yield review or owner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A8B22F-EECB-4BCF-BB20-6B3E8101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10175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72B5"/>
                </a:solidFill>
              </a:defRPr>
            </a:pPr>
            <a:r>
              <a:rPr sz="1200" b="1">
                <a:solidFill>
                  <a:srgbClr val="0072B5"/>
                </a:solidFill>
              </a:rPr>
              <a:t>Multidisciplinary review + escalation trigger</a:t>
            </a:r>
          </a:p>
        </p:txBody>
      </p:sp>
    </p:spTree>
    <p:extLst>
      <p:ext uri="{BB962C8B-B14F-4D97-AF65-F5344CB8AC3E}">
        <p14:creationId xmlns:p14="http://schemas.microsoft.com/office/powerpoint/2010/main" val="7313289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0C0CE-BB79-4441-8FBD-62E38BD9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1">
            <a:extLst xmlns:a="http://schemas.openxmlformats.org/drawingml/2006/main">
              <a:ext uri="{FF2B5EF4-FFF2-40B4-BE49-F238E27FC236}">
                <a16:creationId xmlns:a16="http://schemas.microsoft.com/office/drawing/2014/main" id="{994F9AC5-8B07-4E29-85F8-A7B63433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VASCULAR-BEDS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D5A237FC-371C-4FB5-B94B-43C146FD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Three vascular beds can produce clinically important bleeding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9793B-57AC-4E81-AB51-E90BDD42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C53446-406F-4F75-B2CF-7A76BB42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1">
            <a:extLst xmlns:a="http://schemas.openxmlformats.org/drawingml/2006/main">
              <a:ext uri="{FF2B5EF4-FFF2-40B4-BE49-F238E27FC236}">
                <a16:creationId xmlns:a16="http://schemas.microsoft.com/office/drawing/2014/main" id="{C20B5E35-BF74-43F9-A4E0-7ACB5BF6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CIRSE Standards of Practice on BAE. 2022.</a:t>
            </a:r>
          </a:p>
        </p:txBody>
      </p:sp>
      <p:sp>
        <p:nvSpPr>
          <p:cNvPr id="7" name="page-11">
            <a:extLst xmlns:a="http://schemas.openxmlformats.org/drawingml/2006/main">
              <a:ext uri="{FF2B5EF4-FFF2-40B4-BE49-F238E27FC236}">
                <a16:creationId xmlns:a16="http://schemas.microsoft.com/office/drawing/2014/main" id="{DF9201F2-4CA4-4CD8-8272-4DE6F05D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A3A667-1115-462E-82C0-C201C7DB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716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BC3C29"/>
                </a:solidFill>
              </a:defRPr>
            </a:pPr>
            <a:r>
              <a:rPr sz="4050" b="1">
                <a:solidFill>
                  <a:srgbClr val="BC3C29"/>
                </a:solidFill>
              </a:rPr>
              <a:t>90%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3CC189-8EC4-4949-A6B1-5E46E435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574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02124"/>
                </a:solidFill>
              </a:defRPr>
            </a:pPr>
            <a:r>
              <a:rPr sz="1275" b="1">
                <a:solidFill>
                  <a:srgbClr val="202124"/>
                </a:solidFill>
              </a:rPr>
              <a:t>Bronchial circulation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524FA8-6417-45CE-AF82-54F22823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956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High-pressure systemic bed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727AC4-CC67-449B-8768-471A6A2C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7716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0072B5"/>
                </a:solidFill>
              </a:defRPr>
            </a:pPr>
            <a:r>
              <a:rPr sz="4050" b="1">
                <a:solidFill>
                  <a:srgbClr val="0072B5"/>
                </a:solidFill>
              </a:rPr>
              <a:t>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F961A-4DAC-4BD8-A0EB-54EEB2DD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4574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02124"/>
                </a:solidFill>
              </a:defRPr>
            </a:pPr>
            <a:r>
              <a:rPr sz="1275" b="1">
                <a:solidFill>
                  <a:srgbClr val="202124"/>
                </a:solidFill>
              </a:rPr>
              <a:t>Pulmonary circulation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304219-86C3-4665-9AD7-CD250353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956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Pseudoaneurysm / erosion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7B6008-7FF7-4E11-9BFD-FAA89048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716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E18727"/>
                </a:solidFill>
              </a:defRPr>
            </a:pPr>
            <a:r>
              <a:rPr sz="4050" b="1">
                <a:solidFill>
                  <a:srgbClr val="E18727"/>
                </a:solidFill>
              </a:rPr>
              <a:t>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189CFC-3A5C-4392-A574-DC2A0856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574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02124"/>
                </a:solidFill>
              </a:defRPr>
            </a:pPr>
            <a:r>
              <a:rPr sz="1275" b="1">
                <a:solidFill>
                  <a:srgbClr val="202124"/>
                </a:solidFill>
              </a:rPr>
              <a:t>Non-bronchial systemic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8BED19-5B75-44D8-9267-D713D2AB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956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Pleural collateral supply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6090F8-E131-4B74-BE4D-CE1C2552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33600"/>
            <a:ext cx="17145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05C368-6FC8-45E0-8856-AEC23E5E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33600"/>
            <a:ext cx="17145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7A89D7-5207-43F0-A36F-9AB64FD5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57700"/>
            <a:ext cx="7277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19050">
            <a:solidFill>
              <a:srgbClr val="E1872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9A7D76-AF11-453F-8702-6D9036E1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648200"/>
            <a:ext cx="662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18727"/>
                </a:solidFill>
              </a:defRPr>
            </a:pPr>
            <a:r>
              <a:rPr sz="1800" b="1">
                <a:solidFill>
                  <a:srgbClr val="E18727"/>
                </a:solidFill>
              </a:rPr>
              <a:t>A search priority - not an exclusion rule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E80CAA-F5A5-4BF5-ACF5-AA1ECBE7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57825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368"/>
                </a:solidFill>
              </a:defRPr>
            </a:pPr>
            <a:r>
              <a:rPr sz="1350" b="0">
                <a:solidFill>
                  <a:srgbClr val="5F6368"/>
                </a:solidFill>
              </a:rPr>
              <a:t>Always correlate the vascular bed with lesion location, pleural disease, prior surgery, and chronic inflammation.</a:t>
            </a:r>
          </a:p>
        </p:txBody>
      </p:sp>
    </p:spTree>
    <p:extLst>
      <p:ext uri="{BB962C8B-B14F-4D97-AF65-F5344CB8AC3E}">
        <p14:creationId xmlns:p14="http://schemas.microsoft.com/office/powerpoint/2010/main" val="13267914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050005-38CA-4B10-A02A-E312A1D6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2">
            <a:extLst xmlns:a="http://schemas.openxmlformats.org/drawingml/2006/main">
              <a:ext uri="{FF2B5EF4-FFF2-40B4-BE49-F238E27FC236}">
                <a16:creationId xmlns:a16="http://schemas.microsoft.com/office/drawing/2014/main" id="{E9754EFD-7977-4913-941E-8ABDFC4B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CULPRIT-CIRCUIT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4C4DEEF8-3731-4959-885B-446C546B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Describe the culprit circuit - not merely 'abnormal vessels'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B70847-9E74-4E9B-B0D3-386C385F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62D7A-D9DC-4CE6-BD01-DFDB369B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2">
            <a:extLst xmlns:a="http://schemas.openxmlformats.org/drawingml/2006/main">
              <a:ext uri="{FF2B5EF4-FFF2-40B4-BE49-F238E27FC236}">
                <a16:creationId xmlns:a16="http://schemas.microsoft.com/office/drawing/2014/main" id="{F2EE82B2-28C5-49DB-AEF2-D0B9FDD0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CIRSE 2022 abnormal artery signs; expanded review synthesis.</a:t>
            </a:r>
          </a:p>
        </p:txBody>
      </p:sp>
      <p:sp>
        <p:nvSpPr>
          <p:cNvPr id="7" name="page-12">
            <a:extLst xmlns:a="http://schemas.openxmlformats.org/drawingml/2006/main">
              <a:ext uri="{FF2B5EF4-FFF2-40B4-BE49-F238E27FC236}">
                <a16:creationId xmlns:a16="http://schemas.microsoft.com/office/drawing/2014/main" id="{DCA3A7B7-FAD4-4405-9190-5CB565A8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A7C3B0-3774-40BC-AD1D-BD446541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686050"/>
            <a:ext cx="16764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solidFill>
              <a:srgbClr val="BC3C2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3E1058-CF32-4D17-BB00-3D40746A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86050"/>
            <a:ext cx="16764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solidFill>
              <a:srgbClr val="E1872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8E1CD5-002B-418A-943F-224EE87B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686050"/>
            <a:ext cx="10668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F99AD"/>
          </a:solidFill>
          <a:ln xmlns:a="http://schemas.openxmlformats.org/drawingml/2006/main" w="0">
            <a:solidFill>
              <a:srgbClr val="6F99A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997E0F-8895-42FA-9EF6-3140C5E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BC3C2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F69447-F112-4786-AD3E-90F4D52B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495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Inflow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8CE871-ECAB-4832-9F2A-0348C580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4955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Hypertrophic / tortuous artery</a:t>
            </a:r>
          </a:p>
          <a:p xmlns:a="http://schemas.openxmlformats.org/drawingml/2006/main">
            <a:pPr algn="ctr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Bronchial or non-bronchial systemic feeder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106CA5-F7DB-4D44-8AD1-BA5C533F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00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E1872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667C15-5098-4F62-9D6F-7D58B0BE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66950"/>
            <a:ext cx="2495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18727"/>
                </a:solidFill>
              </a:defRPr>
            </a:pPr>
            <a:r>
              <a:rPr sz="1800" b="1">
                <a:solidFill>
                  <a:srgbClr val="E18727"/>
                </a:solidFill>
              </a:rPr>
              <a:t>Lesion / sac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2A0933-F684-4DEA-A38D-F2970885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57500"/>
            <a:ext cx="24955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Parenchymal blush</a:t>
            </a:r>
          </a:p>
          <a:p xmlns:a="http://schemas.openxmlformats.org/drawingml/2006/main">
            <a:pPr algn="ctr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Aneurysm or pseudoaneurysm</a:t>
            </a:r>
          </a:p>
          <a:p xmlns:a="http://schemas.openxmlformats.org/drawingml/2006/main">
            <a:pPr algn="ctr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Extravasation may be absent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7B1786-09F8-4CFC-AB8F-61798094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00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72B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42A6AD-5EDF-46F6-8474-39C3E5D1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66950"/>
            <a:ext cx="2495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72B5"/>
                </a:solidFill>
              </a:defRPr>
            </a:pPr>
            <a:r>
              <a:rPr sz="1800" b="1">
                <a:solidFill>
                  <a:srgbClr val="0072B5"/>
                </a:solidFill>
              </a:rPr>
              <a:t>Outflow / shunt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4FB90C-4C97-4912-A388-B7E31F39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57500"/>
            <a:ext cx="24955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Early venous filling</a:t>
            </a:r>
          </a:p>
          <a:p xmlns:a="http://schemas.openxmlformats.org/drawingml/2006/main">
            <a:pPr algn="ctr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Bronchial-pulmonary communication</a:t>
            </a:r>
          </a:p>
          <a:p xmlns:a="http://schemas.openxmlformats.org/drawingml/2006/main">
            <a:pPr algn="ctr">
              <a:defRPr sz="1275" b="0">
                <a:solidFill>
                  <a:srgbClr val="202124"/>
                </a:solidFill>
              </a:defRPr>
            </a:pPr>
            <a:r>
              <a:rPr sz="1275" b="0">
                <a:solidFill>
                  <a:srgbClr val="202124"/>
                </a:solidFill>
              </a:rPr>
              <a:t>Direction of 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73176D-9DC7-4937-9CC2-BF43FD2A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0439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6F99A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1E735B-D0E4-45E5-8D3D-4B6467FB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14900"/>
            <a:ext cx="994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F99AD"/>
                </a:solidFill>
              </a:defRPr>
            </a:pPr>
            <a:r>
              <a:rPr sz="1275" b="1">
                <a:solidFill>
                  <a:srgbClr val="6F99AD"/>
                </a:solidFill>
              </a:rPr>
              <a:t>Report: hypertrophy • tortuosity • neovascularity • blush • early venous filling • pseudoaneurysm • systemic-pulmonary communication</a:t>
            </a:r>
          </a:p>
        </p:txBody>
      </p:sp>
    </p:spTree>
    <p:extLst>
      <p:ext uri="{BB962C8B-B14F-4D97-AF65-F5344CB8AC3E}">
        <p14:creationId xmlns:p14="http://schemas.microsoft.com/office/powerpoint/2010/main" val="315296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2910D2-7C77-4781-97B5-BB709A41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3">
            <a:extLst xmlns:a="http://schemas.openxmlformats.org/drawingml/2006/main">
              <a:ext uri="{FF2B5EF4-FFF2-40B4-BE49-F238E27FC236}">
                <a16:creationId xmlns:a16="http://schemas.microsoft.com/office/drawing/2014/main" id="{3DF78CDF-F617-40A7-BD43-70A1677E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PSEUDOANEURYSM-FLOW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ED10EFDB-4A35-4AB2-8449-A314FB6C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Pseudoaneurysm treatment depends on inflow and flow direction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BA833-39A0-4F25-BE79-878FD148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741E0-DB29-4FAE-B575-0B6A7B6F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3">
            <a:extLst xmlns:a="http://schemas.openxmlformats.org/drawingml/2006/main">
              <a:ext uri="{FF2B5EF4-FFF2-40B4-BE49-F238E27FC236}">
                <a16:creationId xmlns:a16="http://schemas.microsoft.com/office/drawing/2014/main" id="{AD30BCC7-6148-44A7-82D8-0D06EE2B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Chen et al. J Thorac Dis. 2022;14:1784-1793. Mechanistic case series (n=9).</a:t>
            </a:r>
          </a:p>
        </p:txBody>
      </p:sp>
      <p:sp>
        <p:nvSpPr>
          <p:cNvPr id="7" name="page-13">
            <a:extLst xmlns:a="http://schemas.openxmlformats.org/drawingml/2006/main">
              <a:ext uri="{FF2B5EF4-FFF2-40B4-BE49-F238E27FC236}">
                <a16:creationId xmlns:a16="http://schemas.microsoft.com/office/drawing/2014/main" id="{C0331572-EED5-4DEA-84F0-25A8F3CD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E28B53-97E0-4C8D-8B60-FB32153B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1066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2B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845B34-76E9-4373-A3BE-8E932C9B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72B5"/>
                </a:solidFill>
              </a:defRPr>
            </a:pPr>
            <a:r>
              <a:rPr sz="1725" b="1">
                <a:solidFill>
                  <a:srgbClr val="0072B5"/>
                </a:solidFill>
              </a:rPr>
              <a:t>Type 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DA14D6-30DE-46D6-A532-4B946A43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669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4"/>
                </a:solidFill>
              </a:defRPr>
            </a:pPr>
            <a:r>
              <a:rPr sz="1575" b="1">
                <a:solidFill>
                  <a:srgbClr val="202124"/>
                </a:solidFill>
              </a:rPr>
              <a:t>Pulmonary artery pseudoaneurysm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31C766-2221-447D-8599-C1E2441A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82880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PA is the parent vessel; systemic collaterals may fill it retrogradely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18A81-6536-4EFE-8E45-83D0CDA3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193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solidFill>
              <a:srgbClr val="0072B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969377-6503-438B-881E-DE8F4746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1066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C3C2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6C177A-2BBE-447F-A2BA-C5615E40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67075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C3C29"/>
                </a:solidFill>
              </a:defRPr>
            </a:pPr>
            <a:r>
              <a:rPr sz="1725" b="1">
                <a:solidFill>
                  <a:srgbClr val="BC3C29"/>
                </a:solidFill>
              </a:rPr>
              <a:t>Type II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C5C4F9-06E5-478B-8AC3-90156E0D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480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4"/>
                </a:solidFill>
              </a:defRPr>
            </a:pPr>
            <a:r>
              <a:rPr sz="1575" b="1">
                <a:solidFill>
                  <a:srgbClr val="202124"/>
                </a:solidFill>
              </a:rPr>
              <a:t>Systemic arterial pseudoaneurysm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44A7E-34FE-4447-A46C-BEAC6483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09925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The sac arises from a bronchial or non-bronchial systemic artery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AA1934-0A23-4064-B63A-FC94F952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400425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solidFill>
              <a:srgbClr val="BC3C2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54629F-E143-4F33-A96A-B16E0BD3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19600"/>
            <a:ext cx="1066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1872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B4E5C6-DEB6-4AC9-91C5-054B388F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48200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18727"/>
                </a:solidFill>
              </a:defRPr>
            </a:pPr>
            <a:r>
              <a:rPr sz="1725" b="1">
                <a:solidFill>
                  <a:srgbClr val="E18727"/>
                </a:solidFill>
              </a:rPr>
              <a:t>Type III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22025F-5992-4BBE-B41D-D0FF03F6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291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4"/>
                </a:solidFill>
              </a:defRPr>
            </a:pPr>
            <a:r>
              <a:rPr sz="1575" b="1">
                <a:solidFill>
                  <a:srgbClr val="202124"/>
                </a:solidFill>
              </a:rPr>
              <a:t>Systemic-pulmonary anastomotic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1ABCC3-C68F-41BB-8908-EBC3E7D6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9105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Systemic and pulmonary branches form a shared circuit; direction may vary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766F1B-ED78-4D30-ACB8-63550616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78155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solidFill>
              <a:srgbClr val="E1872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9C6D26-4ECF-42C1-9113-F74D0D29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055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E18727"/>
                </a:solidFill>
              </a:defRPr>
            </a:pPr>
            <a:r>
              <a:rPr sz="1425" b="1">
                <a:solidFill>
                  <a:srgbClr val="E18727"/>
                </a:solidFill>
              </a:rPr>
              <a:t>The treatment target is the full inflow-sack-outflow circuit - not the brightest spot on one image.</a:t>
            </a:r>
          </a:p>
        </p:txBody>
      </p:sp>
    </p:spTree>
    <p:extLst>
      <p:ext uri="{BB962C8B-B14F-4D97-AF65-F5344CB8AC3E}">
        <p14:creationId xmlns:p14="http://schemas.microsoft.com/office/powerpoint/2010/main" val="6866986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6F50DB-1181-4CA0-9456-50C86F9C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4">
            <a:extLst xmlns:a="http://schemas.openxmlformats.org/drawingml/2006/main">
              <a:ext uri="{FF2B5EF4-FFF2-40B4-BE49-F238E27FC236}">
                <a16:creationId xmlns:a16="http://schemas.microsoft.com/office/drawing/2014/main" id="{7A43F370-B830-49E4-94A2-F22A992B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BAE-ROLE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29EC6A46-E1E5-49D0-A6CF-E23524CD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BAE controls bleeding; it does not identify the lung mass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5CB0C9-C47A-441F-B3E9-1CB267A6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10D50-562D-4FE9-B504-4629A9A2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4">
            <a:extLst xmlns:a="http://schemas.openxmlformats.org/drawingml/2006/main">
              <a:ext uri="{FF2B5EF4-FFF2-40B4-BE49-F238E27FC236}">
                <a16:creationId xmlns:a16="http://schemas.microsoft.com/office/drawing/2014/main" id="{61F5E525-8AF2-4B07-BA1F-1E12369B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CIRSE 2022; expanded review synthesis.</a:t>
            </a:r>
          </a:p>
        </p:txBody>
      </p:sp>
      <p:sp>
        <p:nvSpPr>
          <p:cNvPr id="7" name="page-14">
            <a:extLst xmlns:a="http://schemas.openxmlformats.org/drawingml/2006/main">
              <a:ext uri="{FF2B5EF4-FFF2-40B4-BE49-F238E27FC236}">
                <a16:creationId xmlns:a16="http://schemas.microsoft.com/office/drawing/2014/main" id="{0C7A74B8-91C6-4A61-819E-81CCB87C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3D656-EF49-4739-BDE2-11B6EB84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485775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0854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D83757-3C74-40DC-AAE3-D30CEEAB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14500"/>
            <a:ext cx="485775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BC3C2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8A75C-2EE4-4611-A2E7-57BA8800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193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0854E"/>
                </a:solidFill>
              </a:defRPr>
            </a:pPr>
            <a:r>
              <a:rPr sz="1800" b="1">
                <a:solidFill>
                  <a:srgbClr val="20854E"/>
                </a:solidFill>
              </a:rPr>
              <a:t>BAE CAN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450543-9655-46B6-99D8-2C1EFC7A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193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BAE CANNOT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87CF5-3C53-4916-AB54-087CB6A8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432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98C357-69DA-4B9D-A20B-62C2878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6860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Control active bleeding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A29433-1763-4148-A527-6CF7811B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1BEE49-DEBC-468C-9925-686BF19D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3850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Treat identified pathologic arteries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EB695-DFD4-499C-A380-C3760D6D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6A9DA2-B695-4CC2-829F-FD8CCE84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909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Create a safer diagnostic window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07393B-B5C2-4BE6-A48E-46407AB4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005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12AC72-8522-4CD8-8EF8-35449DEB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4340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Bridge to surgery or definitive therapy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DE2E4A-7617-457C-93B5-C00D9CE2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432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02E516-81B4-4780-940F-FF0F6887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860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Prove the mass is benign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CCFE87-BE5D-4ED3-B4EC-089C12F9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956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DDBBCE-7807-4252-B715-B8246594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3850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Replace pathology or microbiology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AF861F-6615-42F0-9C0A-9A7F1C87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481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D5C581-F171-4594-9600-1C0FF243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909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Explain every recurrence by itself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93B785-1416-468C-82E9-94767EEA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F35FAA-F5EE-4754-A66D-F11DD2CB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4340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Resolve diagnostic ownership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98B324-B49F-423E-B0BD-816A6CAB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715000"/>
            <a:ext cx="7353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72B5"/>
                </a:solidFill>
              </a:defRPr>
            </a:pPr>
            <a:r>
              <a:rPr sz="1725" b="1">
                <a:solidFill>
                  <a:srgbClr val="0072B5"/>
                </a:solidFill>
              </a:rPr>
              <a:t>Hemostasis is a clinical milestone - not a final diagnosis.</a:t>
            </a:r>
          </a:p>
        </p:txBody>
      </p:sp>
    </p:spTree>
    <p:extLst>
      <p:ext uri="{BB962C8B-B14F-4D97-AF65-F5344CB8AC3E}">
        <p14:creationId xmlns:p14="http://schemas.microsoft.com/office/powerpoint/2010/main" val="1601162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83CD2A-8250-4774-9F53-EC0BC46A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5">
            <a:extLst xmlns:a="http://schemas.openxmlformats.org/drawingml/2006/main">
              <a:ext uri="{FF2B5EF4-FFF2-40B4-BE49-F238E27FC236}">
                <a16:creationId xmlns:a16="http://schemas.microsoft.com/office/drawing/2014/main" id="{DF0DED66-1E33-4A3D-B9EF-4C6132D6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BAE-OUTCOMES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62E9EE14-D845-4C0B-A087-67883085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Immediate success is high; durable control is more variable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EC38B-A5E6-475E-B7F2-54A1BFB1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5151E-4131-4E5C-9B56-76724D22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5">
            <a:extLst xmlns:a="http://schemas.openxmlformats.org/drawingml/2006/main">
              <a:ext uri="{FF2B5EF4-FFF2-40B4-BE49-F238E27FC236}">
                <a16:creationId xmlns:a16="http://schemas.microsoft.com/office/drawing/2014/main" id="{96A9062B-BDB7-4FA6-B2D0-65BF618B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CIRSE 2022, Table 7. Ranges reflect heterogeneous studies and etiologies.</a:t>
            </a:r>
          </a:p>
        </p:txBody>
      </p:sp>
      <p:sp>
        <p:nvSpPr>
          <p:cNvPr id="7" name="page-15">
            <a:extLst xmlns:a="http://schemas.openxmlformats.org/drawingml/2006/main">
              <a:ext uri="{FF2B5EF4-FFF2-40B4-BE49-F238E27FC236}">
                <a16:creationId xmlns:a16="http://schemas.microsoft.com/office/drawing/2014/main" id="{BFFAD7AD-AC40-493C-84D3-02BF48CD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E25C9-277D-4B54-B5ED-0126ACA3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758BFE-87A5-4857-B0D3-D22359A4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143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4A599-9B00-46D9-8C14-F2BF3A84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325670-B005-4779-9033-E20B1340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143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20%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001630-4C64-4CF6-BE41-8724A3AF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0DB426-5D6C-47AE-AA31-CC74613D3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43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40%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2A2538-9F44-4BAC-956A-D1C41C28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630FA3-298E-4702-BDCC-D0167D6E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43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60%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957668-CD18-49BC-B81B-36DE0AB3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125179-0842-441F-8481-7F04AE04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143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80%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300849-B2FD-49A2-9493-462E363A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A1F8A9-9E6A-4E85-812D-13DF894B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1435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</a:defRPr>
            </a:pPr>
            <a:r>
              <a:rPr sz="900" b="0">
                <a:solidFill>
                  <a:srgbClr val="5F6368"/>
                </a:solidFill>
              </a:rPr>
              <a:t>100%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3CD557-CE77-451A-9062-9F65B1FD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</a:defRPr>
            </a:pPr>
            <a:r>
              <a:rPr sz="1500" b="1">
                <a:solidFill>
                  <a:srgbClr val="202124"/>
                </a:solidFill>
              </a:rPr>
              <a:t>Technical success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AF4ABF-72B1-49C9-9241-FC35597D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666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06D60-20BB-4AD6-83EA-247692E0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66925"/>
            <a:ext cx="666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38C685-8704-475A-878B-6784E807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85975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124"/>
                </a:solidFill>
              </a:defRPr>
            </a:pPr>
            <a:r>
              <a:rPr sz="1050" b="1">
                <a:solidFill>
                  <a:srgbClr val="202124"/>
                </a:solidFill>
              </a:rPr>
              <a:t>90-100%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009DB9-AF01-4128-A5A8-A9D17483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</a:defRPr>
            </a:pPr>
            <a:r>
              <a:rPr sz="1500" b="1">
                <a:solidFill>
                  <a:srgbClr val="202124"/>
                </a:solidFill>
              </a:rPr>
              <a:t>Clinical success - 24 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53A843-2BF2-4661-B4E0-1A8FCAB7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762E69-A8E7-4F7E-9DFA-7ECBDFD3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847975"/>
            <a:ext cx="1200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06703A-1F52-40CC-B6E1-59025ABB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867025"/>
            <a:ext cx="243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124"/>
                </a:solidFill>
              </a:defRPr>
            </a:pPr>
            <a:r>
              <a:rPr sz="1050" b="1">
                <a:solidFill>
                  <a:srgbClr val="202124"/>
                </a:solidFill>
              </a:rPr>
              <a:t>82-100%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90BCAC-CE06-4230-B0B8-8DBDBC33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</a:defRPr>
            </a:pPr>
            <a:r>
              <a:rPr sz="1500" b="1">
                <a:solidFill>
                  <a:srgbClr val="202124"/>
                </a:solidFill>
              </a:rPr>
              <a:t>Clinical success - 30 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6994F5-AFE9-4136-8824-EDF24F3D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62350"/>
            <a:ext cx="666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2EE02C-1DBE-4F6A-B125-1BCC6FA4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29025"/>
            <a:ext cx="14668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C8F371-8D96-461E-9ADB-7634510F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648075"/>
            <a:ext cx="2705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124"/>
                </a:solidFill>
              </a:defRPr>
            </a:pPr>
            <a:r>
              <a:rPr sz="1050" b="1">
                <a:solidFill>
                  <a:srgbClr val="202124"/>
                </a:solidFill>
              </a:rPr>
              <a:t>70-92%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823622-EC90-4312-90F9-0A7D2ECF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9600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</a:defRPr>
            </a:pPr>
            <a:r>
              <a:rPr sz="1500" b="1">
                <a:solidFill>
                  <a:srgbClr val="202124"/>
                </a:solidFill>
              </a:rPr>
              <a:t>Clinical success - 1 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5E37DD-3FB1-42B1-88E6-0BB3E6F1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43400"/>
            <a:ext cx="666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982B33-C571-4F26-BB9A-35E78B8F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10075"/>
            <a:ext cx="18669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521D6F-3DF7-4943-ADA1-CC262574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42912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124"/>
                </a:solidFill>
              </a:defRPr>
            </a:pPr>
            <a:r>
              <a:rPr sz="1050" b="1">
                <a:solidFill>
                  <a:srgbClr val="202124"/>
                </a:solidFill>
              </a:rPr>
              <a:t>64-92%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4E8C7A-4A9A-4A7E-8513-DDC2CB92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77215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C3C29"/>
                </a:solidFill>
              </a:defRPr>
            </a:pPr>
            <a:r>
              <a:rPr sz="1500" b="1">
                <a:solidFill>
                  <a:srgbClr val="BC3C29"/>
                </a:solidFill>
              </a:rPr>
              <a:t>Do not quote 90-100% as if it meant one-year freedom from rebleeding.</a:t>
            </a:r>
          </a:p>
        </p:txBody>
      </p:sp>
    </p:spTree>
    <p:extLst>
      <p:ext uri="{BB962C8B-B14F-4D97-AF65-F5344CB8AC3E}">
        <p14:creationId xmlns:p14="http://schemas.microsoft.com/office/powerpoint/2010/main" val="86795114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DC7FC6-0989-4A80-BD80-2A43C3CC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6">
            <a:extLst xmlns:a="http://schemas.openxmlformats.org/drawingml/2006/main">
              <a:ext uri="{FF2B5EF4-FFF2-40B4-BE49-F238E27FC236}">
                <a16:creationId xmlns:a16="http://schemas.microsoft.com/office/drawing/2014/main" id="{B6E31748-163F-4AC3-BA08-8A069005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REBLEEDING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CD40CBD2-11B6-43E7-B926-FB28B913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Rebleeding usually signals incomplete source control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0CE11C-AA39-4188-A5B7-355040E7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9CF67-604A-460E-8D15-21EE3A83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6">
            <a:extLst xmlns:a="http://schemas.openxmlformats.org/drawingml/2006/main">
              <a:ext uri="{FF2B5EF4-FFF2-40B4-BE49-F238E27FC236}">
                <a16:creationId xmlns:a16="http://schemas.microsoft.com/office/drawing/2014/main" id="{ECFCB3E7-DE4F-4547-816D-6921166A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CIRSE 2022, rebleeding risk factors.</a:t>
            </a:r>
          </a:p>
        </p:txBody>
      </p:sp>
      <p:sp>
        <p:nvSpPr>
          <p:cNvPr id="7" name="page-16">
            <a:extLst xmlns:a="http://schemas.openxmlformats.org/drawingml/2006/main">
              <a:ext uri="{FF2B5EF4-FFF2-40B4-BE49-F238E27FC236}">
                <a16:creationId xmlns:a16="http://schemas.microsoft.com/office/drawing/2014/main" id="{780A83DD-D73B-4228-B742-9B215A52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58476-8CC4-4F65-A7E2-F495C9D4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35226-E527-44B5-9562-2530C3CC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907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AC702-2A66-41CA-B51A-A7A73AE6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695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C3C29"/>
                </a:solidFill>
              </a:defRPr>
            </a:pPr>
            <a:r>
              <a:rPr sz="1725" b="1">
                <a:solidFill>
                  <a:srgbClr val="BC3C29"/>
                </a:solidFill>
              </a:rPr>
              <a:t>Incomplete embolization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08C08-BA25-4655-AFCB-0476EB59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1717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Culprit artery or collateral missed at the first procedure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AA0609-F0A4-477C-8943-D3CD0FFB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718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5621F-D796-4050-BDC7-BA61D552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764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20974-3FB2-4641-8B54-6588CA9A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234550-CE55-472B-BA4D-A8F94242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95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72B5"/>
                </a:solidFill>
              </a:defRPr>
            </a:pPr>
            <a:r>
              <a:rPr sz="1725" b="1">
                <a:solidFill>
                  <a:srgbClr val="0072B5"/>
                </a:solidFill>
              </a:rPr>
              <a:t>Untreated disease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A93510-EE4E-41CB-8F88-7710775A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717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Tumor, infection, or inflammatory destruction continues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0CC0EE-1153-4E57-9851-295C47BF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718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4EE40E-146E-415E-8494-3498CC4C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C7DDC-E03C-42B2-B47D-B7FB2EEF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0CC989-AC6D-4355-A090-25516E69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6766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18727"/>
                </a:solidFill>
              </a:defRPr>
            </a:pPr>
            <a:r>
              <a:rPr sz="1725" b="1">
                <a:solidFill>
                  <a:srgbClr val="E18727"/>
                </a:solidFill>
              </a:rPr>
              <a:t>Recanalization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6B5596-6C27-4C62-8B7F-41B260E6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1529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Previously treated vessel becomes patent again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9811F7-F2CE-4B9D-9B15-4782C1AA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9530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CCEB6-6AA4-41D6-BA70-273195C5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576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76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A589FA-7863-4412-ABFA-2F03546A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91A6BB-F0E4-4874-AC06-A34861B6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766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7876B1"/>
                </a:solidFill>
              </a:defRPr>
            </a:pPr>
            <a:r>
              <a:rPr sz="1725" b="1">
                <a:solidFill>
                  <a:srgbClr val="7876B1"/>
                </a:solidFill>
              </a:rPr>
              <a:t>New collaterals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CF876C-FA7B-44D2-8542-15CA99C6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529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Chronic inflammation recruits new non-bronchial supply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5FC688-88BB-49AC-8160-975BB7E4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530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D82D2D-1C6D-4F16-BC50-F076817E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7215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C3C29"/>
                </a:solidFill>
              </a:defRPr>
            </a:pPr>
            <a:r>
              <a:rPr sz="1500" b="1">
                <a:solidFill>
                  <a:srgbClr val="BC3C29"/>
                </a:solidFill>
              </a:rPr>
              <a:t>Rebleeding should trigger renewed localization and etiologic review - not only repeat embolization.</a:t>
            </a:r>
          </a:p>
        </p:txBody>
      </p:sp>
    </p:spTree>
    <p:extLst>
      <p:ext uri="{BB962C8B-B14F-4D97-AF65-F5344CB8AC3E}">
        <p14:creationId xmlns:p14="http://schemas.microsoft.com/office/powerpoint/2010/main" val="20493790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98D5A73-AC04-46FF-B458-DEC2F537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7">
            <a:extLst xmlns:a="http://schemas.openxmlformats.org/drawingml/2006/main">
              <a:ext uri="{FF2B5EF4-FFF2-40B4-BE49-F238E27FC236}">
                <a16:creationId xmlns:a16="http://schemas.microsoft.com/office/drawing/2014/main" id="{37909674-AF78-4659-A8FD-0E6AB2D6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TISSUE-STRATEGY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DF82243B-F496-47D7-97AD-9E211B94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After BAE, choose a new tissue target - not the same failed route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46091-9D8A-4A09-BD76-C6A0FB41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DA324-B842-42AA-BEDA-8C341026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7">
            <a:extLst xmlns:a="http://schemas.openxmlformats.org/drawingml/2006/main">
              <a:ext uri="{FF2B5EF4-FFF2-40B4-BE49-F238E27FC236}">
                <a16:creationId xmlns:a16="http://schemas.microsoft.com/office/drawing/2014/main" id="{3CA4B3BB-DEEC-4A81-BDA6-C778B71B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Sources: Expanded review synthesis; JAMA 2022 nodule review (route trade-offs, scope qualified).</a:t>
            </a:r>
          </a:p>
        </p:txBody>
      </p:sp>
      <p:sp>
        <p:nvSpPr>
          <p:cNvPr id="7" name="page-17">
            <a:extLst xmlns:a="http://schemas.openxmlformats.org/drawingml/2006/main">
              <a:ext uri="{FF2B5EF4-FFF2-40B4-BE49-F238E27FC236}">
                <a16:creationId xmlns:a16="http://schemas.microsoft.com/office/drawing/2014/main" id="{AE8BDE80-7057-4A98-ACE4-AC7C3273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52D2F7-8A93-4525-BCFA-4C2AF75C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3409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C07AFC-C00A-45AB-8C69-0E59BBCB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9725"/>
            <a:ext cx="3181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Best 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C10D2D-83C6-4AA7-9830-67C84EFE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04950"/>
            <a:ext cx="3333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72DCBA-48BE-43FF-A958-62C2E815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609725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Route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CE8838-7189-417E-B806-B8C6DFF9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504950"/>
            <a:ext cx="3848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1AD74A-8F0F-46F2-B18A-3D249EB3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6097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Why it may be better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F70003-143B-42D6-8B3C-1B7CFF8D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3409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8248DA-AB82-420E-884F-237658B6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C3C29"/>
                </a:solidFill>
              </a:defRPr>
            </a:pPr>
            <a:r>
              <a:rPr sz="1125" b="1">
                <a:solidFill>
                  <a:srgbClr val="BC3C29"/>
                </a:solidFill>
              </a:rPr>
              <a:t>Visible endobronchial lesion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B92036-E620-4BD0-A133-07E9BB54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924050"/>
            <a:ext cx="3333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FB1D21-9D20-4899-8671-BF0ECE8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4"/>
                </a:solidFill>
              </a:defRPr>
            </a:pPr>
            <a:r>
              <a:rPr sz="1125" b="0">
                <a:solidFill>
                  <a:srgbClr val="202124"/>
                </a:solidFill>
              </a:rPr>
              <a:t>Conventional bronchoscopy biopsy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48D388-BD9A-4C02-8C54-F0D65B3D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24050"/>
            <a:ext cx="384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234EF1-DE86-40AB-B6C6-21910B26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38350"/>
            <a:ext cx="3581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</a:defRPr>
            </a:pPr>
            <a:r>
              <a:rPr sz="1125" b="0">
                <a:solidFill>
                  <a:srgbClr val="202124"/>
                </a:solidFill>
              </a:rPr>
              <a:t>Direct view + airway management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7116B2-BBFA-47F8-A145-15AEAA5A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3409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78767E-9FF9-436C-A584-0FFB0869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622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F99AD"/>
                </a:solidFill>
              </a:defRPr>
            </a:pPr>
            <a:r>
              <a:rPr sz="1125" b="1">
                <a:solidFill>
                  <a:srgbClr val="6F99AD"/>
                </a:solidFill>
              </a:rPr>
              <a:t>Airway-adjacent peripheral lesion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F7CE9E-C63A-4632-83F9-677C3FB1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47950"/>
            <a:ext cx="3333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8F5B73-2674-4153-B57A-A68CADF6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622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4"/>
                </a:solidFill>
              </a:defRPr>
            </a:pPr>
            <a:r>
              <a:rPr sz="1125" b="0">
                <a:solidFill>
                  <a:srgbClr val="202124"/>
                </a:solidFill>
              </a:rPr>
              <a:t>Guided / robotic bronchoscopy ± radial EBUS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66A0C4-3710-4221-8474-9ED934E2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47950"/>
            <a:ext cx="384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9F3F6D-F42F-4367-9407-86E534A9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62250"/>
            <a:ext cx="3581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</a:defRPr>
            </a:pPr>
            <a:r>
              <a:rPr sz="1125" b="0">
                <a:solidFill>
                  <a:srgbClr val="202124"/>
                </a:solidFill>
              </a:rPr>
              <a:t>Lower pneumothorax risk; can stage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D4FCB3-3854-4F85-8F4D-D8986B2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3409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06392D-C881-4F3F-8D16-79904EC7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2B5"/>
                </a:solidFill>
              </a:defRPr>
            </a:pPr>
            <a:r>
              <a:rPr sz="1125" b="1">
                <a:solidFill>
                  <a:srgbClr val="0072B5"/>
                </a:solidFill>
              </a:rPr>
              <a:t>Pleural-based or peripheral mass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F2E3B1-21F0-4CA4-A48E-CE036EAF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71850"/>
            <a:ext cx="3333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FC660B-21BB-46E7-8DFE-DB08D381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861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4"/>
                </a:solidFill>
              </a:defRPr>
            </a:pPr>
            <a:r>
              <a:rPr sz="1125" b="0">
                <a:solidFill>
                  <a:srgbClr val="202124"/>
                </a:solidFill>
              </a:rPr>
              <a:t>CT-guided core biopsy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60A988-EEE6-42D8-9B07-1E89812C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71850"/>
            <a:ext cx="384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39D43D-9EA7-4DA9-9ADF-2C3234E5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486150"/>
            <a:ext cx="3581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</a:defRPr>
            </a:pPr>
            <a:r>
              <a:rPr sz="1125" b="0">
                <a:solidFill>
                  <a:srgbClr val="202124"/>
                </a:solidFill>
              </a:rPr>
              <a:t>Direct route; usually more tissue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1A8DBB-30B5-4B99-9154-C98974C5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3409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A05088-51B1-43C5-BA2B-4D4829B6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00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0854E"/>
                </a:solidFill>
              </a:defRPr>
            </a:pPr>
            <a:r>
              <a:rPr sz="1125" b="1">
                <a:solidFill>
                  <a:srgbClr val="20854E"/>
                </a:solidFill>
              </a:rPr>
              <a:t>Mediastinal / hilar node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141EF9-BCF4-4922-9A5C-35478B2A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3333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07A6D4-81B6-4497-91B1-0AFFE744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2100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4"/>
                </a:solidFill>
              </a:defRPr>
            </a:pPr>
            <a:r>
              <a:rPr sz="1125" b="0">
                <a:solidFill>
                  <a:srgbClr val="202124"/>
                </a:solidFill>
              </a:rPr>
              <a:t>EBUS-TBNA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14C463-E11A-4EBF-A54A-94387871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095750"/>
            <a:ext cx="384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A69071-135C-434D-9677-7282548B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10050"/>
            <a:ext cx="3581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</a:defRPr>
            </a:pPr>
            <a:r>
              <a:rPr sz="1125" b="0">
                <a:solidFill>
                  <a:srgbClr val="202124"/>
                </a:solidFill>
              </a:rPr>
              <a:t>Diagnosis + staging; avoids vascular mass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819B25-F30B-4B15-8A02-6561AB91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3409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99852E-AA53-468F-90A5-90187FD7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339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18727"/>
                </a:solidFill>
              </a:defRPr>
            </a:pPr>
            <a:r>
              <a:rPr sz="1125" b="1">
                <a:solidFill>
                  <a:srgbClr val="E18727"/>
                </a:solidFill>
              </a:rPr>
              <a:t>Persistent high suspicion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F74CA5-8515-4D73-B079-0DB8F2F7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19650"/>
            <a:ext cx="3333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CD59B9B-11BF-4E37-A5E7-63B83211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9339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4"/>
                </a:solidFill>
              </a:defRPr>
            </a:pPr>
            <a:r>
              <a:rPr sz="1125" b="0">
                <a:solidFill>
                  <a:srgbClr val="202124"/>
                </a:solidFill>
              </a:rPr>
              <a:t>VATS / surgical biopsy or resection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387080-6120-40E9-8B3C-8C7331F9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819650"/>
            <a:ext cx="384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7B69160-CF68-4F7C-8C17-51FA1023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33950"/>
            <a:ext cx="3581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02124"/>
                </a:solidFill>
              </a:defRPr>
            </a:pPr>
            <a:r>
              <a:rPr sz="1125" b="0">
                <a:solidFill>
                  <a:srgbClr val="202124"/>
                </a:solidFill>
              </a:rPr>
              <a:t>Definitive tissue; may also treat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E26708-E862-4AAB-BE8A-A4877CE6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715000"/>
            <a:ext cx="647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BC3C29"/>
                </a:solidFill>
              </a:defRPr>
            </a:pPr>
            <a:r>
              <a:rPr sz="1425" b="1">
                <a:solidFill>
                  <a:srgbClr val="BC3C29"/>
                </a:solidFill>
              </a:rPr>
              <a:t>Route selection must account for vascular safety before sampling.</a:t>
            </a:r>
          </a:p>
        </p:txBody>
      </p:sp>
    </p:spTree>
    <p:extLst>
      <p:ext uri="{BB962C8B-B14F-4D97-AF65-F5344CB8AC3E}">
        <p14:creationId xmlns:p14="http://schemas.microsoft.com/office/powerpoint/2010/main" val="133032249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1EE80D-6FC0-4E06-9A74-36DE6551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8">
            <a:extLst xmlns:a="http://schemas.openxmlformats.org/drawingml/2006/main">
              <a:ext uri="{FF2B5EF4-FFF2-40B4-BE49-F238E27FC236}">
                <a16:creationId xmlns:a16="http://schemas.microsoft.com/office/drawing/2014/main" id="{1E79DD56-43FC-48BC-A8A1-7BCE4025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MM-INFLECTION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2CB4273C-AC66-42D3-B4AA-869B77D2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The M&amp;M inflection point: hemostasis mistaken for diagnostic closure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797470-B3DB-478E-91EF-17834B46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97A89-12DC-4CAD-8CCB-56EFF899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8">
            <a:extLst xmlns:a="http://schemas.openxmlformats.org/drawingml/2006/main">
              <a:ext uri="{FF2B5EF4-FFF2-40B4-BE49-F238E27FC236}">
                <a16:creationId xmlns:a16="http://schemas.microsoft.com/office/drawing/2014/main" id="{F2B709E1-ECD1-4758-B6FB-03A00DDF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M&amp;M framework: avoid hindsight bias; distinguish hemostatic and diagnostic outcomes.</a:t>
            </a:r>
          </a:p>
        </p:txBody>
      </p:sp>
      <p:sp>
        <p:nvSpPr>
          <p:cNvPr id="7" name="page-18">
            <a:extLst xmlns:a="http://schemas.openxmlformats.org/drawingml/2006/main">
              <a:ext uri="{FF2B5EF4-FFF2-40B4-BE49-F238E27FC236}">
                <a16:creationId xmlns:a16="http://schemas.microsoft.com/office/drawing/2014/main" id="{98132F77-10EB-4D1C-854B-67DC638C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3C751-CA0C-4223-A363-685E4453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10325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84B936-66D0-459D-A67C-439C2A50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241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B3CA3C-B808-4AE9-AFBD-024B0E9C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8607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C46B76-5FC5-40C3-B7A7-8A909B74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C3C29"/>
                </a:solidFill>
              </a:defRPr>
            </a:pPr>
            <a:r>
              <a:rPr sz="1500" b="1">
                <a:solidFill>
                  <a:srgbClr val="BC3C29"/>
                </a:solidFill>
              </a:rPr>
              <a:t>Bleeding identified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E4149-F1CE-48A4-B811-63914974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62450"/>
            <a:ext cx="2152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Severity and source still uncertain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48D52B-3CE8-4D38-AA5F-EF8632DC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241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99AD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B669A9-1505-4826-9885-4C8AA2165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8607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FFAE2-BD1E-4D77-A13C-DD93774E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338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F99AD"/>
                </a:solidFill>
              </a:defRPr>
            </a:pPr>
            <a:r>
              <a:rPr sz="1500" b="1">
                <a:solidFill>
                  <a:srgbClr val="6F99AD"/>
                </a:solidFill>
              </a:rPr>
              <a:t>Nondiagnostic sampling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DAAC8E-429D-4836-9A44-01573B0A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362450"/>
            <a:ext cx="2152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Mass remains unresolved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9F2452-0896-4A4E-850C-82221793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241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95A9CE-01B2-46CC-91B8-4B616BAE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8607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CB91B3-2483-444B-8B35-B818FFB4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854E"/>
                </a:solidFill>
              </a:defRPr>
            </a:pPr>
            <a:r>
              <a:rPr sz="1500" b="1">
                <a:solidFill>
                  <a:srgbClr val="20854E"/>
                </a:solidFill>
              </a:rPr>
              <a:t>BAE controls bleeding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2EA41B-E882-4FF0-9B6D-31872C11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62450"/>
            <a:ext cx="2152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Acute hazard improves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E22A6B-6124-4C3C-8C43-A7BE9A2F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7241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57C206-2E84-4281-BC50-8CBF3EE1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88607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6F0093-A2E5-472C-810E-0AAF6788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338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18727"/>
                </a:solidFill>
              </a:defRPr>
            </a:pPr>
            <a:r>
              <a:rPr sz="1500" b="1">
                <a:solidFill>
                  <a:srgbClr val="E18727"/>
                </a:solidFill>
              </a:rPr>
              <a:t>Diagnostic closure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0366CF-D3D5-41BE-816A-6C1A0397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62450"/>
            <a:ext cx="2152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The unresolved mass loses an 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3C06DE-E2CF-4834-A6BB-50CF6BF0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76400"/>
            <a:ext cx="27241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19050">
            <a:solidFill>
              <a:srgbClr val="E1872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5A703A-93BC-4DBC-AC54-D72F8972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526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18727"/>
                </a:solidFill>
              </a:defRPr>
            </a:pPr>
            <a:r>
              <a:rPr sz="1200" b="1">
                <a:solidFill>
                  <a:srgbClr val="E18727"/>
                </a:solidFill>
              </a:rPr>
              <a:t>Critical question:</a:t>
            </a:r>
          </a:p>
          <a:p xmlns:a="http://schemas.openxmlformats.org/drawingml/2006/main">
            <a:pPr algn="ctr">
              <a:defRPr sz="1200" b="1">
                <a:solidFill>
                  <a:srgbClr val="E18727"/>
                </a:solidFill>
              </a:defRPr>
            </a:pPr>
            <a:r>
              <a:rPr sz="1200" b="1">
                <a:solidFill>
                  <a:srgbClr val="E18727"/>
                </a:solidFill>
              </a:rPr>
              <a:t>Who owns the unresolved diagnosis?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40F6A1-E1F7-48F8-96F7-24F68B2D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657850"/>
            <a:ext cx="872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02124"/>
                </a:solidFill>
              </a:defRPr>
            </a:pPr>
            <a:r>
              <a:rPr sz="1425" b="1">
                <a:solidFill>
                  <a:srgbClr val="202124"/>
                </a:solidFill>
              </a:rPr>
              <a:t>A fair review asks what was known at the time - and which process allowed uncertainty to disappear from the problem list.</a:t>
            </a:r>
          </a:p>
        </p:txBody>
      </p:sp>
    </p:spTree>
    <p:extLst>
      <p:ext uri="{BB962C8B-B14F-4D97-AF65-F5344CB8AC3E}">
        <p14:creationId xmlns:p14="http://schemas.microsoft.com/office/powerpoint/2010/main" val="214248360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0B56C4-C585-4926-83D6-C9FAF7C0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9">
            <a:extLst xmlns:a="http://schemas.openxmlformats.org/drawingml/2006/main">
              <a:ext uri="{FF2B5EF4-FFF2-40B4-BE49-F238E27FC236}">
                <a16:creationId xmlns:a16="http://schemas.microsoft.com/office/drawing/2014/main" id="{21883E1F-398F-4B12-889A-A4404765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PREVENTION-BUNDLE</a:t>
            </a:r>
          </a:p>
        </p:txBody>
      </p:sp>
      <p:sp>
        <p:nvSpPr>
          <p:cNvPr id="3" name="title-19">
            <a:extLst xmlns:a="http://schemas.openxmlformats.org/drawingml/2006/main">
              <a:ext uri="{FF2B5EF4-FFF2-40B4-BE49-F238E27FC236}">
                <a16:creationId xmlns:a16="http://schemas.microsoft.com/office/drawing/2014/main" id="{762A2D03-2D97-4828-8C66-3B98844B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Prevention requires an owner, a target, a specimen plan, and a trigger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9A4ADA-41AF-4A75-BA00-CDD4AF39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A2085-E634-4A14-BC3A-E243FA9E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9">
            <a:extLst xmlns:a="http://schemas.openxmlformats.org/drawingml/2006/main">
              <a:ext uri="{FF2B5EF4-FFF2-40B4-BE49-F238E27FC236}">
                <a16:creationId xmlns:a16="http://schemas.microsoft.com/office/drawing/2014/main" id="{3796CD14-37FC-447C-AE1C-705E67C0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Hemoptysis + Lung Mass | Editable M&amp;M Deck</a:t>
            </a:r>
          </a:p>
        </p:txBody>
      </p:sp>
      <p:sp>
        <p:nvSpPr>
          <p:cNvPr id="7" name="page-19">
            <a:extLst xmlns:a="http://schemas.openxmlformats.org/drawingml/2006/main">
              <a:ext uri="{FF2B5EF4-FFF2-40B4-BE49-F238E27FC236}">
                <a16:creationId xmlns:a16="http://schemas.microsoft.com/office/drawing/2014/main" id="{B2D85500-40C3-48B2-B79C-D439003C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8225A2-F262-4181-A61A-35E6EA40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71800"/>
            <a:ext cx="7048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B95E4E-5533-4BB9-8886-441C176D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71800"/>
            <a:ext cx="7048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2EB181-47F7-4941-BD98-4F6DEE87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71800"/>
            <a:ext cx="7048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8F9B60-9C28-49D7-840D-9B290B99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381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2B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E815EB-8648-455D-9BF7-E323C54E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5621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BD7ABF-685F-4760-BAFB-03A14368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2402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8F7959-2D41-4BB6-B822-AF275ED8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Diagnostic 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43C7E3-736B-4CB6-9A77-9A5BC27D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924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One clinician coordinates radiology, pulmonology, IR, surgery, pathology, and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1D7C3A-D4FF-4BD0-9616-C7A789FD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924050"/>
            <a:ext cx="2381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F99A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6DCF97-1DE1-43A4-A25D-B6BC8348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5621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99AD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E0EDE2-F579-4372-AE47-34A562B3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72402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DB6A8C-8339-4806-8356-1E0969F8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71750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F99AD"/>
                </a:solidFill>
              </a:defRPr>
            </a:pPr>
            <a:r>
              <a:rPr sz="1650" b="1">
                <a:solidFill>
                  <a:srgbClr val="6F99AD"/>
                </a:solidFill>
              </a:rPr>
              <a:t>Target agreement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AFE3DC-2244-419A-BE47-CF80B934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390900"/>
            <a:ext cx="1924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Name the exact lesion, airway, node, or vessel each team is addressing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D4ECED-6C39-4F0A-90CD-BD019E9B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24050"/>
            <a:ext cx="2381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85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750D0A-5BC0-4095-83DA-2BF33F7B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621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FD15D6-97AA-477E-AF5B-FDF97A0E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2402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2F417F-B7B2-4EB0-A5CB-DA4346A93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71750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854E"/>
                </a:solidFill>
              </a:defRPr>
            </a:pPr>
            <a:r>
              <a:rPr sz="1650" b="1">
                <a:solidFill>
                  <a:srgbClr val="20854E"/>
                </a:solidFill>
              </a:rPr>
              <a:t>Specimen allocation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9D24D3-9A16-419A-B299-99C771B0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90900"/>
            <a:ext cx="1924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Pre-plan histology, cytology, bacterial, AFB, fungal, and molecular studies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53E3D8-5236-4A8E-9368-522F0873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924050"/>
            <a:ext cx="2381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1872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CAF14D-951C-4733-9AAF-6E516B07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5621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3EFC5A-8BD5-4824-968C-E83A8E50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2402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BD9C95-5974-4AB1-ADA2-177AB2D4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571750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18727"/>
                </a:solidFill>
              </a:defRPr>
            </a:pPr>
            <a:r>
              <a:rPr sz="1650" b="1">
                <a:solidFill>
                  <a:srgbClr val="E18727"/>
                </a:solidFill>
              </a:rPr>
              <a:t>Deadline + trigger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6BA2C7-C8D7-4B75-B55A-E42EC6BC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390900"/>
            <a:ext cx="1924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124"/>
                </a:solidFill>
              </a:defRPr>
            </a:pPr>
            <a:r>
              <a:rPr sz="1200" b="0">
                <a:solidFill>
                  <a:srgbClr val="202124"/>
                </a:solidFill>
              </a:rPr>
              <a:t>Set the next test date and escalation for growth, recurrent bleeding, nodes, or another nondiagnostic result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568D0F-F049-4075-82AE-EF03E47B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657850"/>
            <a:ext cx="624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C3C29"/>
                </a:solidFill>
              </a:defRPr>
            </a:pPr>
            <a:r>
              <a:rPr sz="1575" b="1">
                <a:solidFill>
                  <a:srgbClr val="BC3C29"/>
                </a:solidFill>
              </a:rPr>
              <a:t>Make unresolved diagnosis an explicit active problem.</a:t>
            </a:r>
          </a:p>
        </p:txBody>
      </p:sp>
    </p:spTree>
    <p:extLst>
      <p:ext uri="{BB962C8B-B14F-4D97-AF65-F5344CB8AC3E}">
        <p14:creationId xmlns:p14="http://schemas.microsoft.com/office/powerpoint/2010/main" val="53733865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D9A390-25F2-478D-A907-BFB612C5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20">
            <a:extLst xmlns:a="http://schemas.openxmlformats.org/drawingml/2006/main">
              <a:ext uri="{FF2B5EF4-FFF2-40B4-BE49-F238E27FC236}">
                <a16:creationId xmlns:a16="http://schemas.microsoft.com/office/drawing/2014/main" id="{551ABBBB-FBE6-42F5-AA4D-7FCDC580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TAKE-HOME</a:t>
            </a:r>
          </a:p>
        </p:txBody>
      </p:sp>
      <p:sp>
        <p:nvSpPr>
          <p:cNvPr id="3" name="title-20">
            <a:extLst xmlns:a="http://schemas.openxmlformats.org/drawingml/2006/main">
              <a:ext uri="{FF2B5EF4-FFF2-40B4-BE49-F238E27FC236}">
                <a16:creationId xmlns:a16="http://schemas.microsoft.com/office/drawing/2014/main" id="{237CA487-E054-4DA8-91DF-A298F75B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02124"/>
                </a:solidFill>
              </a:defRPr>
            </a:pPr>
            <a:r>
              <a:rPr sz="2325" b="1">
                <a:solidFill>
                  <a:srgbClr val="202124"/>
                </a:solidFill>
              </a:rPr>
              <a:t>Control the bleeding. Preserve uncertainty. Finish the diagnosis.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4187E-A12E-4C70-B65F-B45B6EBD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8F1782-DAC4-4EC1-B430-2E3DF8DB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20">
            <a:extLst xmlns:a="http://schemas.openxmlformats.org/drawingml/2006/main">
              <a:ext uri="{FF2B5EF4-FFF2-40B4-BE49-F238E27FC236}">
                <a16:creationId xmlns:a16="http://schemas.microsoft.com/office/drawing/2014/main" id="{6342D531-F58E-4633-AB43-66D12A98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Educational synthesis; patient-specific decisions require multidisciplinary judgment.</a:t>
            </a:r>
          </a:p>
        </p:txBody>
      </p:sp>
      <p:sp>
        <p:nvSpPr>
          <p:cNvPr id="7" name="page-20">
            <a:extLst xmlns:a="http://schemas.openxmlformats.org/drawingml/2006/main">
              <a:ext uri="{FF2B5EF4-FFF2-40B4-BE49-F238E27FC236}">
                <a16:creationId xmlns:a16="http://schemas.microsoft.com/office/drawing/2014/main" id="{1D4DA915-A4C5-45FC-B505-F100C5C8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C915BC-E316-4D8F-95C5-EA69236A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50A324-250E-46D9-A414-82A9B049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C4487-D82E-46DB-8005-C272FBE7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002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C3C29"/>
                </a:solidFill>
              </a:defRPr>
            </a:pPr>
            <a:r>
              <a:rPr sz="1725" b="1">
                <a:solidFill>
                  <a:srgbClr val="BC3C29"/>
                </a:solidFill>
              </a:rPr>
              <a:t>Control bleeding by physiology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72B23-41E0-448E-AA0C-C1533176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57400"/>
            <a:ext cx="895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Airway, gas exchange, hemodynamics, trajectory, and reserve determine urgency.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C5AC3F-FCC9-4624-8364-E479DD1E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5E5E50-2AE6-4DEC-B9A7-2963732D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622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6DEFC5-F236-4FCF-B41D-A3149C9A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8003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18727"/>
                </a:solidFill>
              </a:defRPr>
            </a:pPr>
            <a:r>
              <a:rPr sz="1725" b="1">
                <a:solidFill>
                  <a:srgbClr val="E18727"/>
                </a:solidFill>
              </a:rPr>
              <a:t>Keep procedure results honest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07E48-0C39-4F4F-8813-387029D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257550"/>
            <a:ext cx="895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Blood, necrosis, atypia, and nonspecific inflammation are nondiagnostic - not benign.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F374D5-8318-4CCE-BE58-DBB47338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D8B7B7-0A7F-42C7-B574-D71F1991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624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0EB65-5E23-4795-AE4D-8CFED0B0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0005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72B5"/>
                </a:solidFill>
              </a:defRPr>
            </a:pPr>
            <a:r>
              <a:rPr sz="1725" b="1">
                <a:solidFill>
                  <a:srgbClr val="0072B5"/>
                </a:solidFill>
              </a:rPr>
              <a:t>Finish the underlying diagnosis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F9510B-8F15-4E62-A2BE-488BB41A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457700"/>
            <a:ext cx="895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02124"/>
                </a:solidFill>
              </a:defRPr>
            </a:pPr>
            <a:r>
              <a:rPr sz="1350" b="0">
                <a:solidFill>
                  <a:srgbClr val="202124"/>
                </a:solidFill>
              </a:rPr>
              <a:t>BAE creates a window. Use it to select a better target, route, specimen plan, and owner.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DFA266-D0A5-4B38-B5AD-01D85146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4B792A-1729-4750-900B-02E7D659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67350"/>
            <a:ext cx="1024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Key sources: AAFP 2022 • ACR Hemoptysis • CIRSE 2022 • ATS/ACCP 2024 • JAMA 2022 • Chen 2022</a:t>
            </a:r>
          </a:p>
          <a:p xmlns:a="http://schemas.openxmlformats.org/drawingml/2006/main">
            <a:pPr algn="ct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Scope warning: pulmonary nodule thresholds do not automatically apply to a &gt;3 cm mass.</a:t>
            </a:r>
          </a:p>
        </p:txBody>
      </p:sp>
    </p:spTree>
    <p:extLst>
      <p:ext uri="{BB962C8B-B14F-4D97-AF65-F5344CB8AC3E}">
        <p14:creationId xmlns:p14="http://schemas.microsoft.com/office/powerpoint/2010/main" val="4106195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2026-07-19T08:02:01.2630000Z</dcterms:created>
  <dcterms:modified xsi:type="dcterms:W3CDTF">2026-07-19T08:02:01.2630000Z</dcterms:modified>
</coreProperties>
</file>