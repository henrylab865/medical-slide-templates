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393bbc8948d44a6" /><Relationship Type="http://schemas.openxmlformats.org/officeDocument/2006/relationships/extended-properties" Target="/docProps/app.xml" Id="R2ee78b0b64ea4fb5" /><Relationship Type="http://schemas.openxmlformats.org/officeDocument/2006/relationships/officeDocument" Target="/ppt/presentation.xml" Id="R8af9a627b41744d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b1241c1419e47e0"/>
  </p:sldMasterIdLst>
  <p:notesMasterIdLst>
    <p:notesMasterId xmlns:r="http://schemas.openxmlformats.org/officeDocument/2006/relationships" r:id="R541027e56e2a441f"/>
  </p:notesMasterIdLst>
  <p:sldIdLst>
    <p:sldId xmlns:r="http://schemas.openxmlformats.org/officeDocument/2006/relationships" id="256" r:id="R925013c0d7ca42cd"/>
    <p:sldId xmlns:r="http://schemas.openxmlformats.org/officeDocument/2006/relationships" id="257" r:id="Rb026d56aa6784fe8"/>
    <p:sldId xmlns:r="http://schemas.openxmlformats.org/officeDocument/2006/relationships" id="258" r:id="R176636b33ca6436b"/>
    <p:sldId xmlns:r="http://schemas.openxmlformats.org/officeDocument/2006/relationships" id="259" r:id="R224ed413a2a4483a"/>
    <p:sldId xmlns:r="http://schemas.openxmlformats.org/officeDocument/2006/relationships" id="260" r:id="R359352d99a254e86"/>
    <p:sldId xmlns:r="http://schemas.openxmlformats.org/officeDocument/2006/relationships" id="261" r:id="Re7b1ba0384bd4823"/>
    <p:sldId xmlns:r="http://schemas.openxmlformats.org/officeDocument/2006/relationships" id="262" r:id="R91cfbea689c04944"/>
    <p:sldId xmlns:r="http://schemas.openxmlformats.org/officeDocument/2006/relationships" id="263" r:id="Rc0b0e4d844594a16"/>
    <p:sldId xmlns:r="http://schemas.openxmlformats.org/officeDocument/2006/relationships" id="264" r:id="R5be8cdb503c04aee"/>
    <p:sldId xmlns:r="http://schemas.openxmlformats.org/officeDocument/2006/relationships" id="265" r:id="R70142ceb16ce466b"/>
    <p:sldId xmlns:r="http://schemas.openxmlformats.org/officeDocument/2006/relationships" id="266" r:id="R2d36c6114c384d23"/>
    <p:sldId xmlns:r="http://schemas.openxmlformats.org/officeDocument/2006/relationships" id="267" r:id="Rbe4746efaea94f3a"/>
    <p:sldId xmlns:r="http://schemas.openxmlformats.org/officeDocument/2006/relationships" id="268" r:id="R18c3180d86ab4c64"/>
    <p:sldId xmlns:r="http://schemas.openxmlformats.org/officeDocument/2006/relationships" id="269" r:id="R3d4f03a1a65d450d"/>
    <p:sldId xmlns:r="http://schemas.openxmlformats.org/officeDocument/2006/relationships" id="270" r:id="Rba4ab94195cb475a"/>
    <p:sldId xmlns:r="http://schemas.openxmlformats.org/officeDocument/2006/relationships" id="271" r:id="R08f3c2ae37d846ad"/>
    <p:sldId xmlns:r="http://schemas.openxmlformats.org/officeDocument/2006/relationships" id="272" r:id="Rb97dcb46c5234c07"/>
    <p:sldId xmlns:r="http://schemas.openxmlformats.org/officeDocument/2006/relationships" id="273" r:id="R9bc3c3206b7245e5"/>
    <p:sldId xmlns:r="http://schemas.openxmlformats.org/officeDocument/2006/relationships" id="274" r:id="Rbae92ddc81ca4f5f"/>
    <p:sldId xmlns:r="http://schemas.openxmlformats.org/officeDocument/2006/relationships" id="275" r:id="R8db0bfd388ff400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d68f3abacd44eab" /><Relationship Type="http://schemas.openxmlformats.org/officeDocument/2006/relationships/slideMaster" Target="/ppt/slideMasters/slideMaster1.xml" Id="R3b1241c1419e47e0" /><Relationship Type="http://schemas.openxmlformats.org/officeDocument/2006/relationships/notesMaster" Target="/ppt/notesMasters/notesMaster1.xml" Id="R541027e56e2a441f" /><Relationship Type="http://schemas.openxmlformats.org/officeDocument/2006/relationships/presProps" Target="/ppt/presProps.xml" Id="Rc7bbd55e68be456d" /><Relationship Type="http://schemas.openxmlformats.org/officeDocument/2006/relationships/tableStyles" Target="/ppt/tableStyles.xml" Id="R1774c22a67804dd4" /><Relationship Type="http://schemas.openxmlformats.org/officeDocument/2006/relationships/slide" Target="/ppt/slides/slide1.xml" Id="R925013c0d7ca42cd" /><Relationship Type="http://schemas.openxmlformats.org/officeDocument/2006/relationships/slide" Target="/ppt/slides/slide2.xml" Id="Rb026d56aa6784fe8" /><Relationship Type="http://schemas.openxmlformats.org/officeDocument/2006/relationships/slide" Target="/ppt/slides/slide3.xml" Id="R176636b33ca6436b" /><Relationship Type="http://schemas.openxmlformats.org/officeDocument/2006/relationships/slide" Target="/ppt/slides/slide4.xml" Id="R224ed413a2a4483a" /><Relationship Type="http://schemas.openxmlformats.org/officeDocument/2006/relationships/slide" Target="/ppt/slides/slide5.xml" Id="R359352d99a254e86" /><Relationship Type="http://schemas.openxmlformats.org/officeDocument/2006/relationships/slide" Target="/ppt/slides/slide6.xml" Id="Re7b1ba0384bd4823" /><Relationship Type="http://schemas.openxmlformats.org/officeDocument/2006/relationships/slide" Target="/ppt/slides/slide7.xml" Id="R91cfbea689c04944" /><Relationship Type="http://schemas.openxmlformats.org/officeDocument/2006/relationships/slide" Target="/ppt/slides/slide8.xml" Id="Rc0b0e4d844594a16" /><Relationship Type="http://schemas.openxmlformats.org/officeDocument/2006/relationships/slide" Target="/ppt/slides/slide9.xml" Id="R5be8cdb503c04aee" /><Relationship Type="http://schemas.openxmlformats.org/officeDocument/2006/relationships/slide" Target="/ppt/slides/slide10.xml" Id="R70142ceb16ce466b" /><Relationship Type="http://schemas.openxmlformats.org/officeDocument/2006/relationships/slide" Target="/ppt/slides/slide11.xml" Id="R2d36c6114c384d23" /><Relationship Type="http://schemas.openxmlformats.org/officeDocument/2006/relationships/slide" Target="/ppt/slides/slide12.xml" Id="Rbe4746efaea94f3a" /><Relationship Type="http://schemas.openxmlformats.org/officeDocument/2006/relationships/slide" Target="/ppt/slides/slide13.xml" Id="R18c3180d86ab4c64" /><Relationship Type="http://schemas.openxmlformats.org/officeDocument/2006/relationships/slide" Target="/ppt/slides/slide14.xml" Id="R3d4f03a1a65d450d" /><Relationship Type="http://schemas.openxmlformats.org/officeDocument/2006/relationships/slide" Target="/ppt/slides/slide15.xml" Id="Rba4ab94195cb475a" /><Relationship Type="http://schemas.openxmlformats.org/officeDocument/2006/relationships/slide" Target="/ppt/slides/slide16.xml" Id="R08f3c2ae37d846ad" /><Relationship Type="http://schemas.openxmlformats.org/officeDocument/2006/relationships/slide" Target="/ppt/slides/slide17.xml" Id="Rb97dcb46c5234c07" /><Relationship Type="http://schemas.openxmlformats.org/officeDocument/2006/relationships/slide" Target="/ppt/slides/slide18.xml" Id="R9bc3c3206b7245e5" /><Relationship Type="http://schemas.openxmlformats.org/officeDocument/2006/relationships/slide" Target="/ppt/slides/slide19.xml" Id="Rbae92ddc81ca4f5f" /><Relationship Type="http://schemas.openxmlformats.org/officeDocument/2006/relationships/slide" Target="/ppt/slides/slide20.xml" Id="R8db0bfd388ff400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b0b91166d74ac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4d52c7a564745b1" /><Relationship Type="http://schemas.openxmlformats.org/officeDocument/2006/relationships/notesMaster" Target="/ppt/notesMasters/notesMaster1.xml" Id="R5258a4df0cc24a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4665c49855419c" /><Relationship Type="http://schemas.openxmlformats.org/officeDocument/2006/relationships/notesMaster" Target="/ppt/notesMasters/notesMaster1.xml" Id="R9fa3441f1015419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94035689fe643ab" /><Relationship Type="http://schemas.openxmlformats.org/officeDocument/2006/relationships/notesMaster" Target="/ppt/notesMasters/notesMaster1.xml" Id="Rd2ac1ce8d06540e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66f08012dd3421f" /><Relationship Type="http://schemas.openxmlformats.org/officeDocument/2006/relationships/notesMaster" Target="/ppt/notesMasters/notesMaster1.xml" Id="R44a0f41624d149b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adb8aee144c4918" /><Relationship Type="http://schemas.openxmlformats.org/officeDocument/2006/relationships/notesMaster" Target="/ppt/notesMasters/notesMaster1.xml" Id="R4c8130f364f04f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6567466db44e4f" /><Relationship Type="http://schemas.openxmlformats.org/officeDocument/2006/relationships/notesMaster" Target="/ppt/notesMasters/notesMaster1.xml" Id="R0317d7d390db404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597985f9174b12" /><Relationship Type="http://schemas.openxmlformats.org/officeDocument/2006/relationships/notesMaster" Target="/ppt/notesMasters/notesMaster1.xml" Id="R031131a6eb8642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daf54a679f43ce" /><Relationship Type="http://schemas.openxmlformats.org/officeDocument/2006/relationships/notesMaster" Target="/ppt/notesMasters/notesMaster1.xml" Id="R9a62ce3284c643b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1f447a1de2e4aec" /><Relationship Type="http://schemas.openxmlformats.org/officeDocument/2006/relationships/notesMaster" Target="/ppt/notesMasters/notesMaster1.xml" Id="Rdc63261aa48b43f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b41ffb663f40a6" /><Relationship Type="http://schemas.openxmlformats.org/officeDocument/2006/relationships/notesMaster" Target="/ppt/notesMasters/notesMaster1.xml" Id="Ra5adae34379a44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b1f04a0cbb94faf" /><Relationship Type="http://schemas.openxmlformats.org/officeDocument/2006/relationships/notesMaster" Target="/ppt/notesMasters/notesMaster1.xml" Id="Rad93ac84b49d4c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e69ed4263854998" /><Relationship Type="http://schemas.openxmlformats.org/officeDocument/2006/relationships/notesMaster" Target="/ppt/notesMasters/notesMaster1.xml" Id="R0a316a0d3bf4465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6612e68b0a74ce9" /><Relationship Type="http://schemas.openxmlformats.org/officeDocument/2006/relationships/notesMaster" Target="/ppt/notesMasters/notesMaster1.xml" Id="R0dc6be47b45c4f7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596007b43ff49b5" /><Relationship Type="http://schemas.openxmlformats.org/officeDocument/2006/relationships/notesMaster" Target="/ppt/notesMasters/notesMaster1.xml" Id="Rd6897a25c4a9478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dda8ae82bc54c7e" /><Relationship Type="http://schemas.openxmlformats.org/officeDocument/2006/relationships/notesMaster" Target="/ppt/notesMasters/notesMaster1.xml" Id="Rc216e611fbd5453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e5acfe738404c0f" /><Relationship Type="http://schemas.openxmlformats.org/officeDocument/2006/relationships/notesMaster" Target="/ppt/notesMasters/notesMaster1.xml" Id="Rb407a3858c3e420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c993ca89fd9483a" /><Relationship Type="http://schemas.openxmlformats.org/officeDocument/2006/relationships/notesMaster" Target="/ppt/notesMasters/notesMaster1.xml" Id="R3faa5a82d26c4ed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3169d5c08c241a6" /><Relationship Type="http://schemas.openxmlformats.org/officeDocument/2006/relationships/notesMaster" Target="/ppt/notesMasters/notesMaster1.xml" Id="R3171f293282d4e6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ded313457f854793" /><Relationship Type="http://schemas.openxmlformats.org/officeDocument/2006/relationships/notesMaster" Target="/ppt/notesMasters/notesMaster1.xml" Id="R292502352a2a44d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2d55c8b9b814905" /><Relationship Type="http://schemas.openxmlformats.org/officeDocument/2006/relationships/notesMaster" Target="/ppt/notesMasters/notesMaster1.xml" Id="Rbaa2bc88fe3c4e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905709ecc74c4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4e85960693498b" /><Relationship Type="http://schemas.openxmlformats.org/officeDocument/2006/relationships/slideLayout" Target="/ppt/slideLayouts/slideLayout1.xml" Id="Rca8c199571a24b6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a8c199571a24b6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f310e1a86343a6" /><Relationship Type="http://schemas.openxmlformats.org/officeDocument/2006/relationships/notesSlide" Target="/ppt/notesSlides/notesSlide1.xml" Id="R0289b6a0578241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14492b133499d" /><Relationship Type="http://schemas.openxmlformats.org/officeDocument/2006/relationships/notesSlide" Target="/ppt/notesSlides/notesSlide2.xml" Id="Rde20ccd29116410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9cab0df924800" /><Relationship Type="http://schemas.openxmlformats.org/officeDocument/2006/relationships/notesSlide" Target="/ppt/notesSlides/notesSlide3.xml" Id="Rea58f90f96c34a2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8c35dd19774ebf" /><Relationship Type="http://schemas.openxmlformats.org/officeDocument/2006/relationships/notesSlide" Target="/ppt/notesSlides/notesSlide4.xml" Id="R86397147066a487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f1e619e204179" /><Relationship Type="http://schemas.openxmlformats.org/officeDocument/2006/relationships/notesSlide" Target="/ppt/notesSlides/notesSlide5.xml" Id="Rb7d83d5ce6a844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f2a64180684ae9" /><Relationship Type="http://schemas.openxmlformats.org/officeDocument/2006/relationships/notesSlide" Target="/ppt/notesSlides/notesSlide6.xml" Id="Rde11b5615f37495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6dd38d7f6045ca" /><Relationship Type="http://schemas.openxmlformats.org/officeDocument/2006/relationships/notesSlide" Target="/ppt/notesSlides/notesSlide7.xml" Id="Rd59a936a9601418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0ea0fe7c3f4367" /><Relationship Type="http://schemas.openxmlformats.org/officeDocument/2006/relationships/notesSlide" Target="/ppt/notesSlides/notesSlide8.xml" Id="R5a902a327302448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0a8abb87ce491b" /><Relationship Type="http://schemas.openxmlformats.org/officeDocument/2006/relationships/notesSlide" Target="/ppt/notesSlides/notesSlide9.xml" Id="R563ef23aa0784ff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4bf0cc9f841f4" /><Relationship Type="http://schemas.openxmlformats.org/officeDocument/2006/relationships/notesSlide" Target="/ppt/notesSlides/notesSlide10.xml" Id="R111bc1daa8c742c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76ae48d5764328" /><Relationship Type="http://schemas.openxmlformats.org/officeDocument/2006/relationships/notesSlide" Target="/ppt/notesSlides/notesSlide11.xml" Id="R8b0a8e4a192a4ae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83ed03436748d8" /><Relationship Type="http://schemas.openxmlformats.org/officeDocument/2006/relationships/notesSlide" Target="/ppt/notesSlides/notesSlide12.xml" Id="Red4d278017f2490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6bc5a397964311" /><Relationship Type="http://schemas.openxmlformats.org/officeDocument/2006/relationships/notesSlide" Target="/ppt/notesSlides/notesSlide13.xml" Id="R9e8ee5fffacd4e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0d680f1f64211" /><Relationship Type="http://schemas.openxmlformats.org/officeDocument/2006/relationships/notesSlide" Target="/ppt/notesSlides/notesSlide14.xml" Id="R3127b411146642b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aff720a3ff4fc2" /><Relationship Type="http://schemas.openxmlformats.org/officeDocument/2006/relationships/notesSlide" Target="/ppt/notesSlides/notesSlide15.xml" Id="R7e219186011041f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a039a992054296" /><Relationship Type="http://schemas.openxmlformats.org/officeDocument/2006/relationships/notesSlide" Target="/ppt/notesSlides/notesSlide16.xml" Id="Radc11325957e413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f6cba53e34caf" /><Relationship Type="http://schemas.openxmlformats.org/officeDocument/2006/relationships/notesSlide" Target="/ppt/notesSlides/notesSlide17.xml" Id="R1404cbdb51b9486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30542d5f3493b" /><Relationship Type="http://schemas.openxmlformats.org/officeDocument/2006/relationships/notesSlide" Target="/ppt/notesSlides/notesSlide18.xml" Id="R5cae365552cc49e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11939fb8c4671" /><Relationship Type="http://schemas.openxmlformats.org/officeDocument/2006/relationships/notesSlide" Target="/ppt/notesSlides/notesSlide19.xml" Id="R1aab7d852131495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75099d3f1420f" /><Relationship Type="http://schemas.openxmlformats.org/officeDocument/2006/relationships/notesSlide" Target="/ppt/notesSlides/notesSlide20.xml" Id="R7cd96cc1032847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B7843C-172F-4666-A551-736D555A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">
            <a:extLst xmlns:a="http://schemas.openxmlformats.org/drawingml/2006/main">
              <a:ext uri="{FF2B5EF4-FFF2-40B4-BE49-F238E27FC236}">
                <a16:creationId xmlns:a16="http://schemas.microsoft.com/office/drawing/2014/main" id="{5F43CB8A-5BC7-458A-951F-F735E1FD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封面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FA067D-48A2-4971-8BEA-53E4D33E8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1">
            <a:extLst xmlns:a="http://schemas.openxmlformats.org/drawingml/2006/main">
              <a:ext uri="{FF2B5EF4-FFF2-40B4-BE49-F238E27FC236}">
                <a16:creationId xmlns:a16="http://schemas.microsoft.com/office/drawing/2014/main" id="{FE76EC04-21CF-4423-AE8F-D27F503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咳血合併肺部腫塊｜可編輯 M&amp;M 簡報</a:t>
            </a:r>
          </a:p>
        </p:txBody>
      </p:sp>
      <p:sp>
        <p:nvSpPr>
          <p:cNvPr id="5" name="page-1">
            <a:extLst xmlns:a="http://schemas.openxmlformats.org/drawingml/2006/main">
              <a:ext uri="{FF2B5EF4-FFF2-40B4-BE49-F238E27FC236}">
                <a16:creationId xmlns:a16="http://schemas.microsoft.com/office/drawing/2014/main" id="{8A0D1146-03EB-4613-9526-5E80CE77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B2A65E-DD2C-4BA8-A026-A8DB93247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072B5"/>
                </a:solidFill>
              </a:defRPr>
            </a:pPr>
            <a:r>
              <a:rPr sz="1050" b="1">
                <a:solidFill>
                  <a:srgbClr val="0072B5"/>
                </a:solidFill>
              </a:rPr>
              <a:t>M&amp;M 臨床回顧</a:t>
            </a:r>
          </a:p>
        </p:txBody>
      </p:sp>
      <p:sp>
        <p:nvSpPr>
          <p:cNvPr id="7" name="deck-title">
            <a:extLst xmlns:a="http://schemas.openxmlformats.org/drawingml/2006/main">
              <a:ext uri="{FF2B5EF4-FFF2-40B4-BE49-F238E27FC236}">
                <a16:creationId xmlns:a16="http://schemas.microsoft.com/office/drawing/2014/main" id="{D6C78110-DA8E-4444-B43B-D76F51C7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7429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200" b="1">
                <a:solidFill>
                  <a:srgbClr val="202124"/>
                </a:solidFill>
              </a:defRPr>
            </a:pPr>
            <a:r>
              <a:rPr sz="4200" b="1">
                <a:solidFill>
                  <a:srgbClr val="202124"/>
                </a:solidFill>
              </a:rPr>
              <a:t>咳血合併肺部腫塊</a:t>
            </a:r>
          </a:p>
        </p:txBody>
      </p:sp>
      <p:sp>
        <p:nvSpPr>
          <p:cNvPr id="8" name="deck-subtitle">
            <a:extLst xmlns:a="http://schemas.openxmlformats.org/drawingml/2006/main">
              <a:ext uri="{FF2B5EF4-FFF2-40B4-BE49-F238E27FC236}">
                <a16:creationId xmlns:a16="http://schemas.microsoft.com/office/drawing/2014/main" id="{AF1B2BDC-37FC-4A07-AAD3-0541F35C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0515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F6368"/>
                </a:solidFill>
              </a:defRPr>
            </a:pPr>
            <a:r>
              <a:rPr sz="1875" b="0">
                <a:solidFill>
                  <a:srgbClr val="5F6368"/>
                </a:solidFill>
              </a:rPr>
              <a:t>止血成功，不等於診斷完成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1CF708-5F61-42AC-856E-71A13EC7F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3825"/>
            <a:ext cx="4572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358906-ED80-4B89-B06E-886DE039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72B5"/>
                </a:solidFill>
              </a:defRPr>
            </a:pPr>
            <a:r>
              <a:rPr sz="1350" b="1">
                <a:solidFill>
                  <a:srgbClr val="0072B5"/>
                </a:solidFill>
              </a:rPr>
              <a:t>嚴重度  •  定位  •  止血  •  病因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238F38-7D45-4C07-A9AE-D5A080FB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524000"/>
            <a:ext cx="2095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1556D0-ACF8-4734-BD5F-4ED506CE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95262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E0D497-1E00-4A07-AFA8-28F918B1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19325"/>
            <a:ext cx="10668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950A6-E0E3-4B3B-884C-20324286C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193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B0A362-7746-417A-9DA7-08F4A4B3E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86075"/>
            <a:ext cx="952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751D28-3E3E-41D2-88C7-2C15BBB9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8612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6ABB59-7921-455D-8911-7A5EF512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52825"/>
            <a:ext cx="838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1C0F14-AE76-40A8-8598-267BE873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52875"/>
            <a:ext cx="1524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2603153-431E-4B51-A099-562A815B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19575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6FFC66-4EA7-4CF8-BEC2-E43AE4EF7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33400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可編輯雙語版本</a:t>
            </a:r>
          </a:p>
          <a:p xmlns:a="http://schemas.openxmlformats.org/drawingml/2006/main">
            <a:pPr algn="ctr">
              <a:defRPr sz="1200" b="1">
                <a:solidFill>
                  <a:srgbClr val="5F6368"/>
                </a:solidFill>
              </a:defRPr>
            </a:pPr>
            <a:r>
              <a:rPr sz="1200" b="1">
                <a:solidFill>
                  <a:srgbClr val="5F6368"/>
                </a:solidFill>
              </a:rPr>
              <a:t>NEJM 衍生配色</a:t>
            </a:r>
          </a:p>
        </p:txBody>
      </p:sp>
    </p:spTree>
    <p:extLst>
      <p:ext uri="{BB962C8B-B14F-4D97-AF65-F5344CB8AC3E}">
        <p14:creationId xmlns:p14="http://schemas.microsoft.com/office/powerpoint/2010/main" val="8918809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01CBEF-BD31-410C-8748-61CE05B2E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2">
            <a:extLst xmlns:a="http://schemas.openxmlformats.org/drawingml/2006/main">
              <a:ext uri="{FF2B5EF4-FFF2-40B4-BE49-F238E27FC236}">
                <a16:creationId xmlns:a16="http://schemas.microsoft.com/office/drawing/2014/main" id="{D2D61D78-583A-4B23-B71E-1D9EF261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臨床架構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F37112CE-C790-458E-A4C4-03D9B6CC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四個問題都不能提前結案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C06E3A-3E86-416E-8B03-878E983FD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E0300D-BEE2-4870-904A-0D1A29F0F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2">
            <a:extLst xmlns:a="http://schemas.openxmlformats.org/drawingml/2006/main">
              <a:ext uri="{FF2B5EF4-FFF2-40B4-BE49-F238E27FC236}">
                <a16:creationId xmlns:a16="http://schemas.microsoft.com/office/drawing/2014/main" id="{5561A81A-F77D-4119-A3D3-A528E1108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Expanded review synthesis; AAFP 2022; CIRSE 2022.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3EEA0AE2-15F5-4390-89BE-BA259CB5D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6AF7B2-CE35-4710-B187-B143CFF17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AD95B9-78D9-4FBB-BF88-C317AA8D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777AAE-1D05-4B9F-896C-8B28D508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581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嚴重度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DCC978-17FA-476B-B20B-ECA7F4FE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5621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病人是否正面臨呼吸道阻塞、氣體交換失敗或血流動力崩解？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0BA174-A5F3-482A-8B84-AE955314D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66950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F8CFE4-2998-4CC4-9F63-36F9E6FD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033A2C-257F-4237-A1DB-1004DC18D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8D1C90-432C-40DE-B435-BB8E6F9C0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860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F99AD"/>
                </a:solidFill>
              </a:defRPr>
            </a:pPr>
            <a:r>
              <a:rPr sz="1800" b="1">
                <a:solidFill>
                  <a:srgbClr val="6F99AD"/>
                </a:solidFill>
              </a:rPr>
              <a:t>定位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E35F84-DD09-4F29-8D21-89D5ACFB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26670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出血來自哪一側、哪個肺葉、哪個病灶與哪個血管床？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7E70FF8-F4C4-4FEF-9059-2F74FBA9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0E0A13-F3AE-4D16-B1BC-19AA225F7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3E4C8A-9BBE-4A9F-9721-197D3E8E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F0CADE-80AA-4928-B7A1-E5F76636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909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止血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5E3154-EEA2-4633-8E40-035F3DD3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7719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現在應以支氣管鏡、栓塞、手術或組合策略控制出血？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D2433F-852F-4D1F-A50F-843595BE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381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365EEC-9859-4152-8015-B8108BEB0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95850"/>
            <a:ext cx="647700" cy="647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1ECA17-8017-4469-8E9D-6E1F77C0C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647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</a:defRPr>
            </a:pPr>
            <a:r>
              <a:rPr sz="2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A630B0-7221-4698-AE5B-21A6C619C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958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病因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7EAB47-E3F8-4AF3-91CC-04FCEBC5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48768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是哪個基礎疾病造成腫塊、空洞或異常血管迴路？</a:t>
            </a:r>
          </a:p>
        </p:txBody>
      </p:sp>
    </p:spTree>
    <p:extLst>
      <p:ext uri="{BB962C8B-B14F-4D97-AF65-F5344CB8AC3E}">
        <p14:creationId xmlns:p14="http://schemas.microsoft.com/office/powerpoint/2010/main" val="9521833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2DEB87-237B-4C2D-846E-481A3960E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3">
            <a:extLst xmlns:a="http://schemas.openxmlformats.org/drawingml/2006/main">
              <a:ext uri="{FF2B5EF4-FFF2-40B4-BE49-F238E27FC236}">
                <a16:creationId xmlns:a16="http://schemas.microsoft.com/office/drawing/2014/main" id="{FDF37D8A-ABF2-4BB8-B7E0-23C207EB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病例摘要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448C5B47-33B4-4232-B77C-9426B3EC0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先定義病人，再定義病灶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9EF2AF-677E-412A-869B-735536D3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1AFFCA-CD02-4342-B0D2-F1FEB9B33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3">
            <a:extLst xmlns:a="http://schemas.openxmlformats.org/drawingml/2006/main">
              <a:ext uri="{FF2B5EF4-FFF2-40B4-BE49-F238E27FC236}">
                <a16:creationId xmlns:a16="http://schemas.microsoft.com/office/drawing/2014/main" id="{0B72441C-ED6F-46DC-821C-5864D42E1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咳血合併肺部腫塊｜可編輯 M&amp;M 簡報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5682E844-18B0-4C99-8440-19722E7A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211F16-87C3-4D97-9B62-04D0412A0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38275"/>
            <a:ext cx="2381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FA0262-AF9C-4C38-A14C-B8AC44F94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859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請以實際病歷資料替換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434E0-EF5B-432E-923B-A420C7E00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年齡／性別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23DF21-CDE4-452F-9FAA-B85A089D1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31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5D44A6-D8AC-4A5D-9085-4B158540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</a:defRPr>
            </a:pPr>
            <a:r>
              <a:rPr sz="1725" b="0">
                <a:solidFill>
                  <a:srgbClr val="5F6368"/>
                </a:solidFill>
              </a:rPr>
              <a:t>[年齡／性別]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9EE0D0-8E0F-4161-A06A-274EC24D1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重要病史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001870-B44D-4F0F-9759-ABE88578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431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A844A5-74A6-41A6-8E88-794915EAB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7645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</a:defRPr>
            </a:pPr>
            <a:r>
              <a:rPr sz="1725" b="0">
                <a:solidFill>
                  <a:srgbClr val="5F6368"/>
                </a:solidFill>
              </a:rPr>
              <a:t>[吸菸 • 感染 • 癌症 • 抗凝治療]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4029BF-2AB6-49A4-A340-72E63D1A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主訴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B41DB9-F798-405C-94B2-6D119D6D3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96EA60-B9A8-4877-8B67-61AA9E24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4805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</a:defRPr>
            </a:pPr>
            <a:r>
              <a:rPr sz="1725" b="0">
                <a:solidFill>
                  <a:srgbClr val="5F6368"/>
                </a:solidFill>
              </a:rPr>
              <a:t>[型態 • 時間 • 出血量 • 變化]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9D51CB-E0BA-4BC2-B718-8DFE333A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生理狀態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A6C873-723E-407E-8BAC-2C58D416B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147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755514-735D-40B8-AC2B-5BCCE3FC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44805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</a:defRPr>
            </a:pPr>
            <a:r>
              <a:rPr sz="1725" b="0">
                <a:solidFill>
                  <a:srgbClr val="5F6368"/>
                </a:solidFill>
              </a:rPr>
              <a:t>[呼吸道 • 氧氣 • 血壓 • Hb]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15C62D-4AA5-49FF-9AD9-0A58592E4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24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影像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D81CB5-5836-4E10-854B-E510DA76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863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8BD55C-D34A-4B4D-A68C-C1D16B91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1965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</a:defRPr>
            </a:pPr>
            <a:r>
              <a:rPr sz="1725" b="0">
                <a:solidFill>
                  <a:srgbClr val="5F6368"/>
                </a:solidFill>
              </a:rPr>
              <a:t>[腫塊／空洞 • 淋巴結 • 出血 • 血管]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7C828B-C6FE-4DC0-8425-0BD97536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624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目前診斷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05F44F-C524-4BB9-845E-BE79D5F78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86300"/>
            <a:ext cx="51625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D8E1E9-E189-4E71-A10A-616898B9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819650"/>
            <a:ext cx="4876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F6368"/>
                </a:solidFill>
              </a:defRPr>
            </a:pPr>
            <a:r>
              <a:rPr sz="1725" b="0">
                <a:solidFill>
                  <a:srgbClr val="5F6368"/>
                </a:solidFill>
              </a:rPr>
              <a:t>[惡性 • 良性 • 仍未確診]</a:t>
            </a:r>
          </a:p>
        </p:txBody>
      </p:sp>
    </p:spTree>
    <p:extLst>
      <p:ext uri="{BB962C8B-B14F-4D97-AF65-F5344CB8AC3E}">
        <p14:creationId xmlns:p14="http://schemas.microsoft.com/office/powerpoint/2010/main" val="264432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CE9197-C193-4D56-A2F6-3E8BDA2C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4">
            <a:extLst xmlns:a="http://schemas.openxmlformats.org/drawingml/2006/main">
              <a:ext uri="{FF2B5EF4-FFF2-40B4-BE49-F238E27FC236}">
                <a16:creationId xmlns:a16="http://schemas.microsoft.com/office/drawing/2014/main" id="{AC09700F-F5A0-4746-8071-B2AC87755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病例時間軸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DF3A7D91-CF43-44EB-BDF8-7447C2AB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呈現不確定性在哪裡累積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AC7D7-C3B8-4767-A555-AAEE54943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CBFE9C-4F2B-4460-9591-8135192FC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4">
            <a:extLst xmlns:a="http://schemas.openxmlformats.org/drawingml/2006/main">
              <a:ext uri="{FF2B5EF4-FFF2-40B4-BE49-F238E27FC236}">
                <a16:creationId xmlns:a16="http://schemas.microsoft.com/office/drawing/2014/main" id="{604CF542-46A7-4742-A6B5-1D22B1AC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咳血合併肺部腫塊｜可編輯 M&amp;M 簡報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DE533DB0-18C0-490F-86D3-789AA440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BD1CE-3380-49BB-9C7B-0C60851E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38275"/>
            <a:ext cx="2381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286198-38B7-4C88-BDD4-FC9CB361C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85900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請以實際病歷資料替換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46B45F-1A46-4263-B267-B3D34B38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52800"/>
            <a:ext cx="9525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073330-D6C0-4710-A8E8-917F20572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05568-8368-4F76-AD10-2D1E3BA3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16B1E0-F28D-4BE8-90E8-0AE91A0CC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初次表現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D51ECF-C75F-44C4-B04C-B7E280999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577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[出血生理狀態]</a:t>
            </a:r>
          </a:p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[CT 腫塊／空洞]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44ED22-64B6-45C5-9550-4DEE4527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3812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8B9298"/>
                </a:solidFill>
              </a:defRPr>
            </a:pPr>
            <a:r>
              <a:rPr sz="1350" b="0">
                <a:solidFill>
                  <a:srgbClr val="8B9298"/>
                </a:solidFill>
              </a:rPr>
              <a:t>已知？</a:t>
            </a:r>
          </a:p>
          <a:p xmlns:a="http://schemas.openxmlformats.org/drawingml/2006/main">
            <a:pPr algn="ctr">
              <a:defRPr sz="1350" b="0">
                <a:solidFill>
                  <a:srgbClr val="8B9298"/>
                </a:solidFill>
              </a:defRPr>
            </a:pPr>
            <a:r>
              <a:rPr sz="1350" b="0">
                <a:solidFill>
                  <a:srgbClr val="8B9298"/>
                </a:solidFill>
              </a:rPr>
              <a:t>仍未知？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916674-9920-496B-B5D2-3C73785C9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74746-8324-4DA4-9B8B-06E08A7EA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4B05BF-932B-4B44-B777-5BED5FCC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90525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F99AD"/>
                </a:solidFill>
              </a:defRPr>
            </a:pPr>
            <a:r>
              <a:rPr sz="1800" b="1">
                <a:solidFill>
                  <a:srgbClr val="6F99AD"/>
                </a:solidFill>
              </a:rPr>
              <a:t>第一次採樣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044FC-DED1-43D3-8087-D05178908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4577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[標的＋路徑]</a:t>
            </a:r>
          </a:p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[病理原文]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D090EB-31D2-4C2D-981E-7E07FDF5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3812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8B9298"/>
                </a:solidFill>
              </a:defRPr>
            </a:pPr>
            <a:r>
              <a:rPr sz="1350" b="0">
                <a:solidFill>
                  <a:srgbClr val="8B9298"/>
                </a:solidFill>
              </a:rPr>
              <a:t>已知？</a:t>
            </a:r>
          </a:p>
          <a:p xmlns:a="http://schemas.openxmlformats.org/drawingml/2006/main">
            <a:pPr algn="ctr">
              <a:defRPr sz="1350" b="0">
                <a:solidFill>
                  <a:srgbClr val="8B9298"/>
                </a:solidFill>
              </a:defRPr>
            </a:pPr>
            <a:r>
              <a:rPr sz="1350" b="0">
                <a:solidFill>
                  <a:srgbClr val="8B9298"/>
                </a:solidFill>
              </a:rPr>
              <a:t>仍未知？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4A5350-D102-4493-99E9-47DA6933F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E0BE8E-5D40-43D0-997A-8F100EA72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35F3CE6-F98B-4820-9BCF-503F4BA9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0525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復發／CTA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F24CB4-189A-4FB0-8B45-10C912FAB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577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[影像變化]</a:t>
            </a:r>
          </a:p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[血管地圖]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60D0DA6-63C2-4287-9669-BF01D624E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812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8B9298"/>
                </a:solidFill>
              </a:defRPr>
            </a:pPr>
            <a:r>
              <a:rPr sz="1350" b="0">
                <a:solidFill>
                  <a:srgbClr val="8B9298"/>
                </a:solidFill>
              </a:rPr>
              <a:t>已知？</a:t>
            </a:r>
          </a:p>
          <a:p xmlns:a="http://schemas.openxmlformats.org/drawingml/2006/main">
            <a:pPr algn="ctr">
              <a:defRPr sz="1350" b="0">
                <a:solidFill>
                  <a:srgbClr val="8B9298"/>
                </a:solidFill>
              </a:defRPr>
            </a:pPr>
            <a:r>
              <a:rPr sz="1350" b="0">
                <a:solidFill>
                  <a:srgbClr val="8B9298"/>
                </a:solidFill>
              </a:rPr>
              <a:t>仍未知？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419160-293A-4298-961E-E2F7BDA0B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04800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E066DA-63D0-475C-BCAF-E602E2B0F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1813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098A25-AA7B-40F9-A4AA-E46F1AF2A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905250"/>
            <a:ext cx="219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BAE／BAE 後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EB1E325-EA18-4C11-A933-8BD0D9C5B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57700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[技術結果]</a:t>
            </a:r>
          </a:p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[下一步組織計畫]</a:t>
            </a:r>
          </a:p>
        </p:txBody>
      </p:sp>
    </p:spTree>
    <p:extLst>
      <p:ext uri="{BB962C8B-B14F-4D97-AF65-F5344CB8AC3E}">
        <p14:creationId xmlns:p14="http://schemas.microsoft.com/office/powerpoint/2010/main" val="202007334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BF94BD3-87CF-482A-AAAB-FB8CB8CC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5">
            <a:extLst xmlns:a="http://schemas.openxmlformats.org/drawingml/2006/main">
              <a:ext uri="{FF2B5EF4-FFF2-40B4-BE49-F238E27FC236}">
                <a16:creationId xmlns:a16="http://schemas.microsoft.com/office/drawing/2014/main" id="{8661FE35-CF7C-4392-8FB9-54BB02DC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功能性嚴重度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7ED508B3-FD6E-49E1-BB76-160D9E17C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嚴重度看生理，不只看出血量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3E2B0D-32EA-4557-9FE7-BAB332E70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2B917E-A8A4-46BA-A067-8B21A60A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5">
            <a:extLst xmlns:a="http://schemas.openxmlformats.org/drawingml/2006/main">
              <a:ext uri="{FF2B5EF4-FFF2-40B4-BE49-F238E27FC236}">
                <a16:creationId xmlns:a16="http://schemas.microsoft.com/office/drawing/2014/main" id="{B81C89E3-E7AA-4D72-96DB-760D85CDB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O'Gurek &amp; Choi, Am Fam Physician. 2022;105:144-151.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4870E0CA-AA84-4588-A230-28979C18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ED057-3273-4EB0-8CCE-6B52F513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B3EFF7-EDFC-4FCA-B740-D5D4DFB13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90675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C3C29"/>
                </a:solidFill>
              </a:defRPr>
            </a:pPr>
            <a:r>
              <a:rPr sz="1875" b="1">
                <a:solidFill>
                  <a:srgbClr val="BC3C29"/>
                </a:solidFill>
              </a:rPr>
              <a:t>呼吸道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488CB1-AF73-43F1-8FC9-46B4A7EE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58115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無法清除血塊、聲音改變、單側大量灌血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471AB-DCB1-40FA-977D-E89FBCE2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89C2ED-0CC7-44F9-BEA1-6FECD02F4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E18727"/>
                </a:solidFill>
              </a:defRPr>
            </a:pPr>
            <a:r>
              <a:rPr sz="1875" b="1">
                <a:solidFill>
                  <a:srgbClr val="E18727"/>
                </a:solidFill>
              </a:rPr>
              <a:t>氣體交換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B8F786-63EF-4492-A172-DA0E7040F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447925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呼吸功增加、SpO2 下降、支持需求快速上升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6B690B-F1F7-444F-93FC-81BA13CC9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449CB58-7B4A-4DAF-BC5E-C413FC65E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24225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7876B1"/>
                </a:solidFill>
              </a:defRPr>
            </a:pPr>
            <a:r>
              <a:rPr sz="1875" b="1">
                <a:solidFill>
                  <a:srgbClr val="7876B1"/>
                </a:solidFill>
              </a:rPr>
              <a:t>血流動力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631B3F-129B-42BD-9002-97545F32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1470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低血壓、Hb 下降、需要輸血或升壓劑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705DA3-2E81-4752-BCFA-4ED46B6C6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A1C615-9FF5-43E9-9887-07C22279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191000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72B5"/>
                </a:solidFill>
              </a:defRPr>
            </a:pPr>
            <a:r>
              <a:rPr sz="1875" b="1">
                <a:solidFill>
                  <a:srgbClr val="0072B5"/>
                </a:solidFill>
              </a:rPr>
              <a:t>變化趨勢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C0FD2C-A11F-45B2-8551-02CDB4144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81475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反覆、加速或持續活動性出血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7DE12A-5E41-4D3D-9C69-9E62CB7E8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29200"/>
            <a:ext cx="1714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900EC5-CC11-4AFA-9742-7D6375A7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57775"/>
            <a:ext cx="2047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0854E"/>
                </a:solidFill>
              </a:defRPr>
            </a:pPr>
            <a:r>
              <a:rPr sz="1875" b="1">
                <a:solidFill>
                  <a:srgbClr val="20854E"/>
                </a:solidFill>
              </a:rPr>
              <a:t>心肺儲備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81D9FA7-5E87-4E80-BBB9-2C9273A1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048250"/>
            <a:ext cx="781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02124"/>
                </a:solidFill>
              </a:defRPr>
            </a:pPr>
            <a:r>
              <a:rPr sz="1800" b="0">
                <a:solidFill>
                  <a:srgbClr val="202124"/>
                </a:solidFill>
              </a:rPr>
              <a:t>COPD、肺切除、心臟病、抗凝治療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F652BF-6B3E-4E1D-BBEE-194F4B5B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867400"/>
            <a:ext cx="733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BC3C29"/>
                </a:solidFill>
              </a:defRPr>
            </a:pPr>
            <a:r>
              <a:rPr sz="1950" b="1">
                <a:solidFill>
                  <a:srgbClr val="BC3C29"/>
                </a:solidFill>
              </a:rPr>
              <a:t>最直接的威脅通常是窒息。</a:t>
            </a:r>
          </a:p>
        </p:txBody>
      </p:sp>
    </p:spTree>
    <p:extLst>
      <p:ext uri="{BB962C8B-B14F-4D97-AF65-F5344CB8AC3E}">
        <p14:creationId xmlns:p14="http://schemas.microsoft.com/office/powerpoint/2010/main" val="1495272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BF69E-2021-4034-A157-BF53659DF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6">
            <a:extLst xmlns:a="http://schemas.openxmlformats.org/drawingml/2006/main">
              <a:ext uri="{FF2B5EF4-FFF2-40B4-BE49-F238E27FC236}">
                <a16:creationId xmlns:a16="http://schemas.microsoft.com/office/drawing/2014/main" id="{E486E41E-6D41-4348-9E8B-3B333AF6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立即處置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57453440-0D5C-4B19-8DC1-1E0515FA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先保護呼吸道，再用 CTA 規劃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1B9B45-1F87-431F-A0AE-5C5F8993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84B9C-2A72-4686-81E8-CAD2E6D9C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6">
            <a:extLst xmlns:a="http://schemas.openxmlformats.org/drawingml/2006/main">
              <a:ext uri="{FF2B5EF4-FFF2-40B4-BE49-F238E27FC236}">
                <a16:creationId xmlns:a16="http://schemas.microsoft.com/office/drawing/2014/main" id="{B7FE0A7B-ABD4-4D78-AC89-77ED066F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Sources: AAFP 2022; ACR Appropriateness Criteria Hemoptysis; CIRSE 2022.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171D232D-08C6-45A9-93E8-3B9768A72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2D7DE-3F71-4105-93D2-CF8D07C7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952625"/>
            <a:ext cx="10287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0C04D6-1881-4DCF-809D-C47445259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28950"/>
            <a:ext cx="1333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AB95F0-8F6D-4D13-B698-1D5E7469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028950"/>
            <a:ext cx="13335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BFA643-5396-4E64-8443-2FF67AB40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504950"/>
            <a:ext cx="44196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5F7F8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7CF898-6BE9-467E-AAC4-4CFBD3A73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19250"/>
            <a:ext cx="381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咳血合併生理威脅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2EE1D1-8FF3-4074-8316-E56D1CFED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75ACCD-18D7-487B-98F4-DE3260409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C0EAD4-9FF8-44CE-BC52-D0D6F87C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86100"/>
            <a:ext cx="426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不穩定／呼吸道受威脅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AD2256-22B9-40E5-99D0-BEE5570F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86100"/>
            <a:ext cx="426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可穩定完成血管定位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08E0C8-46AB-47ED-888D-1E453AFC4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38550"/>
            <a:ext cx="39243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1. 出血側朝下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2. 建立／隔離呼吸道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3. 支氣管鏡清血塊並定位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4. 可行時接續 CTA／血管攝影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17014D-E22C-48BF-92A5-18C6488AC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38550"/>
            <a:ext cx="39243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1. 對比 CT／CTA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2. 定義病灶與出血區域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3. 建立三個血管床地圖</a:t>
            </a:r>
          </a:p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4. 選擇內視鏡、血管內或手術路徑</a:t>
            </a:r>
          </a:p>
        </p:txBody>
      </p:sp>
    </p:spTree>
    <p:extLst>
      <p:ext uri="{BB962C8B-B14F-4D97-AF65-F5344CB8AC3E}">
        <p14:creationId xmlns:p14="http://schemas.microsoft.com/office/powerpoint/2010/main" val="2394313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509FA6-BEEA-48FD-A55E-59E686AC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7">
            <a:extLst xmlns:a="http://schemas.openxmlformats.org/drawingml/2006/main">
              <a:ext uri="{FF2B5EF4-FFF2-40B4-BE49-F238E27FC236}">
                <a16:creationId xmlns:a16="http://schemas.microsoft.com/office/drawing/2014/main" id="{4FD1C9AC-FB3A-4BF7-BBD1-9F4C8F94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機轉式鑑別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4B48B062-C6D9-445E-BEDB-D7E98EFE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肺部腫塊合併咳血：先想機轉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622775-FA50-4E42-9340-B69DE50F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944E7-F25F-42AF-A925-DD0290EF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7">
            <a:extLst xmlns:a="http://schemas.openxmlformats.org/drawingml/2006/main">
              <a:ext uri="{FF2B5EF4-FFF2-40B4-BE49-F238E27FC236}">
                <a16:creationId xmlns:a16="http://schemas.microsoft.com/office/drawing/2014/main" id="{05113629-880F-4B56-B3F2-CC1F1583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Expanded review synthesis; AAFP 2022 differential framework.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71DA2695-323C-4F0A-B407-324B0150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6D772-3FC3-42C8-9B23-2DA49C13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715154-57CB-4B9E-9769-E022CCB33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EA404-620C-4EB6-8444-63D59CCE5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惡性腫瘤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2DEE87-D363-4DC0-872D-727A0A04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腫塊 • 壞死 • 淋巴結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新生血管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侵犯呼吸道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侵蝕動脈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需要惡性組織診斷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E56180-BF24-41A2-B1CC-F7E32D920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85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6FE9DB-D04E-472C-BDA9-72BDE7C5A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DAF08B-51CA-43C8-BAC9-DE8611BD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854E"/>
                </a:solidFill>
              </a:defRPr>
            </a:pPr>
            <a:r>
              <a:rPr sz="1650" b="1">
                <a:solidFill>
                  <a:srgbClr val="20854E"/>
                </a:solidFill>
              </a:rPr>
              <a:t>感染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29DD3-9AE8-4FC8-A20B-BE5EE1532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TB • NTM • 黴菌 • 膿瘍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空洞侵蝕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側枝循環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假性動脈瘤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需要組織＋培養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078B53-844D-48D0-9C34-7C36C749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876B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8E6955-446E-4361-9F2F-BB29FA92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B7AAFD-015F-4B5E-9369-BF1117B0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876B1"/>
                </a:solidFill>
              </a:defRPr>
            </a:pPr>
            <a:r>
              <a:rPr sz="1650" b="1">
                <a:solidFill>
                  <a:srgbClr val="7876B1"/>
                </a:solidFill>
              </a:rPr>
              <a:t>發炎性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186B3F-8461-400B-BEC5-124CCE8A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血管炎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器質化肺炎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發炎性腫塊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微血管炎／血管損傷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非特異發炎不足以結案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BD62AC-A8F0-4393-9377-B26292478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600200"/>
            <a:ext cx="2600325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C44497C-37A5-4E8A-86CD-22A8E8BE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1600200"/>
            <a:ext cx="2600325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3BE1B8-14DF-4AD0-8297-0593D5E2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866900"/>
            <a:ext cx="22574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C3C29"/>
                </a:solidFill>
              </a:defRPr>
            </a:pPr>
            <a:r>
              <a:rPr sz="1650" b="1">
                <a:solidFill>
                  <a:srgbClr val="BC3C29"/>
                </a:solidFill>
              </a:rPr>
              <a:t>血管性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4C1586-4A38-4A7B-A707-144CA7A05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2476500"/>
            <a:ext cx="2257425" cy="2619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動脈瘤 • AVM • 瘻管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高壓流入</a:t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脆弱血管迴路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可解釋咳血，未必解釋腫塊</a:t>
            </a:r>
          </a:p>
        </p:txBody>
      </p:sp>
    </p:spTree>
    <p:extLst>
      <p:ext uri="{BB962C8B-B14F-4D97-AF65-F5344CB8AC3E}">
        <p14:creationId xmlns:p14="http://schemas.microsoft.com/office/powerpoint/2010/main" val="112546574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BB5B1B5-D819-49C9-AEDD-A55AEC62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8">
            <a:extLst xmlns:a="http://schemas.openxmlformats.org/drawingml/2006/main">
              <a:ext uri="{FF2B5EF4-FFF2-40B4-BE49-F238E27FC236}">
                <a16:creationId xmlns:a16="http://schemas.microsoft.com/office/drawing/2014/main" id="{91B972BE-2A95-482D-9CB2-9B0E0B51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工具分工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C7513313-E924-467A-832F-D6D61F5E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每項檢查回答不同問題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054454-7B25-43C2-BC0E-0096D0DCC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319942-00A5-45BC-8A3A-F358DFF8E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8">
            <a:extLst xmlns:a="http://schemas.openxmlformats.org/drawingml/2006/main">
              <a:ext uri="{FF2B5EF4-FFF2-40B4-BE49-F238E27FC236}">
                <a16:creationId xmlns:a16="http://schemas.microsoft.com/office/drawing/2014/main" id="{3BC8F678-E1F2-4934-A480-C54CEEDA5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Sources: AAFP 2022; ACR; CIRSE 2022.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9C75B1BA-B801-4075-87C3-21B0824AA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4D6352-9849-4ADA-8A74-657D352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81150"/>
            <a:ext cx="2266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0A7743-5059-46B4-A794-81B4BD10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66875"/>
            <a:ext cx="2038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工具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DAF48B-B2E9-4DFD-930F-1DF2D0D28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581150"/>
            <a:ext cx="4076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85E8B-4309-4FEF-BD73-B8C65B69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666875"/>
            <a:ext cx="3848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最擅長回答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B94FBE-0ADC-43E8-84A0-AA2C960DF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581150"/>
            <a:ext cx="4171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A97BD4-A3FE-446C-8C63-7D670E7F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66875"/>
            <a:ext cx="3943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無法單獨回答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9F1CAF-1661-4495-A5C7-4A5D01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F9FF04-9FDC-407C-9F65-056C1343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526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對比 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1A8274-B3A8-4F7B-8054-B533D8AF5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2D14C-31FF-4F6E-B7BA-387751B19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1526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腫塊、空洞、肺實質與淋巴結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60A996-7BD8-44B1-A8D3-3F3B44E6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3835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9A85FD-A030-4AA4-9AF0-967E92902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1526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完整動脈地圖／呼吸道控制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9C8A81-D845-41ED-8608-260A160F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3370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FE8381-44AB-4EB2-8E4E-EF1B4C85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480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CTA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54F707-901A-4693-8871-A70974B8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93370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C589C5-C674-4467-B165-543EE655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480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出血區域＋三個血管床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7CCB32-50AB-4DA3-BE7E-2E27FADD2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3370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D9BFEA-C741-4FCB-A47A-E24AA839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480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組織診斷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678B97-647D-45B5-BEAD-B78332639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2905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2D3AEC-106A-4FE5-8FA3-D8AF10C6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支氣管鏡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26BF0DF-2515-41ED-A39B-B88E057C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2905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DBD535-FE62-467C-A0CD-205A5AD2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4335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呼吸道、血塊、活動出血、採樣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F32837-57A3-480D-81BA-44C251150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2905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BEA2215-EF57-48B8-A446-19566BE3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94335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完整體循環血管地圖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CA71205-6263-4328-BA6D-393EB2D4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2266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6D0FD4-4ABC-49B4-8CCD-1F352A23A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血管攝影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0F9F3D0-94F6-42A4-B7E3-D45D60EEC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724400"/>
            <a:ext cx="40767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1888261-83CB-43F2-ADC9-FFF5BC71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838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血流、責任血管、分流與栓塞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B02CB1-4E46-4768-985D-6B8A897D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724400"/>
            <a:ext cx="417195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25A1BD5-5989-4B56-918A-7B1C635D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838700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02124"/>
                </a:solidFill>
              </a:defRPr>
            </a:pPr>
            <a:r>
              <a:rPr sz="1575" b="0">
                <a:solidFill>
                  <a:srgbClr val="202124"/>
                </a:solidFill>
              </a:rPr>
              <a:t>腫塊病理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DF9995-CE17-4AF9-ADF2-495527FAF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9120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E18727"/>
                </a:solidFill>
              </a:defRPr>
            </a:pPr>
            <a:r>
              <a:rPr sz="1950" b="1">
                <a:solidFill>
                  <a:srgbClr val="E18727"/>
                </a:solidFill>
              </a:rPr>
              <a:t>這些工具要搭配使用。</a:t>
            </a:r>
          </a:p>
        </p:txBody>
      </p:sp>
    </p:spTree>
    <p:extLst>
      <p:ext uri="{BB962C8B-B14F-4D97-AF65-F5344CB8AC3E}">
        <p14:creationId xmlns:p14="http://schemas.microsoft.com/office/powerpoint/2010/main" val="2439835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B70748-108A-4E2C-89E5-92217CE9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9">
            <a:extLst xmlns:a="http://schemas.openxmlformats.org/drawingml/2006/main">
              <a:ext uri="{FF2B5EF4-FFF2-40B4-BE49-F238E27FC236}">
                <a16:creationId xmlns:a16="http://schemas.microsoft.com/office/drawing/2014/main" id="{F50A0AAD-9EEC-4EFE-8C4C-EC56E10E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診斷狀態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2A122960-4A5A-4C0C-94F7-75C6A27F3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未確診不等於良性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70C5F-63E0-4E31-9343-4572EC778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C70633-1E6F-4186-8682-32FAC5B13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9">
            <a:extLst xmlns:a="http://schemas.openxmlformats.org/drawingml/2006/main">
              <a:ext uri="{FF2B5EF4-FFF2-40B4-BE49-F238E27FC236}">
                <a16:creationId xmlns:a16="http://schemas.microsoft.com/office/drawing/2014/main" id="{853D8940-D0D5-4F1A-9C5B-810BD105C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Gonzalez et al. ATS/ACCP Research Statement. AJRCCM. 2024;209:634-646.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1C32E64E-148A-4AF6-9419-742328538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3843CC-338E-4333-A843-83E72EC85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2766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72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E5B86D-9D73-4815-B046-3F4D35E2E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C8C316-7F55-4EB6-A229-D37E43BC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574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特定惡性診斷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67137-7AAE-4D74-B4CF-683CDBC8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28194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</a:defRPr>
            </a:pPr>
            <a:r>
              <a:rPr sz="1875" b="0">
                <a:solidFill>
                  <a:srgbClr val="202124"/>
                </a:solidFill>
              </a:rPr>
              <a:t>能完整解釋病灶的惡性組織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B21FBC-93D9-4E5E-8323-1666022E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2766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0854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8FADFB-AC08-4F40-B962-D67E07CB8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DE7444-F58C-4C16-8B97-D229BB280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854E"/>
                </a:solidFill>
              </a:defRPr>
            </a:pPr>
            <a:r>
              <a:rPr sz="1800" b="1">
                <a:solidFill>
                  <a:srgbClr val="20854E"/>
                </a:solidFill>
              </a:rPr>
              <a:t>特定良性診斷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F66598-9122-4501-B85A-A1BAE976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876550"/>
            <a:ext cx="28194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</a:defRPr>
            </a:pPr>
            <a:r>
              <a:rPr sz="1875" b="0">
                <a:solidFill>
                  <a:srgbClr val="202124"/>
                </a:solidFill>
              </a:rPr>
              <a:t>能完整解釋病灶的良性診斷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A5B9E7-9562-4DB3-9715-8EDE7A09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2766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C3C2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8B0474-C5B7-45C0-B2A3-97B54118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32766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ADD3A5-9F61-45F1-99E5-B0D03731C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0574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未確診／無診斷性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2EA4B7-771D-4628-AE52-43E2FFDC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876550"/>
            <a:ext cx="281940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202124"/>
                </a:solidFill>
              </a:defRPr>
            </a:pPr>
            <a:r>
              <a:rPr sz="1875" b="0">
                <a:solidFill>
                  <a:srgbClr val="202124"/>
                </a:solidFill>
              </a:rPr>
              <a:t>異型 • 發炎 • 血液 • 壞死 • 組織不足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2E2F64-AEB8-45D2-B3E3-73DF34685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E1872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B32425-0D0C-47D3-8983-5FA9882A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5305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18727"/>
                </a:solidFill>
              </a:defRPr>
            </a:pPr>
            <a:r>
              <a:rPr sz="2025" b="1">
                <a:solidFill>
                  <a:srgbClr val="E18727"/>
                </a:solidFill>
              </a:rPr>
              <a:t>如果仍需要組織，診斷就還沒有完成。</a:t>
            </a:r>
          </a:p>
        </p:txBody>
      </p:sp>
    </p:spTree>
    <p:extLst>
      <p:ext uri="{BB962C8B-B14F-4D97-AF65-F5344CB8AC3E}">
        <p14:creationId xmlns:p14="http://schemas.microsoft.com/office/powerpoint/2010/main" val="10319001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81159F-DE08-453A-96B5-0B58E4760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0">
            <a:extLst xmlns:a="http://schemas.openxmlformats.org/drawingml/2006/main">
              <a:ext uri="{FF2B5EF4-FFF2-40B4-BE49-F238E27FC236}">
                <a16:creationId xmlns:a16="http://schemas.microsoft.com/office/drawing/2014/main" id="{F4AAC961-22EB-4143-90E1-99E75E61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失敗分析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A740A4D2-FD68-4100-9E42-FF394ED6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重複採樣為什麼失敗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4A9FD-52E2-4A9A-B6F4-B2BE4CBA2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9B2761-E405-4971-B65B-70B47A074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0">
            <a:extLst xmlns:a="http://schemas.openxmlformats.org/drawingml/2006/main">
              <a:ext uri="{FF2B5EF4-FFF2-40B4-BE49-F238E27FC236}">
                <a16:creationId xmlns:a16="http://schemas.microsoft.com/office/drawing/2014/main" id="{1430B69A-B5AB-43F2-9299-B595C473B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Expanded review synthesis; ATS/ACCP 2024.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859245F9-7B6B-4B67-88F1-2CC2304B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CCE4F9-7885-4FD8-84E8-95D8EF3BB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F6368"/>
                </a:solidFill>
              </a:defRPr>
            </a:pPr>
            <a:r>
              <a:rPr sz="1575" b="1">
                <a:solidFill>
                  <a:srgbClr val="5F6368"/>
                </a:solidFill>
              </a:rPr>
              <a:t>失敗層次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EA9758-F0D9-48F4-9807-94AC2652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4859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F6368"/>
                </a:solidFill>
              </a:defRPr>
            </a:pPr>
            <a:r>
              <a:rPr sz="1575" b="1">
                <a:solidFill>
                  <a:srgbClr val="5F6368"/>
                </a:solidFill>
              </a:rPr>
              <a:t>問題在哪裡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05F875-EB4F-43B7-B000-6CE647472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8590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F6368"/>
                </a:solidFill>
              </a:defRPr>
            </a:pPr>
            <a:r>
              <a:rPr sz="1575" b="1">
                <a:solidFill>
                  <a:srgbClr val="5F6368"/>
                </a:solidFill>
              </a:rPr>
              <a:t>重做前要改什麼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BC8D3B-680E-4025-B610-2079D9CBD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1047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58F0099-ECDC-4785-AE5B-10F317AD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47843E-6FDF-40D1-ABFD-D7421F75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152650"/>
            <a:ext cx="129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標的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D8A837-EE22-45AE-96E1-DC7CC55CD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5740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工具沒有真正進入病灶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BC35ED-A95F-402B-A9F9-23870002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5740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重讀 CT；改選呼吸道、胸膜或淋巴結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E683D-D99A-4BB5-B873-FF78B037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47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4CAD74-ECCF-4321-A107-BA3246851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E30173-054F-495D-87CF-EF5ECEC6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6100"/>
            <a:ext cx="129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採樣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1E73F8-9550-451B-BC90-4C10BB7B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9908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表面、壞死中心或組織量不足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5DF8BAB-762F-4E64-BE3C-AB923CBD4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9085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更換針具、採樣方式或路徑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238A30D-BF6D-4657-AAF5-A5D2BD2C4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1047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A8B0A7-DDC1-422C-B220-03936F26A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F1B081-5C3C-406A-8E08-2CBA2A6C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019550"/>
            <a:ext cx="129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病理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71D37A-AAA1-427E-84B4-1B2CD66D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92430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血液、壞死、異型或非特異發炎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F5B8C22-A3CC-4F7C-A65F-8210D1AE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92430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標為未確診，不可寫成良性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F93480-4447-42EE-A039-90C10D0F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47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7B4D80-DC79-47DA-AC25-2EB42EB31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762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2E5B29-5316-4376-8145-374074577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53000"/>
            <a:ext cx="1295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854E"/>
                </a:solidFill>
              </a:defRPr>
            </a:pPr>
            <a:r>
              <a:rPr sz="1800" b="1">
                <a:solidFill>
                  <a:srgbClr val="20854E"/>
                </a:solidFill>
              </a:rPr>
              <a:t>培養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D50F3B2-AC7A-48CA-9220-F9B43E16D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57750"/>
            <a:ext cx="4000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沒有分配 AFB、黴菌或細菌檢體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E58F66E-2F76-4D42-BCEC-1002710DA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57750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處置前先規劃檢體分配</a:t>
            </a:r>
          </a:p>
        </p:txBody>
      </p:sp>
    </p:spTree>
    <p:extLst>
      <p:ext uri="{BB962C8B-B14F-4D97-AF65-F5344CB8AC3E}">
        <p14:creationId xmlns:p14="http://schemas.microsoft.com/office/powerpoint/2010/main" val="17028794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1A4D86-A474-4ADA-81A6-7B364FD3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1">
            <a:extLst xmlns:a="http://schemas.openxmlformats.org/drawingml/2006/main">
              <a:ext uri="{FF2B5EF4-FFF2-40B4-BE49-F238E27FC236}">
                <a16:creationId xmlns:a16="http://schemas.microsoft.com/office/drawing/2014/main" id="{16FB3838-44ED-4826-890E-4DF30F406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三個血管床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DBD53948-94CB-45AA-9F2F-A71F05AA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嚴重咳血多來自體循環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A9229-EFB2-487D-9039-68A93F18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EB641-C2EB-4D3A-A96E-DAC25DD7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1">
            <a:extLst xmlns:a="http://schemas.openxmlformats.org/drawingml/2006/main">
              <a:ext uri="{FF2B5EF4-FFF2-40B4-BE49-F238E27FC236}">
                <a16:creationId xmlns:a16="http://schemas.microsoft.com/office/drawing/2014/main" id="{D94E6213-7A74-4E81-B7F6-27CABC2E8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Standards of Practice on BAE. 2022.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82B1C2D3-C55A-43FA-BF9A-C59642075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E6548D-924D-4A31-91D3-4A850DA3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71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BC3C29"/>
                </a:solidFill>
              </a:defRPr>
            </a:pPr>
            <a:r>
              <a:rPr sz="4050" b="1">
                <a:solidFill>
                  <a:srgbClr val="BC3C29"/>
                </a:solidFill>
              </a:rPr>
              <a:t>90%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F7DFC6-BE75-4B94-A64D-C39CC63D3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4"/>
                </a:solidFill>
              </a:defRPr>
            </a:pPr>
            <a:r>
              <a:rPr sz="1650" b="1">
                <a:solidFill>
                  <a:srgbClr val="202124"/>
                </a:solidFill>
              </a:rPr>
              <a:t>支氣管循環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8C533F-D88F-4F19-8EBF-7626735D8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高壓 systemic 血管床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1D1B8E-00B8-4562-B1F7-E47D9D94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771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0072B5"/>
                </a:solidFill>
              </a:defRPr>
            </a:pPr>
            <a:r>
              <a:rPr sz="4050" b="1">
                <a:solidFill>
                  <a:srgbClr val="0072B5"/>
                </a:solidFill>
              </a:rPr>
              <a:t>5%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FB2C52-9446-47EC-8F96-C438CBC4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4574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4"/>
                </a:solidFill>
              </a:defRPr>
            </a:pPr>
            <a:r>
              <a:rPr sz="1650" b="1">
                <a:solidFill>
                  <a:srgbClr val="202124"/>
                </a:solidFill>
              </a:rPr>
              <a:t>肺循環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CA207E-1C41-4E1F-9CED-F439CE411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9718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假性動脈瘤／侵蝕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D27683-355F-4353-85B0-6A37A90DF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71650"/>
            <a:ext cx="171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4050" b="1">
                <a:solidFill>
                  <a:srgbClr val="E18727"/>
                </a:solidFill>
              </a:defRPr>
            </a:pPr>
            <a:r>
              <a:rPr sz="4050" b="1">
                <a:solidFill>
                  <a:srgbClr val="E18727"/>
                </a:solidFill>
              </a:rPr>
              <a:t>5%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3C3B60-D9F0-490C-96D5-D89C566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57450"/>
            <a:ext cx="190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02124"/>
                </a:solidFill>
              </a:defRPr>
            </a:pPr>
            <a:r>
              <a:rPr sz="1650" b="1">
                <a:solidFill>
                  <a:srgbClr val="202124"/>
                </a:solidFill>
              </a:rPr>
              <a:t>非支氣管 systemic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45BDAC-0A75-4366-973E-D819F427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971800"/>
            <a:ext cx="190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5F6368"/>
                </a:solidFill>
              </a:defRPr>
            </a:pPr>
            <a:r>
              <a:rPr sz="1200" b="0">
                <a:solidFill>
                  <a:srgbClr val="5F6368"/>
                </a:solidFill>
              </a:rPr>
              <a:t>胸膜側枝供血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D76386-AD70-41CE-97C2-824FDDA1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133600"/>
            <a:ext cx="17145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A4F36D-BED2-40FE-A523-95A14000A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33600"/>
            <a:ext cx="17145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51F7C8-88E0-442B-B307-624BE21E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4457700"/>
            <a:ext cx="727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95FD42-6FA6-443B-8248-EE5E43674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648200"/>
            <a:ext cx="6629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這是搜尋優先順序，不是排除規則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B4E67A-73B2-4735-9F15-A850C883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5782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5F6368"/>
                </a:solidFill>
              </a:defRPr>
            </a:pPr>
            <a:r>
              <a:rPr sz="1950" b="0">
                <a:solidFill>
                  <a:srgbClr val="5F6368"/>
                </a:solidFill>
              </a:rPr>
              <a:t>血管床必須和病灶位置一起解讀。</a:t>
            </a:r>
          </a:p>
        </p:txBody>
      </p:sp>
    </p:spTree>
    <p:extLst>
      <p:ext uri="{BB962C8B-B14F-4D97-AF65-F5344CB8AC3E}">
        <p14:creationId xmlns:p14="http://schemas.microsoft.com/office/powerpoint/2010/main" val="77119101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AF17B2-F0CD-42D9-81CC-398ED29A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2">
            <a:extLst xmlns:a="http://schemas.openxmlformats.org/drawingml/2006/main">
              <a:ext uri="{FF2B5EF4-FFF2-40B4-BE49-F238E27FC236}">
                <a16:creationId xmlns:a16="http://schemas.microsoft.com/office/drawing/2014/main" id="{9BABFD93-6C9B-4C06-B2E2-D79C5C26A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責任血管迴路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61404F7D-F38A-4039-BAB4-6BED05028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畫出完整責任血管迴路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5E0C24-2E8F-4020-A13B-E5BCC1B5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2C57EA-5ACB-41D1-9322-D3C004EA1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2">
            <a:extLst xmlns:a="http://schemas.openxmlformats.org/drawingml/2006/main">
              <a:ext uri="{FF2B5EF4-FFF2-40B4-BE49-F238E27FC236}">
                <a16:creationId xmlns:a16="http://schemas.microsoft.com/office/drawing/2014/main" id="{B5B1C5BA-A7ED-4400-8B18-20D0F9F0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 abnormal artery signs; expanded review synthesis.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4737C7D6-B5B6-4373-84EA-0EA8F881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6ACC1-5BF5-4A13-84B7-13803B276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686050"/>
            <a:ext cx="16764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solidFill>
              <a:srgbClr val="BC3C2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79E820-08C2-4BED-A2BD-858F4645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86050"/>
            <a:ext cx="16764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solidFill>
              <a:srgbClr val="E1872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4A7D4-71D0-42C3-824E-735D5669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686050"/>
            <a:ext cx="10668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0">
            <a:solidFill>
              <a:srgbClr val="6F99A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33C1C-CDDE-4BB2-8C7E-97E2AA02B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C3C2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B9C8B0B-27C3-4D89-96F4-07F032C9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流入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AF901E-0C24-4BA8-AA0D-13AC05FC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81300"/>
            <a:ext cx="2609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肥大、迂曲的體循環供血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D074E-1ACB-4DFA-A564-9671A74E6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E1872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8743EE-C90C-4B39-93BA-C0DCCDCD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6695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病灶／囊體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E82CA6-EC03-41F7-83B5-EBEFA878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81300"/>
            <a:ext cx="2609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染色</a:t>
            </a:r>
          </a:p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動脈瘤／假性動脈瘤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030567-D29C-46FD-A1D2-84433BCB0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00250"/>
            <a:ext cx="2952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0072B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206E7E-C0AA-4389-95FC-CA9F20FD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66950"/>
            <a:ext cx="2495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72B5"/>
                </a:solidFill>
              </a:defRPr>
            </a:pPr>
            <a:r>
              <a:rPr sz="1800" b="1">
                <a:solidFill>
                  <a:srgbClr val="0072B5"/>
                </a:solidFill>
              </a:rPr>
              <a:t>流出／分流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360A42-9CBB-4A22-BE76-9B431D047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81300"/>
            <a:ext cx="26098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提早靜脈顯影</a:t>
            </a:r>
          </a:p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分流／血流方向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B86CF9-2C7D-4E44-BB6C-6F54DF87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05350"/>
            <a:ext cx="104394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6F99A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CB42298-DE3E-459C-9FF9-B17A8CD81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876800"/>
            <a:ext cx="994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F99AD"/>
                </a:solidFill>
              </a:defRPr>
            </a:pPr>
            <a:r>
              <a:rPr sz="1800" b="1">
                <a:solidFill>
                  <a:srgbClr val="6F99AD"/>
                </a:solidFill>
              </a:rPr>
              <a:t>報告用語：肥大 • 染色 • 提早靜脈顯影 • 假性動脈瘤 • 分流</a:t>
            </a:r>
          </a:p>
        </p:txBody>
      </p:sp>
    </p:spTree>
    <p:extLst>
      <p:ext uri="{BB962C8B-B14F-4D97-AF65-F5344CB8AC3E}">
        <p14:creationId xmlns:p14="http://schemas.microsoft.com/office/powerpoint/2010/main" val="9225241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4E5B89-9B0E-4A19-9A77-5E53F499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3">
            <a:extLst xmlns:a="http://schemas.openxmlformats.org/drawingml/2006/main">
              <a:ext uri="{FF2B5EF4-FFF2-40B4-BE49-F238E27FC236}">
                <a16:creationId xmlns:a16="http://schemas.microsoft.com/office/drawing/2014/main" id="{29346187-D346-4818-9669-EFD5480BD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假性動脈瘤血流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601DF76A-9F06-4992-B6CC-56EC4D1FE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治療整個迴路，不只處理亮點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4E0AE2-EED2-4351-87ED-FEBA720A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81BDFA-68E5-4051-B81C-201E4F80A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3">
            <a:extLst xmlns:a="http://schemas.openxmlformats.org/drawingml/2006/main">
              <a:ext uri="{FF2B5EF4-FFF2-40B4-BE49-F238E27FC236}">
                <a16:creationId xmlns:a16="http://schemas.microsoft.com/office/drawing/2014/main" id="{D88AB433-1DF2-4B76-B5DC-F804562BC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Chen et al. J Thorac Dis. 2022;14:1784-1793. Mechanistic case series (n=9).</a:t>
            </a:r>
          </a:p>
        </p:txBody>
      </p:sp>
      <p:sp>
        <p:nvSpPr>
          <p:cNvPr id="7" name="page-13">
            <a:extLst xmlns:a="http://schemas.openxmlformats.org/drawingml/2006/main">
              <a:ext uri="{FF2B5EF4-FFF2-40B4-BE49-F238E27FC236}">
                <a16:creationId xmlns:a16="http://schemas.microsoft.com/office/drawing/2014/main" id="{5FDFCF3E-1E74-4CC0-ADCB-4E99BA68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790ECF-ADFB-4B74-8141-2CEBE0792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1066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FCE1F1-BDCC-4BA3-B00A-3E9AC1C61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8595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72B5"/>
                </a:solidFill>
              </a:defRPr>
            </a:pPr>
            <a:r>
              <a:rPr sz="1725" b="1">
                <a:solidFill>
                  <a:srgbClr val="0072B5"/>
                </a:solidFill>
              </a:rPr>
              <a:t>Type 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28270-F104-4BC1-AA76-990917D69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82880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肺動脈假性動脈瘤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8AE0D0-E5E4-4292-A8C2-ACD4F12F7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716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parent vessel 為 PA；systemic collateral 可逆向顯影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5DDF3C-4CAE-48B8-A3A7-227BCDD60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1930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solidFill>
              <a:srgbClr val="0072B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B8E8C3-E22B-44B9-87B2-E85E2C58F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38475"/>
            <a:ext cx="1066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BC3C2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62AF14-25F8-485B-B5FB-5837ED0EF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67075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BC3C29"/>
                </a:solidFill>
              </a:defRPr>
            </a:pPr>
            <a:r>
              <a:rPr sz="1725" b="1">
                <a:solidFill>
                  <a:srgbClr val="BC3C29"/>
                </a:solidFill>
              </a:rPr>
              <a:t>Type II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E45B91-E728-4215-AC64-4F640515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209925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Systemic 動脈假性動脈瘤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DF7F2A-0213-432B-B990-E167A53E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52775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囊體由 bronchial 或 non-bronchial systemic artery 形成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52A2E5-F12A-4026-999A-A6C52BC26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3400425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solidFill>
              <a:srgbClr val="BC3C2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AB43D4-BEBC-4B7C-ABCF-7CBA7383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19600"/>
            <a:ext cx="10668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7FE68C-4A19-40A1-B22E-9F01B8F5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648200"/>
            <a:ext cx="1181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18727"/>
                </a:solidFill>
              </a:defRPr>
            </a:pPr>
            <a:r>
              <a:rPr sz="1725" b="1">
                <a:solidFill>
                  <a:srgbClr val="E18727"/>
                </a:solidFill>
              </a:rPr>
              <a:t>Type III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A124E8-CEF6-4DF2-AB2C-130521319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91050"/>
            <a:ext cx="3333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Systemic-pulmonary 吻合型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1388CEB-B96E-4859-880E-2B568087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53390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systemic 與 pulmonary 分支形成共同迴路，血流方向可變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982E60-2688-4AED-B96B-5587D05B1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781550"/>
            <a:ext cx="3810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solidFill>
              <a:srgbClr val="E1872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2AC391-3371-4A09-88A7-9CC964BD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8483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E18727"/>
                </a:solidFill>
              </a:defRPr>
            </a:pPr>
            <a:r>
              <a:rPr sz="2025" b="1">
                <a:solidFill>
                  <a:srgbClr val="E18727"/>
                </a:solidFill>
              </a:rPr>
              <a:t>治療完整的流入－囊體－流出迴路。</a:t>
            </a:r>
          </a:p>
        </p:txBody>
      </p:sp>
    </p:spTree>
    <p:extLst>
      <p:ext uri="{BB962C8B-B14F-4D97-AF65-F5344CB8AC3E}">
        <p14:creationId xmlns:p14="http://schemas.microsoft.com/office/powerpoint/2010/main" val="12916588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08E34D-1758-44AB-A2FF-D348517F9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4">
            <a:extLst xmlns:a="http://schemas.openxmlformats.org/drawingml/2006/main">
              <a:ext uri="{FF2B5EF4-FFF2-40B4-BE49-F238E27FC236}">
                <a16:creationId xmlns:a16="http://schemas.microsoft.com/office/drawing/2014/main" id="{523C6BBD-E1A9-436B-AD48-C6E0BCCBE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BAE 定位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1DA93A08-6222-463F-B0C4-858B2285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BAE 負責止血，不負責病因診斷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81B8D-76E8-4AE4-B763-967470CE8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695EDF-428A-4B37-9B57-8ABB7EF5D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4">
            <a:extLst xmlns:a="http://schemas.openxmlformats.org/drawingml/2006/main">
              <a:ext uri="{FF2B5EF4-FFF2-40B4-BE49-F238E27FC236}">
                <a16:creationId xmlns:a16="http://schemas.microsoft.com/office/drawing/2014/main" id="{5795A655-61CB-43DD-BBEF-F764FA8F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2022; expanded review synthesis.</a:t>
            </a:r>
          </a:p>
        </p:txBody>
      </p:sp>
      <p:sp>
        <p:nvSpPr>
          <p:cNvPr id="7" name="page-14">
            <a:extLst xmlns:a="http://schemas.openxmlformats.org/drawingml/2006/main">
              <a:ext uri="{FF2B5EF4-FFF2-40B4-BE49-F238E27FC236}">
                <a16:creationId xmlns:a16="http://schemas.microsoft.com/office/drawing/2014/main" id="{F6F0D7D3-742C-43A3-9899-B5319B73F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7A6E6-4A0A-4C97-9CCB-2CD812B4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48577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20854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53856F-955F-495F-A2F5-2C8630EB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14500"/>
            <a:ext cx="4857750" cy="3562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BC3C2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6F8426-FA88-4674-B930-B3DB1C85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193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854E"/>
                </a:solidFill>
              </a:defRPr>
            </a:pPr>
            <a:r>
              <a:rPr sz="1800" b="1">
                <a:solidFill>
                  <a:srgbClr val="20854E"/>
                </a:solidFill>
              </a:rPr>
              <a:t>BAE 可以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C82D19-391D-4C1B-BC65-573CD0C7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019300"/>
            <a:ext cx="4248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BAE 不可以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93F7BC-8FF9-4D78-B019-4E7888A56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432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457E44-F438-4C03-B30F-BAD12E76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64795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控制活動性出血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77AE5F-4D74-4B94-BF75-DA834B0C4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A7BAC-B743-42ED-9337-4DEC6566A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2004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處理已辨識的病理血管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CABAA-AAC5-4625-8530-6963ED52F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48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05CAA9-1CCA-4668-839E-F4CF9D39D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5285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創造較安全的診斷時間窗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0D0A32-DED4-424A-A8A1-48BE8D06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005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6103E6-216C-45CB-B749-F33E74FDE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3053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銜接手術或病因治療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34D111-E116-43A2-B80D-A5915A7B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432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3CFC9B-2977-4872-9109-91F96F74D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4795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證明肺部腫塊是良性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121DD75-5B4E-4C97-A318-735A41B5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2956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263719-81F4-4CEE-8C3D-1C2136BF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2004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取代病理或微生物診斷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BB0290-B437-4C17-AD83-71B0B91B2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481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BD2E23-5299-4054-BE29-474DB6A92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5285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單獨解釋所有再出血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F629CC-197C-4F08-8D01-625CA66E0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0055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9DB0F5-2648-4E5C-96A2-D065AB0C4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305300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取代診斷負責人的追蹤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8AFA0D-313A-4613-BE2D-86F30EDD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676900"/>
            <a:ext cx="735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072B5"/>
                </a:solidFill>
              </a:defRPr>
            </a:pPr>
            <a:r>
              <a:rPr sz="2175" b="1">
                <a:solidFill>
                  <a:srgbClr val="0072B5"/>
                </a:solidFill>
              </a:rPr>
              <a:t>止血不等於完成診斷。</a:t>
            </a:r>
          </a:p>
        </p:txBody>
      </p:sp>
    </p:spTree>
    <p:extLst>
      <p:ext uri="{BB962C8B-B14F-4D97-AF65-F5344CB8AC3E}">
        <p14:creationId xmlns:p14="http://schemas.microsoft.com/office/powerpoint/2010/main" val="16510847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FFAC3C-EB33-478B-ABEA-D35B0D5A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5">
            <a:extLst xmlns:a="http://schemas.openxmlformats.org/drawingml/2006/main">
              <a:ext uri="{FF2B5EF4-FFF2-40B4-BE49-F238E27FC236}">
                <a16:creationId xmlns:a16="http://schemas.microsoft.com/office/drawing/2014/main" id="{953B3D01-9357-4104-B92F-AEA811445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BAE 成效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979AAFE7-C4C0-4481-811E-BE1379E6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立即成功率高，長期控制較不穩定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72F33F-DD05-48D9-ADC9-1C10BFF1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72FF0-776B-4649-8518-60514D781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5">
            <a:extLst xmlns:a="http://schemas.openxmlformats.org/drawingml/2006/main">
              <a:ext uri="{FF2B5EF4-FFF2-40B4-BE49-F238E27FC236}">
                <a16:creationId xmlns:a16="http://schemas.microsoft.com/office/drawing/2014/main" id="{421812AC-B845-4A01-9B7B-D2176FBA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2022, Table 7. Ranges reflect heterogeneous studies and etiologies.</a:t>
            </a:r>
          </a:p>
        </p:txBody>
      </p:sp>
      <p:sp>
        <p:nvSpPr>
          <p:cNvPr id="7" name="page-15">
            <a:extLst xmlns:a="http://schemas.openxmlformats.org/drawingml/2006/main">
              <a:ext uri="{FF2B5EF4-FFF2-40B4-BE49-F238E27FC236}">
                <a16:creationId xmlns:a16="http://schemas.microsoft.com/office/drawing/2014/main" id="{92CB8CC7-7431-43C4-9749-1E1D71E8C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291453-75E5-47A0-9171-83D3F7AE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B4CCE4-F143-4D2F-9706-4FAD89E49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12445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0%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907AD-E97A-4EE0-9AED-46DD9A83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AE6112-C897-48E1-86A1-DFA312BDC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12445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20%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577399-BD7D-4075-A759-695465E09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1E8344-E1E1-4C36-BAB6-1EEC08CC1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12445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40%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81524A-34C1-4EF0-9E0A-1BF1115F3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60C8AA-8345-47BF-BB05-14467C2F7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512445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60%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55F84A-DA7D-42A1-BD5E-864AEAD2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AB9F0-0061-4A19-AE5D-600BA9A92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512445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80%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1430B6-E3A1-412E-8D73-D445E590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1809750"/>
            <a:ext cx="9525" cy="3238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DF88FC-1F04-481F-AA32-F86BC5128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124450"/>
            <a:ext cx="685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F6368"/>
                </a:solidFill>
              </a:defRPr>
            </a:pPr>
            <a:r>
              <a:rPr sz="1275" b="0">
                <a:solidFill>
                  <a:srgbClr val="5F6368"/>
                </a:solidFill>
              </a:rPr>
              <a:t>100%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D66EF-A3AF-4303-A328-2B8D4B272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技術成功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38B93A-2A94-43E5-8D8D-1AB300A4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0025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DFB0C6-268D-404D-BAC1-1AD3471A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066925"/>
            <a:ext cx="6667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35F15A-BD88-4627-8E02-321502574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5740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90-100%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FC965E-CB12-42B2-9BF6-269930EE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19400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24 小時臨床成功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CF5DC4-B794-49D1-AAB9-48DAB867A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A53CC3-D41C-493B-A7F7-E476B5B94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47975"/>
            <a:ext cx="12001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2085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23F2B1-8BC1-4550-8FC7-5F7C52237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3845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82-100%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4273BD-F162-421B-AE43-01D378B4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00450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30 天臨床成功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9859F76-545E-43FE-B9B8-8F493BE44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6235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37B63C-F448-402E-98C2-59AD7476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29025"/>
            <a:ext cx="14668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47BAE95-1F3B-48D1-A58A-179F1AB9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6195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70-92%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8C0325-41AC-46ED-9B81-C52F136B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02124"/>
                </a:solidFill>
              </a:defRPr>
            </a:pPr>
            <a:r>
              <a:rPr sz="1800" b="1">
                <a:solidFill>
                  <a:srgbClr val="202124"/>
                </a:solidFill>
              </a:rPr>
              <a:t>1 年臨床成功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95814-EFF9-457C-8516-5D152D9E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43400"/>
            <a:ext cx="6667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1C5F4B-C273-42D7-93AF-FBB65E5DF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410075"/>
            <a:ext cx="186690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C5DAA65-DC36-4617-962B-0B55118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4400550"/>
            <a:ext cx="3105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202124"/>
                </a:solidFill>
              </a:defRPr>
            </a:pPr>
            <a:r>
              <a:rPr sz="1350" b="1">
                <a:solidFill>
                  <a:srgbClr val="202124"/>
                </a:solidFill>
              </a:rPr>
              <a:t>64-92%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989D15-B803-4399-91B8-37740E77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715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BC3C29"/>
                </a:solidFill>
              </a:defRPr>
            </a:pPr>
            <a:r>
              <a:rPr sz="2025" b="1">
                <a:solidFill>
                  <a:srgbClr val="BC3C29"/>
                </a:solidFill>
              </a:rPr>
              <a:t>技術成功不等於一年內不再出血。</a:t>
            </a:r>
          </a:p>
        </p:txBody>
      </p:sp>
    </p:spTree>
    <p:extLst>
      <p:ext uri="{BB962C8B-B14F-4D97-AF65-F5344CB8AC3E}">
        <p14:creationId xmlns:p14="http://schemas.microsoft.com/office/powerpoint/2010/main" val="205501804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27636D-91E1-44A4-B293-B0C05236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6">
            <a:extLst xmlns:a="http://schemas.openxmlformats.org/drawingml/2006/main">
              <a:ext uri="{FF2B5EF4-FFF2-40B4-BE49-F238E27FC236}">
                <a16:creationId xmlns:a16="http://schemas.microsoft.com/office/drawing/2014/main" id="{9EB93E22-7363-4BC6-B92F-A55B0E01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再出血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92CC7CC9-5B37-42A4-92C4-54B44F21C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再出血代表來源控制仍不完整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433B1-FC73-45B1-8477-AFD15B41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780049-1473-4C1E-83BA-5FFE78254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6">
            <a:extLst xmlns:a="http://schemas.openxmlformats.org/drawingml/2006/main">
              <a:ext uri="{FF2B5EF4-FFF2-40B4-BE49-F238E27FC236}">
                <a16:creationId xmlns:a16="http://schemas.microsoft.com/office/drawing/2014/main" id="{F3A20FF4-7880-4723-BAD6-E1DB7CF7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Source: CIRSE 2022, rebleeding risk factors.</a:t>
            </a:r>
          </a:p>
        </p:txBody>
      </p:sp>
      <p:sp>
        <p:nvSpPr>
          <p:cNvPr id="7" name="page-16">
            <a:extLst xmlns:a="http://schemas.openxmlformats.org/drawingml/2006/main">
              <a:ext uri="{FF2B5EF4-FFF2-40B4-BE49-F238E27FC236}">
                <a16:creationId xmlns:a16="http://schemas.microsoft.com/office/drawing/2014/main" id="{6014AF99-140C-4F2E-A90D-33AD4FFA2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9B17A3-FA2D-47E1-91FF-C422CD857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74186C-6A33-46D3-900A-7FF872D99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9D9471-B2D6-4A65-9A2E-4A4A6B456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6764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BC3C29"/>
                </a:solidFill>
              </a:defRPr>
            </a:pPr>
            <a:r>
              <a:rPr sz="1950" b="1">
                <a:solidFill>
                  <a:srgbClr val="BC3C29"/>
                </a:solidFill>
              </a:rPr>
              <a:t>栓塞不完整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EAE8A5-20FD-432A-8E4C-672E3ABE5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15265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漏掉責任動脈或側枝循環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930930-A31C-440A-826C-8DB61041E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29718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DAC026-34A6-43C2-96CE-67D66C7E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6764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4F684-BD4E-4BDB-B850-4BBF3A85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928D1-3E26-4ED5-A271-B9A37532E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764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72B5"/>
                </a:solidFill>
              </a:defRPr>
            </a:pPr>
            <a:r>
              <a:rPr sz="1950" b="1">
                <a:solidFill>
                  <a:srgbClr val="0072B5"/>
                </a:solidFill>
              </a:rPr>
              <a:t>基礎疾病未治療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0EC014-7ACE-49A4-82D4-25288CD2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15265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腫瘤、感染或發炎持續進展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AE92DE-6EE5-4631-81C1-6447E4A9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718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405A9C-2A6E-436A-B09F-928A25F9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EEBB4E-43E7-405F-B9CD-35A1379A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71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D8BF64-6E3B-45E4-A326-920C0AEA2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6576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E18727"/>
                </a:solidFill>
              </a:defRPr>
            </a:pPr>
            <a:r>
              <a:rPr sz="1950" b="1">
                <a:solidFill>
                  <a:srgbClr val="E18727"/>
                </a:solidFill>
              </a:rPr>
              <a:t>血管再通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D2F151-007A-4CC3-A66A-A110FD8DC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13385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已處理的血管再次恢復通暢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A4F7B8-C29D-413A-BBA6-41E63B9F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9530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E08072-5BFA-42D9-B597-6DC5997D1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576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876B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7357E2-2DE9-4F58-BD1A-1516519E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55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D2BCDA-6F49-4FC1-8D73-8CE2B0AD7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6576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7876B1"/>
                </a:solidFill>
              </a:defRPr>
            </a:pPr>
            <a:r>
              <a:rPr sz="1950" b="1">
                <a:solidFill>
                  <a:srgbClr val="7876B1"/>
                </a:solidFill>
              </a:rPr>
              <a:t>新生側枝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EAA98C-1FCB-4F7F-9EFC-256BDCA28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13385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慢性發炎招募新的供血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B35EE10-DAF9-4CBC-9151-410EB617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53000"/>
            <a:ext cx="4000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543EF8-CAAB-41F7-A997-81C749DE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715000"/>
            <a:ext cx="857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C3C29"/>
                </a:solidFill>
              </a:defRPr>
            </a:pPr>
            <a:r>
              <a:rPr sz="2100" b="1">
                <a:solidFill>
                  <a:srgbClr val="BC3C29"/>
                </a:solidFill>
              </a:rPr>
              <a:t>再出血時，要重新定位並檢討病因。</a:t>
            </a:r>
          </a:p>
        </p:txBody>
      </p:sp>
    </p:spTree>
    <p:extLst>
      <p:ext uri="{BB962C8B-B14F-4D97-AF65-F5344CB8AC3E}">
        <p14:creationId xmlns:p14="http://schemas.microsoft.com/office/powerpoint/2010/main" val="133930692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9744BC7-57E4-4021-A122-A0BDEE6A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7">
            <a:extLst xmlns:a="http://schemas.openxmlformats.org/drawingml/2006/main">
              <a:ext uri="{FF2B5EF4-FFF2-40B4-BE49-F238E27FC236}">
                <a16:creationId xmlns:a16="http://schemas.microsoft.com/office/drawing/2014/main" id="{63008CE2-BCC7-434C-B39B-FA4F0F42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組織策略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67AC2D5D-E345-4B36-93D7-BC93E107F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BAE 後要換新的組織標的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8C3D87-AD4A-4EC8-98A1-21261F5D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57257-91A3-4A2E-ADD6-EDE50579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7">
            <a:extLst xmlns:a="http://schemas.openxmlformats.org/drawingml/2006/main">
              <a:ext uri="{FF2B5EF4-FFF2-40B4-BE49-F238E27FC236}">
                <a16:creationId xmlns:a16="http://schemas.microsoft.com/office/drawing/2014/main" id="{EAA505DC-94F8-40D7-8B28-18D8A6865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Sources: Expanded review synthesis; JAMA 2022 nodule review (route trade-offs, scope qualified).</a:t>
            </a:r>
          </a:p>
        </p:txBody>
      </p:sp>
      <p:sp>
        <p:nvSpPr>
          <p:cNvPr id="7" name="page-17">
            <a:extLst xmlns:a="http://schemas.openxmlformats.org/drawingml/2006/main">
              <a:ext uri="{FF2B5EF4-FFF2-40B4-BE49-F238E27FC236}">
                <a16:creationId xmlns:a16="http://schemas.microsoft.com/office/drawing/2014/main" id="{C7415FD6-F808-4724-9064-8E0942B3C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3EACB8-C24C-4609-918B-65B9C614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4476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82CC9C-6B7D-416F-B78F-6DDF69923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62100"/>
            <a:ext cx="424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最佳標的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C229E5-8FE4-460A-8CC2-1A1648A73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04950"/>
            <a:ext cx="6115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1CDC-3D3B-4933-8398-EAC9B8F5D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562100"/>
            <a:ext cx="5886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建議路徑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B20643-00EE-4B46-8A6B-8350D58F2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4476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FFD100-CAF4-48C4-AF28-A6BCE4D96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19300"/>
            <a:ext cx="417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C3C29"/>
                </a:solidFill>
              </a:defRPr>
            </a:pPr>
            <a:r>
              <a:rPr sz="1650" b="1">
                <a:solidFill>
                  <a:srgbClr val="BC3C29"/>
                </a:solidFill>
              </a:rPr>
              <a:t>可見 endobronchial lesion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D6C377C-9DA0-4B69-B95E-4E7D27479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24050"/>
            <a:ext cx="6115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CDB07-E089-46BD-AAC3-788B69BC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0193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傳統支氣管鏡 biopsy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884ECA-896E-4FF2-B431-4BCAABEC0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4476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C02782-AB76-4E06-AAD1-961E397A6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417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F99AD"/>
                </a:solidFill>
              </a:defRPr>
            </a:pPr>
            <a:r>
              <a:rPr sz="1650" b="1">
                <a:solidFill>
                  <a:srgbClr val="6F99AD"/>
                </a:solidFill>
              </a:rPr>
              <a:t>鄰近呼吸道的周邊病灶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32136-5F71-4D58-8AD1-AAFD48E1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86050"/>
            <a:ext cx="6115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22BB2-1404-46E4-A373-525FA75B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7813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導引／機器人支氣管鏡 ± radial EBUS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4BC7F5-E80F-417B-9F00-66F7940E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4476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B5A3AA-FC1C-4937-9002-01E204006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543300"/>
            <a:ext cx="417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72B5"/>
                </a:solidFill>
              </a:defRPr>
            </a:pPr>
            <a:r>
              <a:rPr sz="1650" b="1">
                <a:solidFill>
                  <a:srgbClr val="0072B5"/>
                </a:solidFill>
              </a:rPr>
              <a:t>胸膜基底／周邊腫塊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00ACB4-E0E6-4F4A-9253-CFB84B08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448050"/>
            <a:ext cx="6115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2C9EEC7-A448-4D67-8C46-177B60C2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5433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CT 導引 core biopsy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172AF1-CCC0-4527-ACCA-781278C8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476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EC0E34-F3AB-41E1-9902-5E7A8A05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417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0854E"/>
                </a:solidFill>
              </a:defRPr>
            </a:pPr>
            <a:r>
              <a:rPr sz="1650" b="1">
                <a:solidFill>
                  <a:srgbClr val="20854E"/>
                </a:solidFill>
              </a:rPr>
              <a:t>縱膈／肺門淋巴結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923FB6-3A74-46F5-A6C2-59355FAE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210050"/>
            <a:ext cx="6115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ED294D-B56D-41DF-B42D-1D87B2ADC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053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EBUS-TBNA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F7D6FDB-6F34-4128-A943-2CDA4E4F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4476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28226C-DAA9-4C71-9A1F-F5F8285B4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67300"/>
            <a:ext cx="4171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18727"/>
                </a:solidFill>
              </a:defRPr>
            </a:pPr>
            <a:r>
              <a:rPr sz="1650" b="1">
                <a:solidFill>
                  <a:srgbClr val="E18727"/>
                </a:solidFill>
              </a:rPr>
              <a:t>高度疑慮持續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308A1A-3CB2-4347-9EF9-65A94297C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972050"/>
            <a:ext cx="61150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61B2F8-D9B7-4523-8729-23455BEA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067300"/>
            <a:ext cx="581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202124"/>
                </a:solidFill>
              </a:defRPr>
            </a:pPr>
            <a:r>
              <a:rPr sz="1650" b="0">
                <a:solidFill>
                  <a:srgbClr val="202124"/>
                </a:solidFill>
              </a:rPr>
              <a:t>VATS／外科 biopsy 或切除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7861A2-F6E0-4888-82E4-99AEC9CD3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5848350"/>
            <a:ext cx="647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BC3C29"/>
                </a:solidFill>
              </a:defRPr>
            </a:pPr>
            <a:r>
              <a:rPr sz="1875" b="1">
                <a:solidFill>
                  <a:srgbClr val="BC3C29"/>
                </a:solidFill>
              </a:rPr>
              <a:t>採樣前先確認血管安全性。</a:t>
            </a:r>
          </a:p>
        </p:txBody>
      </p:sp>
    </p:spTree>
    <p:extLst>
      <p:ext uri="{BB962C8B-B14F-4D97-AF65-F5344CB8AC3E}">
        <p14:creationId xmlns:p14="http://schemas.microsoft.com/office/powerpoint/2010/main" val="181011551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18BB62C-41C5-4585-BA91-F73ADD5F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8">
            <a:extLst xmlns:a="http://schemas.openxmlformats.org/drawingml/2006/main">
              <a:ext uri="{FF2B5EF4-FFF2-40B4-BE49-F238E27FC236}">
                <a16:creationId xmlns:a16="http://schemas.microsoft.com/office/drawing/2014/main" id="{DACBCD23-B7B5-4CB0-8ED0-DD8033BFD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M&amp;M 轉折點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4640AFBD-685D-4B99-8BE4-496593845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M&amp;M 錯誤：把止血當成診斷完成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29305-D0B5-4EEC-87F0-C8770A122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639EBE-9C3A-470C-A052-B4DE6BD94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8">
            <a:extLst xmlns:a="http://schemas.openxmlformats.org/drawingml/2006/main">
              <a:ext uri="{FF2B5EF4-FFF2-40B4-BE49-F238E27FC236}">
                <a16:creationId xmlns:a16="http://schemas.microsoft.com/office/drawing/2014/main" id="{4DF88F06-7D5D-4B6B-BEFD-CE1AE5CBD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M&amp;M framework: avoid hindsight bias; distinguish hemostatic and diagnostic outcomes.</a:t>
            </a:r>
          </a:p>
        </p:txBody>
      </p:sp>
      <p:sp>
        <p:nvSpPr>
          <p:cNvPr id="7" name="page-18">
            <a:extLst xmlns:a="http://schemas.openxmlformats.org/drawingml/2006/main">
              <a:ext uri="{FF2B5EF4-FFF2-40B4-BE49-F238E27FC236}">
                <a16:creationId xmlns:a16="http://schemas.microsoft.com/office/drawing/2014/main" id="{9C13B962-60D9-4D2E-A2E3-F276813F7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0B93E-E0C5-424E-99A9-DD2BF170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10325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1F058C-CCF9-4146-9438-579AA217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038BCE-EBC7-4E1F-9BAF-F93ACB33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EBCAAC-9355-45A1-9103-16A8D09EA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95700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C3C29"/>
                </a:solidFill>
              </a:defRPr>
            </a:pPr>
            <a:r>
              <a:rPr sz="1800" b="1">
                <a:solidFill>
                  <a:srgbClr val="BC3C29"/>
                </a:solidFill>
              </a:rPr>
              <a:t>辨識咳血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A8044F-CB17-4BBD-9991-BE61003FF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2152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嚴重度與來源仍未完成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8807A-44A4-4324-B297-2B56AB83A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E8379A-93D6-46C5-9F37-BE47510F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E29C6B-C653-4E3B-B92C-B28EE79D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695700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F99AD"/>
                </a:solidFill>
              </a:defRPr>
            </a:pPr>
            <a:r>
              <a:rPr sz="1800" b="1">
                <a:solidFill>
                  <a:srgbClr val="6F99AD"/>
                </a:solidFill>
              </a:rPr>
              <a:t>採樣未確診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25B1BB-DB57-4E37-8646-94095812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400550"/>
            <a:ext cx="2152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肺部腫塊仍未解決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FEECEE-32DA-4E34-8BC2-260AC1D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91B638-BBE1-475E-A188-C3787847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5E0A9D-61D2-4A29-83BD-B10B1C3A3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695700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0854E"/>
                </a:solidFill>
              </a:defRPr>
            </a:pPr>
            <a:r>
              <a:rPr sz="1800" b="1">
                <a:solidFill>
                  <a:srgbClr val="20854E"/>
                </a:solidFill>
              </a:rPr>
              <a:t>BAE 控制出血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899C1D-9A2F-42CE-9CC9-ABB779E5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400550"/>
            <a:ext cx="2152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急性危險改善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8F5FD8-BABE-48BA-AA53-43632C0A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72415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C01C3C-5472-43DA-B9B8-88BA8ED7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88607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655F17-6D6E-480F-A785-18FA5B24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695700"/>
            <a:ext cx="2152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18727"/>
                </a:solidFill>
              </a:defRPr>
            </a:pPr>
            <a:r>
              <a:rPr sz="1800" b="1">
                <a:solidFill>
                  <a:srgbClr val="E18727"/>
                </a:solidFill>
              </a:rPr>
              <a:t>診斷提前結案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AE67B5-68C9-458A-9CD0-53EB2FC8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00550"/>
            <a:ext cx="21526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F6368"/>
                </a:solidFill>
              </a:defRPr>
            </a:pPr>
            <a:r>
              <a:rPr sz="1650" b="0">
                <a:solidFill>
                  <a:srgbClr val="5F6368"/>
                </a:solidFill>
              </a:rPr>
              <a:t>未解決腫塊失去追蹤負責人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3267F7-814F-4CAC-86BA-AC44E9FBE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600200"/>
            <a:ext cx="304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22E234-5FF5-47FE-B637-6221A4759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733550"/>
            <a:ext cx="2705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18727"/>
                </a:solidFill>
              </a:defRPr>
            </a:pPr>
            <a:r>
              <a:rPr sz="1650" b="1">
                <a:solidFill>
                  <a:srgbClr val="E18727"/>
                </a:solidFill>
              </a:rPr>
              <a:t>誰負責未完成的</a:t>
            </a:r>
          </a:p>
          <a:p xmlns:a="http://schemas.openxmlformats.org/drawingml/2006/main">
            <a:pPr algn="ctr">
              <a:defRPr sz="1650" b="1">
                <a:solidFill>
                  <a:srgbClr val="E18727"/>
                </a:solidFill>
              </a:defRPr>
            </a:pPr>
            <a:r>
              <a:rPr sz="1650" b="1">
                <a:solidFill>
                  <a:srgbClr val="E18727"/>
                </a:solidFill>
              </a:rPr>
              <a:t>病因診斷？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19E5EC-C18E-41FE-BB45-12E7E988C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619750"/>
            <a:ext cx="8724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2124"/>
                </a:solidFill>
              </a:defRPr>
            </a:pPr>
            <a:r>
              <a:rPr sz="1875" b="1">
                <a:solidFill>
                  <a:srgbClr val="202124"/>
                </a:solidFill>
              </a:rPr>
              <a:t>問當時知道什麼，也問不確定性為何消失。</a:t>
            </a:r>
          </a:p>
        </p:txBody>
      </p:sp>
    </p:spTree>
    <p:extLst>
      <p:ext uri="{BB962C8B-B14F-4D97-AF65-F5344CB8AC3E}">
        <p14:creationId xmlns:p14="http://schemas.microsoft.com/office/powerpoint/2010/main" val="13308794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71D6BA-8088-493A-B6B3-3EDD7043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19">
            <a:extLst xmlns:a="http://schemas.openxmlformats.org/drawingml/2006/main">
              <a:ext uri="{FF2B5EF4-FFF2-40B4-BE49-F238E27FC236}">
                <a16:creationId xmlns:a16="http://schemas.microsoft.com/office/drawing/2014/main" id="{F20092FE-726F-4E33-8FD6-1D871EDF5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預防組合</a:t>
            </a:r>
          </a:p>
        </p:txBody>
      </p:sp>
      <p:sp>
        <p:nvSpPr>
          <p:cNvPr id="3" name="title-19">
            <a:extLst xmlns:a="http://schemas.openxmlformats.org/drawingml/2006/main">
              <a:ext uri="{FF2B5EF4-FFF2-40B4-BE49-F238E27FC236}">
                <a16:creationId xmlns:a16="http://schemas.microsoft.com/office/drawing/2014/main" id="{14B0F370-44AB-49B2-B2BE-3A82514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預防需要負責人與明確期限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45699-4C7D-4441-9FA1-C13C1210E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52ED7-86B1-4220-9F9B-11711A101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19">
            <a:extLst xmlns:a="http://schemas.openxmlformats.org/drawingml/2006/main">
              <a:ext uri="{FF2B5EF4-FFF2-40B4-BE49-F238E27FC236}">
                <a16:creationId xmlns:a16="http://schemas.microsoft.com/office/drawing/2014/main" id="{E37ADC68-C8F8-487E-A5F2-2513AE1E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咳血合併肺部腫塊｜可編輯 M&amp;M 簡報</a:t>
            </a:r>
          </a:p>
        </p:txBody>
      </p:sp>
      <p:sp>
        <p:nvSpPr>
          <p:cNvPr id="7" name="page-19">
            <a:extLst xmlns:a="http://schemas.openxmlformats.org/drawingml/2006/main">
              <a:ext uri="{FF2B5EF4-FFF2-40B4-BE49-F238E27FC236}">
                <a16:creationId xmlns:a16="http://schemas.microsoft.com/office/drawing/2014/main" id="{CCEB4DB0-763D-41BE-8EAC-CC383569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3C7524-1A33-4A8B-8C48-BC43796F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718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8EF2BB-21AC-4622-AEEC-E439B51C4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718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1123D9-8854-44AA-B189-43D026AED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71800"/>
            <a:ext cx="704850" cy="3619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solidFill>
              <a:srgbClr val="D9DEE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89675F-6F2C-4E2E-AAA3-099AA7B9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72B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5D95E6-33AF-4544-BB10-4AA1BFD1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9DE7447-E11D-492C-9C8D-A680A8FAD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75DAF-48A4-4D90-8FD1-7E2D5C85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2038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0072B5"/>
                </a:solidFill>
              </a:defRPr>
            </a:pPr>
            <a:r>
              <a:rPr sz="1875" b="1">
                <a:solidFill>
                  <a:srgbClr val="0072B5"/>
                </a:solidFill>
              </a:rPr>
              <a:t>診斷負責人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0DCAEC-FD42-4E2C-9584-24516AF5A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20383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由一位臨床醫師負責未完成診斷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036CEE-8DFD-49D4-B978-AC4462B6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6F99A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9238B1-FE83-4FB4-A645-152A6B809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F99AD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5BADA1-69A0-410D-B5E4-BAD811EB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96F96EA-4DC6-4692-8949-D883ED86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533650"/>
            <a:ext cx="2038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6F99AD"/>
                </a:solidFill>
              </a:defRPr>
            </a:pPr>
            <a:r>
              <a:rPr sz="1875" b="1">
                <a:solidFill>
                  <a:srgbClr val="6F99AD"/>
                </a:solidFill>
              </a:rPr>
              <a:t>明確標的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FC6AC1-19FF-4572-BB18-57421CB82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71850"/>
            <a:ext cx="20383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命名病灶、呼吸道、淋巴結或血管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387799-D4BE-4DB4-B6C0-970CF8E4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0854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7F8B9C-E2EF-4ACC-9EFE-C63A373B8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0854E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F5678C-27F8-47EA-A1D2-60C9ED72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F31835-A2AF-4ED4-8FDF-25750585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3650"/>
            <a:ext cx="2038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0854E"/>
                </a:solidFill>
              </a:defRPr>
            </a:pPr>
            <a:r>
              <a:rPr sz="1875" b="1">
                <a:solidFill>
                  <a:srgbClr val="20854E"/>
                </a:solidFill>
              </a:rPr>
              <a:t>檢體計畫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C79AA9-6129-4A70-9C10-C2EB0888E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71850"/>
            <a:ext cx="20383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事先分配病理與微生物檢體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528E2F-89D4-4522-829D-1E5C32072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924050"/>
            <a:ext cx="2381250" cy="3181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1872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91B06FE-B539-4422-8F99-C4246B4E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562100"/>
            <a:ext cx="666750" cy="666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6F9351-29A1-492C-BEC4-B13968A2D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24025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BE375C-591A-4FAC-BB88-68930917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33650"/>
            <a:ext cx="20383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E18727"/>
                </a:solidFill>
              </a:defRPr>
            </a:pPr>
            <a:r>
              <a:rPr sz="1875" b="1">
                <a:solidFill>
                  <a:srgbClr val="E18727"/>
                </a:solidFill>
              </a:rPr>
              <a:t>明確期限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0184053-E169-4385-BB28-A0790C39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71850"/>
            <a:ext cx="20383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設定下一次檢查與升級條件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D54F8F-06A0-4609-8F0C-7ACA0AECA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619750"/>
            <a:ext cx="624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BC3C29"/>
                </a:solidFill>
              </a:defRPr>
            </a:pPr>
            <a:r>
              <a:rPr sz="2025" b="1">
                <a:solidFill>
                  <a:srgbClr val="BC3C29"/>
                </a:solidFill>
              </a:rPr>
              <a:t>把「病因未解決」列為 active problem。</a:t>
            </a:r>
          </a:p>
        </p:txBody>
      </p:sp>
    </p:spTree>
    <p:extLst>
      <p:ext uri="{BB962C8B-B14F-4D97-AF65-F5344CB8AC3E}">
        <p14:creationId xmlns:p14="http://schemas.microsoft.com/office/powerpoint/2010/main" val="144117680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CA1AAF-C86D-4B76-9F4E-34D05AFB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label-20">
            <a:extLst xmlns:a="http://schemas.openxmlformats.org/drawingml/2006/main">
              <a:ext uri="{FF2B5EF4-FFF2-40B4-BE49-F238E27FC236}">
                <a16:creationId xmlns:a16="http://schemas.microsoft.com/office/drawing/2014/main" id="{D23916E5-3AC8-4E6B-A169-BFE7FA81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7145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6F99AD"/>
                </a:solidFill>
              </a:defRPr>
            </a:pPr>
            <a:r>
              <a:rPr sz="825" b="1">
                <a:solidFill>
                  <a:srgbClr val="6F99AD"/>
                </a:solidFill>
              </a:rPr>
              <a:t>重點結論</a:t>
            </a:r>
          </a:p>
        </p:txBody>
      </p:sp>
      <p:sp>
        <p:nvSpPr>
          <p:cNvPr id="3" name="title-20">
            <a:extLst xmlns:a="http://schemas.openxmlformats.org/drawingml/2006/main">
              <a:ext uri="{FF2B5EF4-FFF2-40B4-BE49-F238E27FC236}">
                <a16:creationId xmlns:a16="http://schemas.microsoft.com/office/drawing/2014/main" id="{AE9DECAF-808A-4BCC-8860-FF3413DF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4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202124"/>
                </a:solidFill>
              </a:defRPr>
            </a:pPr>
            <a:r>
              <a:rPr sz="3000" b="1">
                <a:solidFill>
                  <a:srgbClr val="202124"/>
                </a:solidFill>
              </a:rPr>
              <a:t>控制出血，完成病因診斷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F3F97E-3013-4E6A-8F6A-B1CB1F92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1920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B59908-EDB5-4A9E-A26B-F3CE359B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DEE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20">
            <a:extLst xmlns:a="http://schemas.openxmlformats.org/drawingml/2006/main">
              <a:ext uri="{FF2B5EF4-FFF2-40B4-BE49-F238E27FC236}">
                <a16:creationId xmlns:a16="http://schemas.microsoft.com/office/drawing/2014/main" id="{ED983D62-039A-4D43-BA1A-C4B8F35B5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93345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B9298"/>
                </a:solidFill>
              </a:defRPr>
            </a:pPr>
            <a:r>
              <a:rPr sz="750" b="0">
                <a:solidFill>
                  <a:srgbClr val="8B9298"/>
                </a:solidFill>
              </a:rPr>
              <a:t>Educational synthesis; patient-specific decisions require multidisciplinary judgment.</a:t>
            </a:r>
          </a:p>
        </p:txBody>
      </p:sp>
      <p:sp>
        <p:nvSpPr>
          <p:cNvPr id="7" name="page-20">
            <a:extLst xmlns:a="http://schemas.openxmlformats.org/drawingml/2006/main">
              <a:ext uri="{FF2B5EF4-FFF2-40B4-BE49-F238E27FC236}">
                <a16:creationId xmlns:a16="http://schemas.microsoft.com/office/drawing/2014/main" id="{46487DFD-29B5-4F61-B6C2-564235C1E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486525"/>
            <a:ext cx="609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5F6368"/>
                </a:solidFill>
              </a:defRPr>
            </a:pPr>
            <a:r>
              <a:rPr sz="900" b="1">
                <a:solidFill>
                  <a:srgbClr val="5F6368"/>
                </a:solidFill>
              </a:rPr>
              <a:t>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4D85C9-6B93-41A8-AEFC-C74815B0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002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3C2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B74B2-25D9-4D48-93DE-086E0EB49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621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9160D-FA91-40E0-B52A-32904B4E9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811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C3C29"/>
                </a:solidFill>
              </a:defRPr>
            </a:pPr>
            <a:r>
              <a:rPr sz="2025" b="1">
                <a:solidFill>
                  <a:srgbClr val="BC3C29"/>
                </a:solidFill>
              </a:rPr>
              <a:t>依生理狀態控制出血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FEF71B-0575-4201-9AF5-70BFB22D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076450"/>
            <a:ext cx="8953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呼吸道、氣體交換、血流動力、變化趨勢與心肺儲備決定急迫性。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8A9988-8F48-4D22-8485-7F245E867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1872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867258-8433-4379-BDA9-5A5D8528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6227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96F35C-D0BF-4BD5-AA40-1C56DAF86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78130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18727"/>
                </a:solidFill>
              </a:defRPr>
            </a:pPr>
            <a:r>
              <a:rPr sz="2025" b="1">
                <a:solidFill>
                  <a:srgbClr val="E18727"/>
                </a:solidFill>
              </a:rPr>
              <a:t>誠實標記處置結果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E2B10A-29D3-46AB-8DFF-FFEBF1293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276600"/>
            <a:ext cx="8953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血液、壞死、異型與非特異性發炎都是 nondiagnostic，不是 benign。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1EE828F-A5CE-46A8-A425-A065DF7FF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685800" cy="685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2B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0F6AC9-80CA-4233-B349-B02C33DD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62425"/>
            <a:ext cx="685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AB69F2-B4C7-4375-B667-0C112919A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981450"/>
            <a:ext cx="4476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072B5"/>
                </a:solidFill>
              </a:defRPr>
            </a:pPr>
            <a:r>
              <a:rPr sz="2025" b="1">
                <a:solidFill>
                  <a:srgbClr val="0072B5"/>
                </a:solidFill>
              </a:rPr>
              <a:t>完成基礎病因診斷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C2682C-2DE5-49DD-8E55-FD594A19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476750"/>
            <a:ext cx="8953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02124"/>
                </a:solidFill>
              </a:defRPr>
            </a:pPr>
            <a:r>
              <a:rPr sz="1725" b="0">
                <a:solidFill>
                  <a:srgbClr val="202124"/>
                </a:solidFill>
              </a:rPr>
              <a:t>BAE 創造診斷時間窗；接著要選更好的標的、路徑、檢體計畫與負責人。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8F6BDE-1444-4A02-BD13-52864E9F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668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7F8"/>
          </a:solidFill>
          <a:ln xmlns:a="http://schemas.openxmlformats.org/drawingml/2006/main" w="9525">
            <a:solidFill>
              <a:srgbClr val="D9DEE3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D87766-04F0-4C45-B7A5-38FF7ECAD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67350"/>
            <a:ext cx="1024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主要來源：AAFP 2022 • ACR Hemoptysis • CIRSE 2022 • ATS/ACCP 2024 • JAMA 2022 • Chen 2022</a:t>
            </a:r>
          </a:p>
          <a:p xmlns:a="http://schemas.openxmlformats.org/drawingml/2006/main">
            <a:pPr algn="ct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範圍提醒：pulmonary nodule 的追蹤門檻不能直接套用到 &gt;3 cm 的 lung mass。</a:t>
            </a:r>
          </a:p>
        </p:txBody>
      </p:sp>
    </p:spTree>
    <p:extLst>
      <p:ext uri="{BB962C8B-B14F-4D97-AF65-F5344CB8AC3E}">
        <p14:creationId xmlns:p14="http://schemas.microsoft.com/office/powerpoint/2010/main" val="42822247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2026-07-19T08:25:17.6320000Z</dcterms:created>
  <dcterms:modified xsi:type="dcterms:W3CDTF">2026-07-19T08:25:17.6320000Z</dcterms:modified>
</coreProperties>
</file>