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395b118f4483c" /><Relationship Type="http://schemas.openxmlformats.org/officeDocument/2006/relationships/extended-properties" Target="/docProps/app.xml" Id="Rd133460d61b54931" /><Relationship Type="http://schemas.openxmlformats.org/officeDocument/2006/relationships/officeDocument" Target="/ppt/presentation.xml" Id="R46e1e1ad7ca3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4a4bef5f74518"/>
  </p:sldMasterIdLst>
  <p:notesMasterIdLst>
    <p:notesMasterId xmlns:r="http://schemas.openxmlformats.org/officeDocument/2006/relationships" r:id="Rcde1c11b318c44c3"/>
  </p:notesMasterIdLst>
  <p:sldIdLst>
    <p:sldId xmlns:r="http://schemas.openxmlformats.org/officeDocument/2006/relationships" id="256" r:id="R3539e22f55954aab"/>
    <p:sldId xmlns:r="http://schemas.openxmlformats.org/officeDocument/2006/relationships" id="257" r:id="Rb18a20fc6a284041"/>
    <p:sldId xmlns:r="http://schemas.openxmlformats.org/officeDocument/2006/relationships" id="258" r:id="Rd74d4491b5de4e19"/>
    <p:sldId xmlns:r="http://schemas.openxmlformats.org/officeDocument/2006/relationships" id="259" r:id="R192b115a103046e0"/>
    <p:sldId xmlns:r="http://schemas.openxmlformats.org/officeDocument/2006/relationships" id="260" r:id="Ra27695351e7e4c92"/>
    <p:sldId xmlns:r="http://schemas.openxmlformats.org/officeDocument/2006/relationships" id="261" r:id="R6e2b3c7a308146ce"/>
    <p:sldId xmlns:r="http://schemas.openxmlformats.org/officeDocument/2006/relationships" id="262" r:id="R42b896b32e0f41bb"/>
    <p:sldId xmlns:r="http://schemas.openxmlformats.org/officeDocument/2006/relationships" id="263" r:id="Rbcbcd9ca53da41c9"/>
    <p:sldId xmlns:r="http://schemas.openxmlformats.org/officeDocument/2006/relationships" id="264" r:id="Rccf337771b084625"/>
    <p:sldId xmlns:r="http://schemas.openxmlformats.org/officeDocument/2006/relationships" id="265" r:id="R353a55bc62764ffb"/>
    <p:sldId xmlns:r="http://schemas.openxmlformats.org/officeDocument/2006/relationships" id="266" r:id="R15ce0147dc824371"/>
    <p:sldId xmlns:r="http://schemas.openxmlformats.org/officeDocument/2006/relationships" id="267" r:id="R6ac5bca9c7ab4a20"/>
    <p:sldId xmlns:r="http://schemas.openxmlformats.org/officeDocument/2006/relationships" id="268" r:id="R600569a07d634d66"/>
    <p:sldId xmlns:r="http://schemas.openxmlformats.org/officeDocument/2006/relationships" id="269" r:id="R1dda0a85a9e84a76"/>
    <p:sldId xmlns:r="http://schemas.openxmlformats.org/officeDocument/2006/relationships" id="270" r:id="R52b7d0efc43649d4"/>
    <p:sldId xmlns:r="http://schemas.openxmlformats.org/officeDocument/2006/relationships" id="271" r:id="Re504c3d0acb44864"/>
    <p:sldId xmlns:r="http://schemas.openxmlformats.org/officeDocument/2006/relationships" id="272" r:id="Rf1e65f9be50c4d24"/>
    <p:sldId xmlns:r="http://schemas.openxmlformats.org/officeDocument/2006/relationships" id="273" r:id="R9e019398e037477a"/>
    <p:sldId xmlns:r="http://schemas.openxmlformats.org/officeDocument/2006/relationships" id="274" r:id="R51d341e49bed4ae7"/>
    <p:sldId xmlns:r="http://schemas.openxmlformats.org/officeDocument/2006/relationships" id="275" r:id="Rbcf72ea1529f44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281ecdde7402c" /><Relationship Type="http://schemas.openxmlformats.org/officeDocument/2006/relationships/slideMaster" Target="/ppt/slideMasters/slideMaster1.xml" Id="R0254a4bef5f74518" /><Relationship Type="http://schemas.openxmlformats.org/officeDocument/2006/relationships/notesMaster" Target="/ppt/notesMasters/notesMaster1.xml" Id="Rcde1c11b318c44c3" /><Relationship Type="http://schemas.openxmlformats.org/officeDocument/2006/relationships/presProps" Target="/ppt/presProps.xml" Id="R3a4c06f46a2246fc" /><Relationship Type="http://schemas.openxmlformats.org/officeDocument/2006/relationships/tableStyles" Target="/ppt/tableStyles.xml" Id="R654eedda42fb4426" /><Relationship Type="http://schemas.openxmlformats.org/officeDocument/2006/relationships/slide" Target="/ppt/slides/slide1.xml" Id="R3539e22f55954aab" /><Relationship Type="http://schemas.openxmlformats.org/officeDocument/2006/relationships/slide" Target="/ppt/slides/slide2.xml" Id="Rb18a20fc6a284041" /><Relationship Type="http://schemas.openxmlformats.org/officeDocument/2006/relationships/slide" Target="/ppt/slides/slide3.xml" Id="Rd74d4491b5de4e19" /><Relationship Type="http://schemas.openxmlformats.org/officeDocument/2006/relationships/slide" Target="/ppt/slides/slide4.xml" Id="R192b115a103046e0" /><Relationship Type="http://schemas.openxmlformats.org/officeDocument/2006/relationships/slide" Target="/ppt/slides/slide5.xml" Id="Ra27695351e7e4c92" /><Relationship Type="http://schemas.openxmlformats.org/officeDocument/2006/relationships/slide" Target="/ppt/slides/slide6.xml" Id="R6e2b3c7a308146ce" /><Relationship Type="http://schemas.openxmlformats.org/officeDocument/2006/relationships/slide" Target="/ppt/slides/slide7.xml" Id="R42b896b32e0f41bb" /><Relationship Type="http://schemas.openxmlformats.org/officeDocument/2006/relationships/slide" Target="/ppt/slides/slide8.xml" Id="Rbcbcd9ca53da41c9" /><Relationship Type="http://schemas.openxmlformats.org/officeDocument/2006/relationships/slide" Target="/ppt/slides/slide9.xml" Id="Rccf337771b084625" /><Relationship Type="http://schemas.openxmlformats.org/officeDocument/2006/relationships/slide" Target="/ppt/slides/slide10.xml" Id="R353a55bc62764ffb" /><Relationship Type="http://schemas.openxmlformats.org/officeDocument/2006/relationships/slide" Target="/ppt/slides/slide11.xml" Id="R15ce0147dc824371" /><Relationship Type="http://schemas.openxmlformats.org/officeDocument/2006/relationships/slide" Target="/ppt/slides/slide12.xml" Id="R6ac5bca9c7ab4a20" /><Relationship Type="http://schemas.openxmlformats.org/officeDocument/2006/relationships/slide" Target="/ppt/slides/slide13.xml" Id="R600569a07d634d66" /><Relationship Type="http://schemas.openxmlformats.org/officeDocument/2006/relationships/slide" Target="/ppt/slides/slide14.xml" Id="R1dda0a85a9e84a76" /><Relationship Type="http://schemas.openxmlformats.org/officeDocument/2006/relationships/slide" Target="/ppt/slides/slide15.xml" Id="R52b7d0efc43649d4" /><Relationship Type="http://schemas.openxmlformats.org/officeDocument/2006/relationships/slide" Target="/ppt/slides/slide16.xml" Id="Re504c3d0acb44864" /><Relationship Type="http://schemas.openxmlformats.org/officeDocument/2006/relationships/slide" Target="/ppt/slides/slide17.xml" Id="Rf1e65f9be50c4d24" /><Relationship Type="http://schemas.openxmlformats.org/officeDocument/2006/relationships/slide" Target="/ppt/slides/slide18.xml" Id="R9e019398e037477a" /><Relationship Type="http://schemas.openxmlformats.org/officeDocument/2006/relationships/slide" Target="/ppt/slides/slide19.xml" Id="R51d341e49bed4ae7" /><Relationship Type="http://schemas.openxmlformats.org/officeDocument/2006/relationships/slide" Target="/ppt/slides/slide20.xml" Id="Rbcf72ea1529f44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60214986fa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09e9d485d4842" /><Relationship Type="http://schemas.openxmlformats.org/officeDocument/2006/relationships/notesMaster" Target="/ppt/notesMasters/notesMaster1.xml" Id="R1c2205e95de1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03bd1c8ec94064" /><Relationship Type="http://schemas.openxmlformats.org/officeDocument/2006/relationships/notesMaster" Target="/ppt/notesMasters/notesMaster1.xml" Id="R874a127a2b914a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e8b449fd934a7c" /><Relationship Type="http://schemas.openxmlformats.org/officeDocument/2006/relationships/notesMaster" Target="/ppt/notesMasters/notesMaster1.xml" Id="R96a536dc5b7949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e783211954d3f" /><Relationship Type="http://schemas.openxmlformats.org/officeDocument/2006/relationships/notesMaster" Target="/ppt/notesMasters/notesMaster1.xml" Id="R19051ff5ebd842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1aed5b96f4eb3" /><Relationship Type="http://schemas.openxmlformats.org/officeDocument/2006/relationships/notesMaster" Target="/ppt/notesMasters/notesMaster1.xml" Id="R1f26b0ee592841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4eed44cb8549a2" /><Relationship Type="http://schemas.openxmlformats.org/officeDocument/2006/relationships/notesMaster" Target="/ppt/notesMasters/notesMaster1.xml" Id="R4cca757d5307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899d0812424bdf" /><Relationship Type="http://schemas.openxmlformats.org/officeDocument/2006/relationships/notesMaster" Target="/ppt/notesMasters/notesMaster1.xml" Id="R35ce5e80f1a540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ce00c4a2194120" /><Relationship Type="http://schemas.openxmlformats.org/officeDocument/2006/relationships/notesMaster" Target="/ppt/notesMasters/notesMaster1.xml" Id="R34b9a6a600bc43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3fb78fe536493b" /><Relationship Type="http://schemas.openxmlformats.org/officeDocument/2006/relationships/notesMaster" Target="/ppt/notesMasters/notesMaster1.xml" Id="Ra810c4245b5f48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5fc881a1a3408f" /><Relationship Type="http://schemas.openxmlformats.org/officeDocument/2006/relationships/notesMaster" Target="/ppt/notesMasters/notesMaster1.xml" Id="Rffeae01a8f124e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1c1d36d7be4ec2" /><Relationship Type="http://schemas.openxmlformats.org/officeDocument/2006/relationships/notesMaster" Target="/ppt/notesMasters/notesMaster1.xml" Id="R82968dbe9e6d4e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53cb8dea7447dc" /><Relationship Type="http://schemas.openxmlformats.org/officeDocument/2006/relationships/notesMaster" Target="/ppt/notesMasters/notesMaster1.xml" Id="R8f7af8e2ed4e4e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98795a5659457d" /><Relationship Type="http://schemas.openxmlformats.org/officeDocument/2006/relationships/notesMaster" Target="/ppt/notesMasters/notesMaster1.xml" Id="R8ddc1eec542d4a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78293eb36a453a" /><Relationship Type="http://schemas.openxmlformats.org/officeDocument/2006/relationships/notesMaster" Target="/ppt/notesMasters/notesMaster1.xml" Id="R6840fa48e3e149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2dd6230d9546ed" /><Relationship Type="http://schemas.openxmlformats.org/officeDocument/2006/relationships/notesMaster" Target="/ppt/notesMasters/notesMaster1.xml" Id="R43474e0aa0644b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3a0be3072a4419" /><Relationship Type="http://schemas.openxmlformats.org/officeDocument/2006/relationships/notesMaster" Target="/ppt/notesMasters/notesMaster1.xml" Id="Rc91923681da14e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a5584c28ed4fcb" /><Relationship Type="http://schemas.openxmlformats.org/officeDocument/2006/relationships/notesMaster" Target="/ppt/notesMasters/notesMaster1.xml" Id="R8ecf7814485842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ddf33a66a7463b" /><Relationship Type="http://schemas.openxmlformats.org/officeDocument/2006/relationships/notesMaster" Target="/ppt/notesMasters/notesMaster1.xml" Id="Rad106165577d4e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a17452dc1040cb" /><Relationship Type="http://schemas.openxmlformats.org/officeDocument/2006/relationships/notesMaster" Target="/ppt/notesMasters/notesMaster1.xml" Id="Recbd92ef910746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afd95de09849f8" /><Relationship Type="http://schemas.openxmlformats.org/officeDocument/2006/relationships/notesMaster" Target="/ppt/notesMasters/notesMaster1.xml" Id="R481f8bfd622a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d63c3bafd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39810ab4a4cd0" /><Relationship Type="http://schemas.openxmlformats.org/officeDocument/2006/relationships/slideLayout" Target="/ppt/slideLayouts/slideLayout1.xml" Id="Rd2cf15f388c7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f15f388c7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84e737b424b9b" /><Relationship Type="http://schemas.openxmlformats.org/officeDocument/2006/relationships/notesSlide" Target="/ppt/notesSlides/notesSlide1.xml" Id="Rcca876d94f4646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967ccc6264510" /><Relationship Type="http://schemas.openxmlformats.org/officeDocument/2006/relationships/notesSlide" Target="/ppt/notesSlides/notesSlide2.xml" Id="Rd2162721b54b47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c5cd4efc464e" /><Relationship Type="http://schemas.openxmlformats.org/officeDocument/2006/relationships/notesSlide" Target="/ppt/notesSlides/notesSlide3.xml" Id="R5634b7c3b43946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cc00e3d6446a" /><Relationship Type="http://schemas.openxmlformats.org/officeDocument/2006/relationships/notesSlide" Target="/ppt/notesSlides/notesSlide4.xml" Id="Ra2984c239d144a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544ddc0b04af1" /><Relationship Type="http://schemas.openxmlformats.org/officeDocument/2006/relationships/notesSlide" Target="/ppt/notesSlides/notesSlide5.xml" Id="R933dc3480cb2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f2e254d0d4840" /><Relationship Type="http://schemas.openxmlformats.org/officeDocument/2006/relationships/notesSlide" Target="/ppt/notesSlides/notesSlide6.xml" Id="R878c44bd49844d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9f25baeb14840" /><Relationship Type="http://schemas.openxmlformats.org/officeDocument/2006/relationships/notesSlide" Target="/ppt/notesSlides/notesSlide7.xml" Id="R7169fdaf1b9d45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11a6ced05430b" /><Relationship Type="http://schemas.openxmlformats.org/officeDocument/2006/relationships/notesSlide" Target="/ppt/notesSlides/notesSlide8.xml" Id="Rde654d6c4e7945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47fbc4ff94261" /><Relationship Type="http://schemas.openxmlformats.org/officeDocument/2006/relationships/notesSlide" Target="/ppt/notesSlides/notesSlide9.xml" Id="Rb5e437c7f69a45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bdca4e0f14f24" /><Relationship Type="http://schemas.openxmlformats.org/officeDocument/2006/relationships/notesSlide" Target="/ppt/notesSlides/notesSlide10.xml" Id="R46ddbcb312b041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b273aa05c495e" /><Relationship Type="http://schemas.openxmlformats.org/officeDocument/2006/relationships/notesSlide" Target="/ppt/notesSlides/notesSlide11.xml" Id="R15ff97e5a7c041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d77e613a041d0" /><Relationship Type="http://schemas.openxmlformats.org/officeDocument/2006/relationships/notesSlide" Target="/ppt/notesSlides/notesSlide12.xml" Id="Re85097d15a7740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d9d86ed2343d5" /><Relationship Type="http://schemas.openxmlformats.org/officeDocument/2006/relationships/notesSlide" Target="/ppt/notesSlides/notesSlide13.xml" Id="Rdad4c37b43a445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101262944c25" /><Relationship Type="http://schemas.openxmlformats.org/officeDocument/2006/relationships/notesSlide" Target="/ppt/notesSlides/notesSlide14.xml" Id="R5ae8b29a794340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fc352142f4c5c" /><Relationship Type="http://schemas.openxmlformats.org/officeDocument/2006/relationships/notesSlide" Target="/ppt/notesSlides/notesSlide15.xml" Id="Rdbaf19dfdef44a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d794edc7d4f4b" /><Relationship Type="http://schemas.openxmlformats.org/officeDocument/2006/relationships/notesSlide" Target="/ppt/notesSlides/notesSlide16.xml" Id="Rf77e7f533e5043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07946556444ca" /><Relationship Type="http://schemas.openxmlformats.org/officeDocument/2006/relationships/notesSlide" Target="/ppt/notesSlides/notesSlide17.xml" Id="R828aea7a2abc43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286e7a00f4e3f" /><Relationship Type="http://schemas.openxmlformats.org/officeDocument/2006/relationships/notesSlide" Target="/ppt/notesSlides/notesSlide18.xml" Id="R556369eedaa544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360fa68734161" /><Relationship Type="http://schemas.openxmlformats.org/officeDocument/2006/relationships/notesSlide" Target="/ppt/notesSlides/notesSlide19.xml" Id="R655b8fb1409d4c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78451fb8e4087" /><Relationship Type="http://schemas.openxmlformats.org/officeDocument/2006/relationships/notesSlide" Target="/ppt/notesSlides/notesSlide20.xml" Id="Rd54487232fe54b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109E2-91BC-47A9-9D8E-CEAE4864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">
            <a:extLst xmlns:a="http://schemas.openxmlformats.org/drawingml/2006/main">
              <a:ext uri="{FF2B5EF4-FFF2-40B4-BE49-F238E27FC236}">
                <a16:creationId xmlns:a16="http://schemas.microsoft.com/office/drawing/2014/main" id="{C146ABFF-8AFA-47F7-BC01-52E32CC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封面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368C7-3396-4314-999D-2D97720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">
            <a:extLst xmlns:a="http://schemas.openxmlformats.org/drawingml/2006/main">
              <a:ext uri="{FF2B5EF4-FFF2-40B4-BE49-F238E27FC236}">
                <a16:creationId xmlns:a16="http://schemas.microsoft.com/office/drawing/2014/main" id="{EE59797C-F7D5-4E5A-B84E-A949688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咳血合併肺部腫塊｜可編輯 M&amp;M 簡報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7AAC7E71-7296-49CC-AD4F-EA0F9219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DBA8-0304-4916-80DC-26570774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2B5"/>
                </a:solidFill>
              </a:defRPr>
            </a:pPr>
            <a:r>
              <a:rPr sz="1050" b="1">
                <a:solidFill>
                  <a:srgbClr val="0072B5"/>
                </a:solidFill>
              </a:rPr>
              <a:t>M&amp;M 臨床回顧</a:t>
            </a:r>
          </a:p>
        </p:txBody>
      </p:sp>
      <p:sp>
        <p:nvSpPr>
          <p:cNvPr id="7" name="deck-title">
            <a:extLst xmlns:a="http://schemas.openxmlformats.org/drawingml/2006/main">
              <a:ext uri="{FF2B5EF4-FFF2-40B4-BE49-F238E27FC236}">
                <a16:creationId xmlns:a16="http://schemas.microsoft.com/office/drawing/2014/main" id="{8DD6FCA7-3B86-4593-AA3B-90A2960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02124"/>
                </a:solidFill>
              </a:defRPr>
            </a:pPr>
            <a:r>
              <a:rPr sz="4200" b="1">
                <a:solidFill>
                  <a:srgbClr val="202124"/>
                </a:solidFill>
              </a:rPr>
              <a:t>咳血合併肺部腫塊</a:t>
            </a:r>
          </a:p>
        </p:txBody>
      </p:sp>
      <p:sp>
        <p:nvSpPr>
          <p:cNvPr id="8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55C62D9-CEF4-41C5-B845-FAFBB012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</a:defRPr>
            </a:pPr>
            <a:r>
              <a:rPr sz="1875" b="0">
                <a:solidFill>
                  <a:srgbClr val="5F6368"/>
                </a:solidFill>
              </a:rPr>
              <a:t>止血成功，不等於診斷完成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40E58-ADD7-4DC6-817B-BED0692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57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E9EAC-90E4-49C1-A23C-FA1671E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2B5"/>
                </a:solidFill>
              </a:defRPr>
            </a:pPr>
            <a:r>
              <a:rPr sz="1350" b="1">
                <a:solidFill>
                  <a:srgbClr val="0072B5"/>
                </a:solidFill>
              </a:rPr>
              <a:t>嚴重度  •  定位  •  止血  •  病因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BA499-FEE1-4FD6-A236-3AD96227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2EB26-011D-4614-B83D-49CDFF2C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BA7BD-FEC4-4DCE-A80E-9BCD360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1FA17-12A6-4E0C-AFE9-A69B8949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193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54FD9-6ED9-4A30-9AFA-F3949E83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8607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3B81F-6287-4C33-A12C-FF6EB890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CA9EA-3B7A-461D-A957-CD324693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52825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565C3-6991-427F-A9E5-DF827405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61544-DD23-491F-AF08-1426449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9575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B1D54-21FE-489E-93BF-29177DD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可編輯雙語版本</a:t>
            </a:r>
          </a:p>
          <a:p xmlns:a="http://schemas.openxmlformats.org/drawingml/2006/main">
            <a:pPr algn="ctr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NEJM 衍生配色</a:t>
            </a:r>
          </a:p>
        </p:txBody>
      </p:sp>
    </p:spTree>
    <p:extLst>
      <p:ext uri="{BB962C8B-B14F-4D97-AF65-F5344CB8AC3E}">
        <p14:creationId xmlns:p14="http://schemas.microsoft.com/office/powerpoint/2010/main" val="2125881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67C15-5D0C-4463-901E-84ACC588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75F14F5F-9821-48F7-AB85-182CCF34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臨床架構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3DF29CE7-C853-4055-BB54-4ED2EC0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同一個病例，同時有四個尚未完成的問題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C3537-B0CF-4B37-8A1A-14AB8CE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E9E8A-5728-44D1-87D4-68422D0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2">
            <a:extLst xmlns:a="http://schemas.openxmlformats.org/drawingml/2006/main">
              <a:ext uri="{FF2B5EF4-FFF2-40B4-BE49-F238E27FC236}">
                <a16:creationId xmlns:a16="http://schemas.microsoft.com/office/drawing/2014/main" id="{7F21DF0C-F7B1-4C56-9DA4-C916E82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Expanded review synthesis; AAFP 2022; CIRSE 2022.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F5CC29D0-3342-489F-AE35-7F2D76BE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3DC1F-B6BF-4172-A276-374EDE1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F208-97DE-418C-96C8-C2EFDF0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C5374-3A01-445D-B964-AAC40CBF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嚴重度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F3725-7616-405F-8286-BFDB4FD0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81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病人是否正面臨呼吸道阻塞、氣體交換失敗或血流動力崩解？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2EFCF-2A2E-4D72-9C15-315989E0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1F79A-C41C-441F-87BC-7F7595EC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C90D1-B3ED-4E13-AFF6-16F11EC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6D1B7-A74A-48F2-B08A-7F33C6E6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99AD"/>
                </a:solidFill>
              </a:defRPr>
            </a:pPr>
            <a:r>
              <a:rPr sz="1800" b="1">
                <a:solidFill>
                  <a:srgbClr val="6F99AD"/>
                </a:solidFill>
              </a:rPr>
              <a:t>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29948-1975-489E-8DC9-B07B99ED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出血來自哪一側、哪個肺葉、哪個病灶與哪個血管床？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34642-C463-49A9-8F00-D1A83ABB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FB2AC-CDA6-4EBF-8A24-449BA538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A3D21-D82A-49CD-B6CA-2A60953A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E16C1-0E62-4B87-BA84-E8FF2EEF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止血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F3476-3FB5-4E01-83E7-2E22049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現在應以支氣管鏡、栓塞、手術或組合策略控制出血？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C7DD9-A924-4FBC-B345-A48CDB1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9F563-5B9F-47DD-BD2A-81B51C09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39B79-CA05-42F0-93D4-93E6F2A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E3C7D-19F2-4FBA-B261-062561D5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95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病因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37644-6B35-459D-A7D7-AE66B7D1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958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是哪個基礎疾病造成腫塊、空洞或異常血管迴路？</a:t>
            </a:r>
          </a:p>
        </p:txBody>
      </p:sp>
    </p:spTree>
    <p:extLst>
      <p:ext uri="{BB962C8B-B14F-4D97-AF65-F5344CB8AC3E}">
        <p14:creationId xmlns:p14="http://schemas.microsoft.com/office/powerpoint/2010/main" val="1672816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60DFF-91C2-4953-8601-FF8101FA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3">
            <a:extLst xmlns:a="http://schemas.openxmlformats.org/drawingml/2006/main">
              <a:ext uri="{FF2B5EF4-FFF2-40B4-BE49-F238E27FC236}">
                <a16:creationId xmlns:a16="http://schemas.microsoft.com/office/drawing/2014/main" id="{29968586-0D97-46D1-B38B-4711BF50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病例摘要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E0267F33-CC15-4D46-9123-CB20CB3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病例摘要：先定義病人，再定義病灶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C5D4C-B3B2-4A9B-8612-37B3995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DC1DE-2733-4838-BD3A-503BA5A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3">
            <a:extLst xmlns:a="http://schemas.openxmlformats.org/drawingml/2006/main">
              <a:ext uri="{FF2B5EF4-FFF2-40B4-BE49-F238E27FC236}">
                <a16:creationId xmlns:a16="http://schemas.microsoft.com/office/drawing/2014/main" id="{C61A033C-FFB0-47E0-BFE1-0229A83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咳血合併肺部腫塊｜可編輯 M&amp;M 簡報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2AE9F0B9-2DC0-4BA0-8A26-90EE9762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8C16-32E6-44DD-8E96-BF9F4D2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3827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41484-50E4-43C0-8720-D977841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859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請以實際病歷資料替換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C440-F804-4BDA-B28A-F61FEA81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2B5"/>
                </a:solidFill>
              </a:defRPr>
            </a:pPr>
            <a:r>
              <a:rPr sz="1275" b="1">
                <a:solidFill>
                  <a:srgbClr val="0072B5"/>
                </a:solidFill>
              </a:rPr>
              <a:t>年齡／性別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F89E6-22E9-4774-8469-8269F828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5F86C-3F89-495F-B7CC-DCFF70E9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[年齡／性別]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AAFA4-477D-419A-AA4A-65282E5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2B5"/>
                </a:solidFill>
              </a:defRPr>
            </a:pPr>
            <a:r>
              <a:rPr sz="1275" b="1">
                <a:solidFill>
                  <a:srgbClr val="0072B5"/>
                </a:solidFill>
              </a:rPr>
              <a:t>重要病史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953DE-9FDE-48B1-9988-F913314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ECE88-E0EC-420E-90AE-2D33DEE7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[吸菸、TB／NTM、癌症、抗凝治療、胸腔處置史]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D3F36-6222-47D6-8757-06DC6BA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2B5"/>
                </a:solidFill>
              </a:defRPr>
            </a:pPr>
            <a:r>
              <a:rPr sz="1275" b="1">
                <a:solidFill>
                  <a:srgbClr val="0072B5"/>
                </a:solidFill>
              </a:rPr>
              <a:t>主訴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031FF-2389-4076-AFA8-0549F72B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D8D6E-8FBD-407A-BF6F-A6DA2FF9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[咳血型態、持續時間、估計量與變化趨勢]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F3683-1CCB-4A55-AAD5-EE97E360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2B5"/>
                </a:solidFill>
              </a:defRPr>
            </a:pPr>
            <a:r>
              <a:rPr sz="1275" b="1">
                <a:solidFill>
                  <a:srgbClr val="0072B5"/>
                </a:solidFill>
              </a:rPr>
              <a:t>生理狀態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CE4BA-3D1B-450C-A636-C22BA1CC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B4DF4-7C4D-407E-BE5D-CF4BEBC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[呼吸道、氧氣需求、血流動力、血紅素變化]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766BD-B800-4C49-80DC-C26FAE2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2B5"/>
                </a:solidFill>
              </a:defRPr>
            </a:pPr>
            <a:r>
              <a:rPr sz="1275" b="1">
                <a:solidFill>
                  <a:srgbClr val="0072B5"/>
                </a:solidFill>
              </a:rPr>
              <a:t>影像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310E8-DC3F-4FDB-A21A-022065F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EDBB3-B04B-45D5-8B30-9E5C59FB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[腫塊／空洞位置、淋巴結、出血區、血管徵象]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E1EA8-6B1E-4F76-BFF0-5D6C168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2B5"/>
                </a:solidFill>
              </a:defRPr>
            </a:pPr>
            <a:r>
              <a:rPr sz="1275" b="1">
                <a:solidFill>
                  <a:srgbClr val="0072B5"/>
                </a:solidFill>
              </a:rPr>
              <a:t>目前診斷狀態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65AF3-FEF3-4D57-91B9-1C65A951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D4FBC-7BCC-490D-87D2-B2680E31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387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[特定惡性／特定良性／未解決的未確診腫塊]</a:t>
            </a:r>
          </a:p>
        </p:txBody>
      </p:sp>
    </p:spTree>
    <p:extLst>
      <p:ext uri="{BB962C8B-B14F-4D97-AF65-F5344CB8AC3E}">
        <p14:creationId xmlns:p14="http://schemas.microsoft.com/office/powerpoint/2010/main" val="1660879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2DD46-3B86-437E-B9D6-3412F7E9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4">
            <a:extLst xmlns:a="http://schemas.openxmlformats.org/drawingml/2006/main">
              <a:ext uri="{FF2B5EF4-FFF2-40B4-BE49-F238E27FC236}">
                <a16:creationId xmlns:a16="http://schemas.microsoft.com/office/drawing/2014/main" id="{4F57FBDC-BD19-4193-9CF0-E56412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病例時間軸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6D03F4A-E553-4A7B-94A2-A2259EF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時間軸要呈現不確定性在哪裡累積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C8820-40E4-411C-827C-309B469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92684-1960-42B6-836E-2447C75E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4">
            <a:extLst xmlns:a="http://schemas.openxmlformats.org/drawingml/2006/main">
              <a:ext uri="{FF2B5EF4-FFF2-40B4-BE49-F238E27FC236}">
                <a16:creationId xmlns:a16="http://schemas.microsoft.com/office/drawing/2014/main" id="{54B2D217-9465-4957-8E74-426981B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咳血合併肺部腫塊｜可編輯 M&amp;M 簡報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5D7A0086-A3E9-4E10-A8B8-0DC39F5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2A54B-6B56-48EE-B0B9-25A441F1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3827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7B4A7-211D-4250-A0FC-A5EB281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859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請以實際病歷資料替換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A0311-1917-4C68-B30C-CA27355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53E26-6673-4C41-9202-232A37A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BD4AE-368F-4B03-B0C8-32270389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0313D-384B-44AE-8D70-77FF0FC4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C3C29"/>
                </a:solidFill>
              </a:defRPr>
            </a:pPr>
            <a:r>
              <a:rPr sz="1500" b="1">
                <a:solidFill>
                  <a:srgbClr val="BC3C29"/>
                </a:solidFill>
              </a:rPr>
              <a:t>初次表現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647A0-9DCC-475A-A091-33210803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[出血生理狀態]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[CT 腫塊／空洞]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427A1-2DD2-47B1-B13B-17051F7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812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B9298"/>
                </a:solidFill>
              </a:defRPr>
            </a:pPr>
            <a:r>
              <a:rPr sz="900" b="0">
                <a:solidFill>
                  <a:srgbClr val="8B9298"/>
                </a:solidFill>
              </a:rPr>
              <a:t>當時已知什麼？</a:t>
            </a:r>
          </a:p>
          <a:p xmlns:a="http://schemas.openxmlformats.org/drawingml/2006/main">
            <a:pPr algn="ctr">
              <a:defRPr sz="900" b="0">
                <a:solidFill>
                  <a:srgbClr val="8B9298"/>
                </a:solidFill>
              </a:defRPr>
            </a:pPr>
            <a:r>
              <a:rPr sz="900" b="0">
                <a:solidFill>
                  <a:srgbClr val="8B9298"/>
                </a:solidFill>
              </a:rPr>
              <a:t>仍未知什麼？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26AED-A476-41C3-8A25-D81791D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AD70E-A6BF-4A7C-9EC8-6C30A73E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3AF2A-8884-4CDF-A3D5-4EFA285A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99AD"/>
                </a:solidFill>
              </a:defRPr>
            </a:pPr>
            <a:r>
              <a:rPr sz="1500" b="1">
                <a:solidFill>
                  <a:srgbClr val="6F99AD"/>
                </a:solidFill>
              </a:rPr>
              <a:t>第一次採樣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24C86-9187-4A1A-BCA4-CF06C81A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62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[標的＋路徑]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[病理原文]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D1CCF-3045-4C32-88B0-5F08FF0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3812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B9298"/>
                </a:solidFill>
              </a:defRPr>
            </a:pPr>
            <a:r>
              <a:rPr sz="900" b="0">
                <a:solidFill>
                  <a:srgbClr val="8B9298"/>
                </a:solidFill>
              </a:rPr>
              <a:t>當時已知什麼？</a:t>
            </a:r>
          </a:p>
          <a:p xmlns:a="http://schemas.openxmlformats.org/drawingml/2006/main">
            <a:pPr algn="ctr">
              <a:defRPr sz="900" b="0">
                <a:solidFill>
                  <a:srgbClr val="8B9298"/>
                </a:solidFill>
              </a:defRPr>
            </a:pPr>
            <a:r>
              <a:rPr sz="900" b="0">
                <a:solidFill>
                  <a:srgbClr val="8B9298"/>
                </a:solidFill>
              </a:rPr>
              <a:t>仍未知什麼？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2D837-2F81-4CB1-8BAE-C9028EBC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DCA7B-A02F-4C94-AD16-4CB1DC7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88816-0FD9-40F4-90C4-F8DCD2A0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18727"/>
                </a:solidFill>
              </a:defRPr>
            </a:pPr>
            <a:r>
              <a:rPr sz="1500" b="1">
                <a:solidFill>
                  <a:srgbClr val="E18727"/>
                </a:solidFill>
              </a:rPr>
              <a:t>復發／CTA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B51F0-F328-4EBF-834D-7327300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[影像變化]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[血管地圖]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B259-DD4C-4BE9-9F06-C045A01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812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B9298"/>
                </a:solidFill>
              </a:defRPr>
            </a:pPr>
            <a:r>
              <a:rPr sz="900" b="0">
                <a:solidFill>
                  <a:srgbClr val="8B9298"/>
                </a:solidFill>
              </a:rPr>
              <a:t>當時已知什麼？</a:t>
            </a:r>
          </a:p>
          <a:p xmlns:a="http://schemas.openxmlformats.org/drawingml/2006/main">
            <a:pPr algn="ctr">
              <a:defRPr sz="900" b="0">
                <a:solidFill>
                  <a:srgbClr val="8B9298"/>
                </a:solidFill>
              </a:defRPr>
            </a:pPr>
            <a:r>
              <a:rPr sz="900" b="0">
                <a:solidFill>
                  <a:srgbClr val="8B9298"/>
                </a:solidFill>
              </a:rPr>
              <a:t>仍未知什麼？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28F79-0AC4-4242-8B9A-CFE4204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5EDF0-7352-4702-876C-C9468BB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6BEA9-5803-4039-B140-15A10E05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2B5"/>
                </a:solidFill>
              </a:defRPr>
            </a:pPr>
            <a:r>
              <a:rPr sz="1500" b="1">
                <a:solidFill>
                  <a:srgbClr val="0072B5"/>
                </a:solidFill>
              </a:rPr>
              <a:t>BAE／BAE 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47DB8-BF9A-4941-A2D8-1042120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62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[技術結果]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[下一步組織計畫]</a:t>
            </a:r>
          </a:p>
        </p:txBody>
      </p:sp>
    </p:spTree>
    <p:extLst>
      <p:ext uri="{BB962C8B-B14F-4D97-AF65-F5344CB8AC3E}">
        <p14:creationId xmlns:p14="http://schemas.microsoft.com/office/powerpoint/2010/main" val="1988184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0088F-57E0-4A17-AFA8-4E0BC90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5">
            <a:extLst xmlns:a="http://schemas.openxmlformats.org/drawingml/2006/main">
              <a:ext uri="{FF2B5EF4-FFF2-40B4-BE49-F238E27FC236}">
                <a16:creationId xmlns:a16="http://schemas.microsoft.com/office/drawing/2014/main" id="{AA6D6E47-EA86-4E96-BC36-898F8FC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功能性嚴重度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6B9BEB40-4751-4C9A-817D-FE562BFE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嚴重度是功能性判斷，不是單一出血量門檻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E01E5-B815-4933-B6C2-4D768412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A45F9-5D14-4058-B675-730A0B6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5">
            <a:extLst xmlns:a="http://schemas.openxmlformats.org/drawingml/2006/main">
              <a:ext uri="{FF2B5EF4-FFF2-40B4-BE49-F238E27FC236}">
                <a16:creationId xmlns:a16="http://schemas.microsoft.com/office/drawing/2014/main" id="{62CF35DB-347E-47C8-9394-EC482F37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O'Gurek &amp; Choi, Am Fam Physician. 2022;105:144-151.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94686F46-3CB7-4056-9481-C6542002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CA7A0-06D4-4A45-AF3D-43E81C91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3BE30-7EB0-4F17-BBD5-CB352ED1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C3C29"/>
                </a:solidFill>
              </a:defRPr>
            </a:pPr>
            <a:r>
              <a:rPr sz="1650" b="1">
                <a:solidFill>
                  <a:srgbClr val="BC3C29"/>
                </a:solidFill>
              </a:rPr>
              <a:t>呼吸道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F946C-468C-4CDC-9382-3F7F08D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無法清除血塊、聲音改變、單側大量灌血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812D9-C7B5-472C-BEA3-5F79E36C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94326-91B4-49BD-BAA7-D97A6A2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18727"/>
                </a:solidFill>
              </a:defRPr>
            </a:pPr>
            <a:r>
              <a:rPr sz="1650" b="1">
                <a:solidFill>
                  <a:srgbClr val="E18727"/>
                </a:solidFill>
              </a:rPr>
              <a:t>氣體交換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352AB-BCD7-4840-86E9-D031662C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669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呼吸功增加、SpO2 下降、支持需求快速上升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AAF5C-774A-4D09-BEC6-400E66A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AB7B8-6629-4E2B-A77B-7C6C5D9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76B1"/>
                </a:solidFill>
              </a:defRPr>
            </a:pPr>
            <a:r>
              <a:rPr sz="1650" b="1">
                <a:solidFill>
                  <a:srgbClr val="7876B1"/>
                </a:solidFill>
              </a:rPr>
              <a:t>血流動力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D8CF7-6192-4043-9575-D7AADDC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低血壓、Hb 下降、需要輸血或升壓劑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BFB6C-9D58-4692-B274-7B84CF23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E8C4B-3DCC-4064-87C1-659A0BA1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變化趨勢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4D6A1-6D1D-4A8E-8C52-197DEF5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005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反覆、加速或持續活動性出血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3CB01-E2F1-4F3A-A95F-894A92CA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32481-87A6-465E-87FB-5B3EBB5C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7682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854E"/>
                </a:solidFill>
              </a:defRPr>
            </a:pPr>
            <a:r>
              <a:rPr sz="1650" b="1">
                <a:solidFill>
                  <a:srgbClr val="20854E"/>
                </a:solidFill>
              </a:rPr>
              <a:t>心肺儲備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1ACCB-3A02-41A6-BF92-A4BFCC7A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673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COPD、肺切除、心臟病、抗凝治療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E8CC1-15BE-450A-A05E-E1694E0D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C3C29"/>
                </a:solidFill>
              </a:defRPr>
            </a:pPr>
            <a:r>
              <a:rPr sz="1575" b="1">
                <a:solidFill>
                  <a:srgbClr val="BC3C29"/>
                </a:solidFill>
              </a:rPr>
              <a:t>最直接的死亡威脅通常是窒息，而不是單純失血。</a:t>
            </a:r>
          </a:p>
        </p:txBody>
      </p:sp>
    </p:spTree>
    <p:extLst>
      <p:ext uri="{BB962C8B-B14F-4D97-AF65-F5344CB8AC3E}">
        <p14:creationId xmlns:p14="http://schemas.microsoft.com/office/powerpoint/2010/main" val="1836130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2D320-2A38-4985-BEE7-B1ABDEF5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6">
            <a:extLst xmlns:a="http://schemas.openxmlformats.org/drawingml/2006/main">
              <a:ext uri="{FF2B5EF4-FFF2-40B4-BE49-F238E27FC236}">
                <a16:creationId xmlns:a16="http://schemas.microsoft.com/office/drawing/2014/main" id="{D6F33E89-7F2C-4A29-B868-678CBC8B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立即處置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5CE4D6B7-9F09-481A-8AA3-D864B063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先保護呼吸道；穩定後用 CTA 規劃下一步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6229A-47BB-4646-9257-BF33173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0DBA0-D8DF-4AAC-A02A-3EF1F72F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6">
            <a:extLst xmlns:a="http://schemas.openxmlformats.org/drawingml/2006/main">
              <a:ext uri="{FF2B5EF4-FFF2-40B4-BE49-F238E27FC236}">
                <a16:creationId xmlns:a16="http://schemas.microsoft.com/office/drawing/2014/main" id="{91DB2038-DEFB-4804-8946-E3F9BD40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Sources: AAFP 2022; ACR Appropriateness Criteria Hemoptysis; CIRSE 2022.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020DF1FE-4D04-4B2E-9698-31C1F497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E83B5-F68D-4063-83C1-76846EB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52625"/>
            <a:ext cx="1028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C2DDD-D460-4E32-8023-739CE509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2F652-DB46-4E86-A0D0-0B9F0B1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A4BBC-B34A-4C9E-8175-84EDE93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04950"/>
            <a:ext cx="4419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EFA40-BD3B-4080-85DA-8031328E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C3C29"/>
                </a:solidFill>
              </a:defRPr>
            </a:pPr>
            <a:r>
              <a:rPr sz="1650" b="1">
                <a:solidFill>
                  <a:srgbClr val="BC3C29"/>
                </a:solidFill>
              </a:rPr>
              <a:t>咳血合併生理威脅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80D9E-7384-4A5C-B0E7-A8C5AAA9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68FAA-B818-4074-B864-2B158235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C2F01-B763-4CDD-9FD2-40462D65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C3C29"/>
                </a:solidFill>
              </a:defRPr>
            </a:pPr>
            <a:r>
              <a:rPr sz="1425" b="1">
                <a:solidFill>
                  <a:srgbClr val="BC3C29"/>
                </a:solidFill>
              </a:rPr>
              <a:t>不穩定／呼吸道受威脅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9B791-5C8A-4D10-AAFD-10855260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051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2B5"/>
                </a:solidFill>
              </a:defRPr>
            </a:pPr>
            <a:r>
              <a:rPr sz="1425" b="1">
                <a:solidFill>
                  <a:srgbClr val="0072B5"/>
                </a:solidFill>
              </a:rPr>
              <a:t>可穩定完成血管定位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F5BC1-8482-4EDA-AE4F-87BDCFD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3924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1. 出血側朝下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2. 必要時建立呼吸道與單肺隔離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3. 支氣管鏡清除血塊、定位與維持呼吸道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4. 可行時接續 CTA／血管攝影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6C091-0E9A-4215-9B1D-E4E26BE4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924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1. 對比 CT／CTA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2. 定義病灶與出血區域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3. 建立 bronchial、non-bronchial 與 pulmonary 地圖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4. 選擇支氣管鏡、血管內或手術路徑</a:t>
            </a:r>
          </a:p>
        </p:txBody>
      </p:sp>
    </p:spTree>
    <p:extLst>
      <p:ext uri="{BB962C8B-B14F-4D97-AF65-F5344CB8AC3E}">
        <p14:creationId xmlns:p14="http://schemas.microsoft.com/office/powerpoint/2010/main" val="345275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9FDA4-DF78-4135-A1E1-FE128E33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7">
            <a:extLst xmlns:a="http://schemas.openxmlformats.org/drawingml/2006/main">
              <a:ext uri="{FF2B5EF4-FFF2-40B4-BE49-F238E27FC236}">
                <a16:creationId xmlns:a16="http://schemas.microsoft.com/office/drawing/2014/main" id="{EAA52F0F-8FA7-4955-B567-A9B809B7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機轉式鑑別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B2207D8E-4881-4B7D-BF49-A1F3CA7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肺部腫塊合併咳血，應以機轉建立鑑別診斷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A1DE4-05BD-4B99-A954-2D057389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7FCFF-5647-40C1-8358-2E986A1E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7">
            <a:extLst xmlns:a="http://schemas.openxmlformats.org/drawingml/2006/main">
              <a:ext uri="{FF2B5EF4-FFF2-40B4-BE49-F238E27FC236}">
                <a16:creationId xmlns:a16="http://schemas.microsoft.com/office/drawing/2014/main" id="{788151FD-3961-4C62-BAD5-BD0A4CAD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Expanded review synthesis; AAFP 2022 differential framework.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FCDB0DFD-7A81-4807-80F4-596BC28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12EC3-90FE-41AE-ACE8-EF3C1C7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0ECDE-5235-4EDB-89EB-195E679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B3C55-507E-42A9-8DEB-7854B0F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惡性腫瘤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C8D44-AE98-44A1-9D5D-B031364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腫塊／壞死／淋巴結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出血：新生血管、侵犯呼吸道、侵蝕動脈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需要：特定惡性組織診斷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40A55-E946-4DC4-AEB4-E9F3AD36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8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1D67B-9894-4A4F-B044-CC38DAB9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83773-0A4C-41C9-9557-61A95F18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854E"/>
                </a:solidFill>
              </a:defRPr>
            </a:pPr>
            <a:r>
              <a:rPr sz="1650" b="1">
                <a:solidFill>
                  <a:srgbClr val="20854E"/>
                </a:solidFill>
              </a:rPr>
              <a:t>感染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0FF3-F449-49D9-BA1F-FC724FE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TB／NTM／Aspergillus／膿瘍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出血：空洞侵蝕、側枝循環、假性動脈瘤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需要：病理＋微生物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1EBCB-4CB6-42E3-88D6-27CEA847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76B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46A3F-06C6-4734-B761-4F420C5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1F424-745D-4778-8F3C-F2ADBAF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76B1"/>
                </a:solidFill>
              </a:defRPr>
            </a:pPr>
            <a:r>
              <a:rPr sz="1650" b="1">
                <a:solidFill>
                  <a:srgbClr val="7876B1"/>
                </a:solidFill>
              </a:rPr>
              <a:t>發炎性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D000D-089E-4329-9F27-876A0EC0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血管炎／器質化肺炎／發炎性腫塊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出血：微血管炎或血管壁損傷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非特異性發炎不足以結案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31D5E-7AF7-40AA-AEDA-A6B5F453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AB836-8BA1-4BB1-9387-D9934057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8B963-9285-45B6-92C0-0BC42CD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C3C29"/>
                </a:solidFill>
              </a:defRPr>
            </a:pPr>
            <a:r>
              <a:rPr sz="1650" b="1">
                <a:solidFill>
                  <a:srgbClr val="BC3C29"/>
                </a:solidFill>
              </a:rPr>
              <a:t>血管性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D3301-86F2-41FA-9ED6-765194F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動脈瘤／假性動脈瘤／AVM／瘻管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出血：高壓流入或脆弱血管迴路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可解釋咳血，未必解釋腫塊</a:t>
            </a:r>
          </a:p>
        </p:txBody>
      </p:sp>
    </p:spTree>
    <p:extLst>
      <p:ext uri="{BB962C8B-B14F-4D97-AF65-F5344CB8AC3E}">
        <p14:creationId xmlns:p14="http://schemas.microsoft.com/office/powerpoint/2010/main" val="1572549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D3C9EB-3895-499B-B8F8-E7CD7ADF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8">
            <a:extLst xmlns:a="http://schemas.openxmlformats.org/drawingml/2006/main">
              <a:ext uri="{FF2B5EF4-FFF2-40B4-BE49-F238E27FC236}">
                <a16:creationId xmlns:a16="http://schemas.microsoft.com/office/drawing/2014/main" id="{056E84A6-DA80-4936-A706-D5CC2220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工具分工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DA949514-7626-42FB-B489-9E4B7EF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CT、CTA、支氣管鏡與血管攝影回答不同問題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A06EF-9125-4E5B-92B4-82C4FAAE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CE50A-1510-4272-9870-AC59EC7D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8">
            <a:extLst xmlns:a="http://schemas.openxmlformats.org/drawingml/2006/main">
              <a:ext uri="{FF2B5EF4-FFF2-40B4-BE49-F238E27FC236}">
                <a16:creationId xmlns:a16="http://schemas.microsoft.com/office/drawing/2014/main" id="{89F49900-3528-46F7-8BE8-FC442137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Sources: AAFP 2022; ACR; CIRSE 2022.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B397C607-0C93-4D55-B186-AAF00BF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76152-882E-4BF6-A1F0-AF295CE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A41BE-8F50-434C-9306-3BC82C3C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26638-07FD-45EE-8112-07F4ACEF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6578F-C8B4-40B4-AF3E-43E0727F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最擅長回答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F59D3-F090-41C3-BC26-DA8A897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46A99-E957-43D4-8DC3-22CEE0CD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無法單獨回答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15BD3-8B9A-4158-A3B3-8F09C6D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8D958-2F69-496D-BA0C-C5DA4052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2B5"/>
                </a:solidFill>
              </a:defRPr>
            </a:pPr>
            <a:r>
              <a:rPr sz="1350" b="1">
                <a:solidFill>
                  <a:srgbClr val="0072B5"/>
                </a:solidFill>
              </a:rPr>
              <a:t>對比 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9E22E-64EB-4465-8B66-03AA824B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D5B9D-C827-4348-A00F-F4A2A072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腫塊／空洞型態、肺實質、淋巴結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1EC38-51E3-403D-9F61-42C1B89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54010-ADF0-4975-B08F-228B012F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完整動脈地圖或即時呼吸道控制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53490-9AD0-4130-880C-171431EA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EEAEB-8F03-4227-90A1-6BA3BB94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2B5"/>
                </a:solidFill>
              </a:defRPr>
            </a:pPr>
            <a:r>
              <a:rPr sz="1350" b="1">
                <a:solidFill>
                  <a:srgbClr val="0072B5"/>
                </a:solidFill>
              </a:rPr>
              <a:t>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680B3-68C7-4F37-8C23-6341AE76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A2000-23E2-4277-902D-22E25A3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861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出血區域與 bronchial／NBSA／pulmonary 地圖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7E4D6-EBF2-4732-B97E-FDA637FF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4A482-2CF5-4578-B6A1-26E174DD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組織診斷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B5F44-3D4E-4B4F-988C-DC9BF2A6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57B8E-61E7-4C6E-B698-F15A1851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2B5"/>
                </a:solidFill>
              </a:defRPr>
            </a:pPr>
            <a:r>
              <a:rPr sz="1350" b="1">
                <a:solidFill>
                  <a:srgbClr val="0072B5"/>
                </a:solidFill>
              </a:rPr>
              <a:t>支氣管鏡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5C229-A4C8-4670-8C3A-B3F438C6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A1DBD-D382-40D1-BB21-E64D4A6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814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呼吸道、血塊、活動出血、氣管內病灶、採樣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3E3DC-CCE1-434C-B191-454BABAD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162D9-EF99-4AF7-9DA3-184F53D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完整 systemic vascular map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15178-639C-47E3-87F0-86020CC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A2034-B238-4E1D-8FFC-DC5C3A7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2B5"/>
                </a:solidFill>
              </a:defRPr>
            </a:pPr>
            <a:r>
              <a:rPr sz="1350" b="1">
                <a:solidFill>
                  <a:srgbClr val="0072B5"/>
                </a:solidFill>
              </a:rPr>
              <a:t>血管攝影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CF2F04-6A12-42D0-9F93-765D6CD8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B3645-3AD3-40A7-A979-464C3F2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768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動態血流、責任血管、shunt、同時栓塞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13D924-8AA4-456A-B435-3DF91C27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F35BB-6AC3-46AA-8CEF-DFD12C9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腫塊病理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B00B77-EFD7-43E3-9EE7-D912AD2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29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18727"/>
                </a:solidFill>
              </a:defRPr>
            </a:pPr>
            <a:r>
              <a:rPr sz="1500" b="1">
                <a:solidFill>
                  <a:srgbClr val="E18727"/>
                </a:solidFill>
              </a:rPr>
              <a:t>這些工具是互補關係，不是互相競爭。</a:t>
            </a:r>
          </a:p>
        </p:txBody>
      </p:sp>
    </p:spTree>
    <p:extLst>
      <p:ext uri="{BB962C8B-B14F-4D97-AF65-F5344CB8AC3E}">
        <p14:creationId xmlns:p14="http://schemas.microsoft.com/office/powerpoint/2010/main" val="452842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A8C51-1E36-4E29-811E-6B6C82B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9">
            <a:extLst xmlns:a="http://schemas.openxmlformats.org/drawingml/2006/main">
              <a:ext uri="{FF2B5EF4-FFF2-40B4-BE49-F238E27FC236}">
                <a16:creationId xmlns:a16="http://schemas.microsoft.com/office/drawing/2014/main" id="{056051A9-80D2-4307-A95B-3D474307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診斷狀態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26FEC97C-BAC9-4138-84F0-33C35F35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支氣管鏡未確診，不代表病例可以結案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CAA9-6299-40DE-B1F9-71E0547B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ADA77-02A5-485C-BD5D-6EE18EA3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9">
            <a:extLst xmlns:a="http://schemas.openxmlformats.org/drawingml/2006/main">
              <a:ext uri="{FF2B5EF4-FFF2-40B4-BE49-F238E27FC236}">
                <a16:creationId xmlns:a16="http://schemas.microsoft.com/office/drawing/2014/main" id="{C57A0654-24D4-46E8-B556-92F59B01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Gonzalez et al. ATS/ACCP Research Statement. AJRCCM. 2024;209:634-646.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1F843529-67F5-44E5-A6A5-4CB31DEF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55AFD-A250-4E02-92E2-BAF2F4B2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766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527E3-B233-4872-BA2E-DF8146C2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A8F6C-4AA6-4B20-8B66-4CBA29B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特定惡性診斷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A5F8-D714-410B-B5FD-AA93325F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743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能解釋病灶的癌別或明確惡性診斷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8CE02-87E1-486F-8494-DF3801C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2766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08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4412B-CC37-47D1-9296-951997E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40498-40E8-48D9-803C-A3F0137A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854E"/>
                </a:solidFill>
              </a:defRPr>
            </a:pPr>
            <a:r>
              <a:rPr sz="1800" b="1">
                <a:solidFill>
                  <a:srgbClr val="20854E"/>
                </a:solidFill>
              </a:rPr>
              <a:t>特定良性診斷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B0DF9-0851-4779-B7C5-60A76596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2743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足以解釋病灶，且不需立即追加診斷性處置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7F97A-C2E8-4D3C-9B0D-04C160D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C3C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AD39B-B6DE-4896-B632-25425EEF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52583-F536-46DC-AE69-428B870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未確診／無診斷性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B2232-E0A1-4E40-A967-214A6EC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743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異型細胞 • 非特異性發炎 • 血液 • 壞死 • 正常肺 • 組織不足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AB3E8-481E-421F-AD46-D66B8B4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87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EC01B-6811-456D-A456-2A8A3EB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9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18727"/>
                </a:solidFill>
              </a:defRPr>
            </a:pPr>
            <a:r>
              <a:rPr sz="1500" b="1">
                <a:solidFill>
                  <a:srgbClr val="E18727"/>
                </a:solidFill>
              </a:rPr>
              <a:t>如果現在仍需要再次 biopsy 或手術，前一次處置就沒有真正解決診斷問題。</a:t>
            </a:r>
          </a:p>
        </p:txBody>
      </p:sp>
    </p:spTree>
    <p:extLst>
      <p:ext uri="{BB962C8B-B14F-4D97-AF65-F5344CB8AC3E}">
        <p14:creationId xmlns:p14="http://schemas.microsoft.com/office/powerpoint/2010/main" val="30744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E9303-2D3F-4DC4-9769-40E3B70F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0">
            <a:extLst xmlns:a="http://schemas.openxmlformats.org/drawingml/2006/main">
              <a:ext uri="{FF2B5EF4-FFF2-40B4-BE49-F238E27FC236}">
                <a16:creationId xmlns:a16="http://schemas.microsoft.com/office/drawing/2014/main" id="{05678B35-EFA3-4B3D-A6CA-D4AB41F1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失敗分析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4FF2EEAB-AD26-4B6D-8C73-A8702E0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124"/>
                </a:solidFill>
              </a:defRPr>
            </a:pPr>
            <a:r>
              <a:rPr sz="2250" b="1">
                <a:solidFill>
                  <a:srgbClr val="202124"/>
                </a:solidFill>
              </a:rPr>
              <a:t>重複採樣失敗通常有可辨識、可修正的原因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2ACAD-D979-4523-8C12-1F5B018E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238C1-6FA8-4B31-AE64-4C22AE96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0">
            <a:extLst xmlns:a="http://schemas.openxmlformats.org/drawingml/2006/main">
              <a:ext uri="{FF2B5EF4-FFF2-40B4-BE49-F238E27FC236}">
                <a16:creationId xmlns:a16="http://schemas.microsoft.com/office/drawing/2014/main" id="{55D7CE0D-1DEE-4152-9814-AD81EDB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Expanded review synthesis; ATS/ACCP 2024.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87CDDE97-E82E-496E-868B-15FE9EAE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39BD8-5D8A-4B66-92E0-F3FFFA1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失敗層次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97137-A0F3-470F-9BE0-42FBE1C8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85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問題在哪裡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D320-D528-4CCD-ACF5-7EC6B0C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重做前要改變什麼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90F2D-1D61-4D0B-8B25-D2BEF35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0E7B3-2E92-4174-870B-D7E9F86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4EA27-44C7-4892-91E1-F61A0B2A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2B5"/>
                </a:solidFill>
              </a:defRPr>
            </a:pPr>
            <a:r>
              <a:rPr sz="1425" b="1">
                <a:solidFill>
                  <a:srgbClr val="0072B5"/>
                </a:solidFill>
              </a:rPr>
              <a:t>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C2808-2806-4BAE-BF74-FD5AEF7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97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周邊病灶、無 bronchus sign、工具未進入病灶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675F4-A532-4000-B58E-0F4AF7AB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97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2B5"/>
                </a:solidFill>
              </a:defRPr>
            </a:pPr>
            <a:r>
              <a:rPr sz="1200" b="1">
                <a:solidFill>
                  <a:srgbClr val="0072B5"/>
                </a:solidFill>
              </a:rPr>
              <a:t>重讀 CT；改選 airway、pleural 或 nodal 標的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DAF49-355E-44B5-82D9-63ECD97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D12D-D0F2-45CF-ADE9-0DA26DE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7A587-381B-4760-838E-8F3A6824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18727"/>
                </a:solidFill>
              </a:defRPr>
            </a:pPr>
            <a:r>
              <a:rPr sz="1425" b="1">
                <a:solidFill>
                  <a:srgbClr val="E18727"/>
                </a:solidFill>
              </a:rPr>
              <a:t>採樣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FA253-A518-4CC2-8F07-0917F2AD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9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只取到表面、壞死中心或 core 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C2BCF-3827-45A3-9824-43C392BE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2B5"/>
                </a:solidFill>
              </a:defRPr>
            </a:pPr>
            <a:r>
              <a:rPr sz="1200" b="1">
                <a:solidFill>
                  <a:srgbClr val="0072B5"/>
                </a:solidFill>
              </a:rPr>
              <a:t>更換 needle／cryobiopsy／TTNB 路徑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2E671-D499-46F2-91B3-86F23CE6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DB2AB-D686-40F6-B98B-3F1CAC4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A93DE-28C4-4B23-BD24-F59796CE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C3C29"/>
                </a:solidFill>
              </a:defRPr>
            </a:pPr>
            <a:r>
              <a:rPr sz="1425" b="1">
                <a:solidFill>
                  <a:srgbClr val="BC3C29"/>
                </a:solidFill>
              </a:rPr>
              <a:t>病理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52BCF-5811-46DF-B80E-9CA1CAE2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血液、壞死、異型、非特異性發炎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C3E44-0747-49DF-97A1-0AE28FE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2B5"/>
                </a:solidFill>
              </a:defRPr>
            </a:pPr>
            <a:r>
              <a:rPr sz="1200" b="1">
                <a:solidFill>
                  <a:srgbClr val="0072B5"/>
                </a:solidFill>
              </a:rPr>
              <a:t>明確標為 nondiagnostic，不可寫成 benign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E74E8-25B5-4C35-8323-97A7C75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9AE84-CC12-40DA-8F42-AEEC45B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BD0723-7314-4366-AE7B-C6EA571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854E"/>
                </a:solidFill>
              </a:defRPr>
            </a:pPr>
            <a:r>
              <a:rPr sz="1425" b="1">
                <a:solidFill>
                  <a:srgbClr val="20854E"/>
                </a:solidFill>
              </a:rPr>
              <a:t>微生物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99F0A7-B54D-4B64-9989-8F5EA9EC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00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只送 cytology，未分配 AFB／黴菌／細菌檢體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21EBD3-5344-45A8-B3DC-1DA22E18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2B5"/>
                </a:solidFill>
              </a:defRPr>
            </a:pPr>
            <a:r>
              <a:rPr sz="1200" b="1">
                <a:solidFill>
                  <a:srgbClr val="0072B5"/>
                </a:solidFill>
              </a:rPr>
              <a:t>處置前完成 specimen allocation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75108-E5D8-4D3C-8950-5FAE6E6F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0B316-DBE1-48B5-AC59-3D4A72B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9E5747-67AE-4B31-8F18-45EFB541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76B1"/>
                </a:solidFill>
              </a:defRPr>
            </a:pPr>
            <a:r>
              <a:rPr sz="1425" b="1">
                <a:solidFill>
                  <a:srgbClr val="7876B1"/>
                </a:solidFill>
              </a:rPr>
              <a:t>系統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FC584-76AB-427C-BA0A-BC3CD1D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01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未重新檢討 yield 就重複同一路徑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6C25C-6603-4F8F-BDB7-F00B126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01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2B5"/>
                </a:solidFill>
              </a:defRPr>
            </a:pPr>
            <a:r>
              <a:rPr sz="1200" b="1">
                <a:solidFill>
                  <a:srgbClr val="0072B5"/>
                </a:solidFill>
              </a:rPr>
              <a:t>多專科討論＋明確升級條件</a:t>
            </a:r>
          </a:p>
        </p:txBody>
      </p:sp>
    </p:spTree>
    <p:extLst>
      <p:ext uri="{BB962C8B-B14F-4D97-AF65-F5344CB8AC3E}">
        <p14:creationId xmlns:p14="http://schemas.microsoft.com/office/powerpoint/2010/main" val="1457507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EDD80-C0E2-4ED8-B32D-AB712251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1">
            <a:extLst xmlns:a="http://schemas.openxmlformats.org/drawingml/2006/main">
              <a:ext uri="{FF2B5EF4-FFF2-40B4-BE49-F238E27FC236}">
                <a16:creationId xmlns:a16="http://schemas.microsoft.com/office/drawing/2014/main" id="{E2C4145D-62A3-4BAC-8908-B9214D59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三個血管床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0B02859B-7C34-4433-B9EE-14898B96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三個血管床都可能造成臨床重要的咳血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8C49D-E9DA-4556-881B-3A5572FC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95805-E89D-4E1D-B436-EB80E4B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1">
            <a:extLst xmlns:a="http://schemas.openxmlformats.org/drawingml/2006/main">
              <a:ext uri="{FF2B5EF4-FFF2-40B4-BE49-F238E27FC236}">
                <a16:creationId xmlns:a16="http://schemas.microsoft.com/office/drawing/2014/main" id="{918B5F28-565F-4829-BFA7-8B300DFC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Standards of Practice on BAE. 2022.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796D7C3A-AFC9-4539-86AC-B99BD3C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E8CEB-6990-4140-913A-EEB8AA69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BC3C29"/>
                </a:solidFill>
              </a:defRPr>
            </a:pPr>
            <a:r>
              <a:rPr sz="4050" b="1">
                <a:solidFill>
                  <a:srgbClr val="BC3C29"/>
                </a:solidFill>
              </a:rPr>
              <a:t>90%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68523-EFC9-463B-AFF6-71C0962B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支氣管循環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B5889-5E61-4006-9F8C-CCEF70B5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高壓 systemic 血管床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7264C-CE4B-4DDC-8D65-ECB8F98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072B5"/>
                </a:solidFill>
              </a:defRPr>
            </a:pPr>
            <a:r>
              <a:rPr sz="4050" b="1">
                <a:solidFill>
                  <a:srgbClr val="0072B5"/>
                </a:solidFill>
              </a:rPr>
              <a:t>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6EF19-04CA-4592-B811-52C2674E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肺循環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9C102-2FE7-48BB-A1B3-5C4A6101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假性動脈瘤／侵蝕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E7892-C33C-4574-90BE-E5FB312B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1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18727"/>
                </a:solidFill>
              </a:defRPr>
            </a:pPr>
            <a:r>
              <a:rPr sz="4050" b="1">
                <a:solidFill>
                  <a:srgbClr val="E18727"/>
                </a:solidFill>
              </a:rPr>
              <a:t>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E10C3-D6D5-49C2-A22B-2E3F283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非支氣管 systemic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43BF7-BAEE-4530-8DF7-F127514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胸膜側枝供血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FB133-E35B-47D4-B0C5-60A4FC8A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33600"/>
            <a:ext cx="17145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48EC7-020A-4FC0-BB15-890B4BA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17145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6C4CA-2B66-4F59-A7FE-48ACE7E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7277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FF873-021E-456F-B7FB-263E24C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這是搜尋優先順序，不是排除規則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F8FBC-14F2-4477-BE72-7291819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578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血管床必須與病灶位置、胸膜疾病、手術史與慢性發炎一起解讀。</a:t>
            </a:r>
          </a:p>
        </p:txBody>
      </p:sp>
    </p:spTree>
    <p:extLst>
      <p:ext uri="{BB962C8B-B14F-4D97-AF65-F5344CB8AC3E}">
        <p14:creationId xmlns:p14="http://schemas.microsoft.com/office/powerpoint/2010/main" val="1333497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C90BC-F00A-4198-A65F-82AEABDB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2">
            <a:extLst xmlns:a="http://schemas.openxmlformats.org/drawingml/2006/main">
              <a:ext uri="{FF2B5EF4-FFF2-40B4-BE49-F238E27FC236}">
                <a16:creationId xmlns:a16="http://schemas.microsoft.com/office/drawing/2014/main" id="{B7F1A6F9-17A5-4662-B9CF-8B2CFBDE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責任血管迴路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FAE2C7C-A987-4369-B077-DA40DA03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描述完整責任血管迴路，不只寫「異常血管」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F4DB0-1191-4CE6-9D0E-0FFFB7D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7EE42-AB79-451E-9E93-3742917F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2">
            <a:extLst xmlns:a="http://schemas.openxmlformats.org/drawingml/2006/main">
              <a:ext uri="{FF2B5EF4-FFF2-40B4-BE49-F238E27FC236}">
                <a16:creationId xmlns:a16="http://schemas.microsoft.com/office/drawing/2014/main" id="{12D01EA8-8F7F-4044-8369-9D7C092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 abnormal artery signs; expanded review synthesis.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468C7398-03AD-4BE4-BBE9-D077F03E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445E9-D690-43A8-B6E2-2978A231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6050"/>
            <a:ext cx="1676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solidFill>
              <a:srgbClr val="BC3C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D2048-89FA-48BC-BF7C-8FE47B83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1676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solidFill>
              <a:srgbClr val="E18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E28C8-8802-4856-A2EC-B5F4A9E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0">
            <a:solidFill>
              <a:srgbClr val="6F99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3D1A9-327A-4AC7-9336-F7FF3BF7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C3C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20524-C7FC-4F58-92E9-4180F17C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流入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ECD02-979E-48AC-AFDD-5877D676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肥大／迂曲動脈</a:t>
            </a:r>
          </a:p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bronchial 或 non-bronchial systemic feeder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63B02-E754-4FFA-B3F2-8DB2E8F5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187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929F9-6A48-453F-BE4B-18DCC36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病灶／囊體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50046-07B6-493B-8ADF-7280AFF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肺實質染色</a:t>
            </a:r>
          </a:p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動脈瘤或假性動脈瘤</a:t>
            </a:r>
          </a:p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未必出現顯影劑外滲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6C27A-F959-4E61-9462-2D16D48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2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296F8-324C-442B-A261-C961D887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流出／分流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0961E-5D47-401A-A919-B2C7523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提早靜脈顯影</a:t>
            </a:r>
          </a:p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bronchial-pulmonary communication</a:t>
            </a:r>
          </a:p>
          <a:p xmlns:a="http://schemas.openxmlformats.org/drawingml/2006/main">
            <a:pPr algn="ctr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血流方向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0B214-8CBE-4CC2-9B67-33D7C4BC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6F99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02C21-AF39-44B3-AD13-A092E29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94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99AD"/>
                </a:solidFill>
              </a:defRPr>
            </a:pPr>
            <a:r>
              <a:rPr sz="1275" b="1">
                <a:solidFill>
                  <a:srgbClr val="6F99AD"/>
                </a:solidFill>
              </a:rPr>
              <a:t>報告用語：hypertrophy • tortuosity • neovascularity • blush • early venous filling • pseudoaneurysm • systemic-pulmonary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216888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DB502-B67E-4100-82A5-814D9B4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3">
            <a:extLst xmlns:a="http://schemas.openxmlformats.org/drawingml/2006/main">
              <a:ext uri="{FF2B5EF4-FFF2-40B4-BE49-F238E27FC236}">
                <a16:creationId xmlns:a16="http://schemas.microsoft.com/office/drawing/2014/main" id="{86927F7D-3DE0-43B4-8DAB-31D965BA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假性動脈瘤血流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691D2E9A-9992-4C62-8406-55635B9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假性動脈瘤的治療取決於流入、流出與血流方向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9883-D614-4C3D-BBDB-DDB0791D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AF43E-078B-467A-9C01-6356720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3">
            <a:extLst xmlns:a="http://schemas.openxmlformats.org/drawingml/2006/main">
              <a:ext uri="{FF2B5EF4-FFF2-40B4-BE49-F238E27FC236}">
                <a16:creationId xmlns:a16="http://schemas.microsoft.com/office/drawing/2014/main" id="{D1B3676C-BD23-4EB5-B2FD-48C4B6D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Chen et al. J Thorac Dis. 2022;14:1784-1793. Mechanistic case series (n=9).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7F69CF87-913A-4245-AEAD-33D375A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CEA85-E202-496C-BAA3-DAA6388C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87EB7-AFEC-4111-9AD7-98FFCA6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Type 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9A2BC-7FCE-44C9-B672-363B4A18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肺動脈假性動脈瘤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893A6-D5E5-4CE3-A9AE-12660557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288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parent vessel 為 PA；systemic collateral 可逆向顯影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362C7-27D0-4356-A2C7-1F49DA2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193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solidFill>
              <a:srgbClr val="0072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741BC-C798-4CD5-81A5-89515C8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F4930-FBEC-4ED4-B6DB-D19C42F8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C3C29"/>
                </a:solidFill>
              </a:defRPr>
            </a:pPr>
            <a:r>
              <a:rPr sz="1725" b="1">
                <a:solidFill>
                  <a:srgbClr val="BC3C29"/>
                </a:solidFill>
              </a:rPr>
              <a:t>Type II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C95A6-4D13-449F-BBC4-220A318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480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Systemic 動脈假性動脈瘤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283E3-9645-49AB-8789-639D2D3F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囊體由 bronchial 或 non-bronchial systemic artery 形成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DEB45-38AE-4E9E-A969-00AE6498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04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solidFill>
              <a:srgbClr val="BC3C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641F8-85BE-41BF-863A-DD5A3F3B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B3829-BD5D-4876-9B15-1A8678FA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18727"/>
                </a:solidFill>
              </a:defRPr>
            </a:pPr>
            <a:r>
              <a:rPr sz="1725" b="1">
                <a:solidFill>
                  <a:srgbClr val="E18727"/>
                </a:solidFill>
              </a:rPr>
              <a:t>Type III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1DA44-A6E0-469B-B45A-8F1A210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Systemic-pulmonary 吻合型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C6443-E5B5-4805-AEA2-4AA703B6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systemic 與 pulmonary 分支形成共同迴路，血流方向可變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54C39-075B-412E-A291-6B70441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8155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solidFill>
              <a:srgbClr val="E187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57CDE-D8F6-4C94-9D3F-CEB64C7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18727"/>
                </a:solidFill>
              </a:defRPr>
            </a:pPr>
            <a:r>
              <a:rPr sz="1425" b="1">
                <a:solidFill>
                  <a:srgbClr val="E18727"/>
                </a:solidFill>
              </a:rPr>
              <a:t>治療標的是完整 inflow-sack-outflow 迴路，不是單張影像上最顯眼的亮點。</a:t>
            </a:r>
          </a:p>
        </p:txBody>
      </p:sp>
    </p:spTree>
    <p:extLst>
      <p:ext uri="{BB962C8B-B14F-4D97-AF65-F5344CB8AC3E}">
        <p14:creationId xmlns:p14="http://schemas.microsoft.com/office/powerpoint/2010/main" val="19844024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18D6F-99E9-4D1B-829B-E8E8FFE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4">
            <a:extLst xmlns:a="http://schemas.openxmlformats.org/drawingml/2006/main">
              <a:ext uri="{FF2B5EF4-FFF2-40B4-BE49-F238E27FC236}">
                <a16:creationId xmlns:a16="http://schemas.microsoft.com/office/drawing/2014/main" id="{17F030EC-9B76-4F58-87A6-C5CD119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BAE 定位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F26EC3DB-7A51-431D-B659-58E1B6E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BAE 負責止血，但不會告訴你腫塊的病因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A5E90-8D03-4DAC-A901-52FE872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7606E-438A-4F8C-8A94-DCA56BB4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4">
            <a:extLst xmlns:a="http://schemas.openxmlformats.org/drawingml/2006/main">
              <a:ext uri="{FF2B5EF4-FFF2-40B4-BE49-F238E27FC236}">
                <a16:creationId xmlns:a16="http://schemas.microsoft.com/office/drawing/2014/main" id="{67A75D5C-7902-4885-B658-3262ABBD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2022; expanded review synthesis.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E8DED5B6-757E-49F9-80EF-6FC2E215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344ED-5C8C-4E02-B1F6-3554C887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4857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085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9617-B572-48A5-AC2E-897B805A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857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C3C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3CD-56E9-4A90-9EE0-81B3DF1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854E"/>
                </a:solidFill>
              </a:defRPr>
            </a:pPr>
            <a:r>
              <a:rPr sz="1800" b="1">
                <a:solidFill>
                  <a:srgbClr val="20854E"/>
                </a:solidFill>
              </a:rPr>
              <a:t>BAE 可以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B2C98-B0D3-440A-982F-CCF9DC8E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BAE 不可以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0DF90-EC29-4C28-A546-BFA4113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358AC-5AF3-4DE2-9BAB-2FCC172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控制活動性出血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D6C24-FD8D-49D5-B300-AF9419B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F6E3B-4649-40A8-B2FF-27B23A9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38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處理已辨識的病理血管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5CD11-06D4-4D7F-9034-348D2D3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72886-08F0-4D48-A393-76A94DF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90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創造較安全的診斷時間窗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03750-7D0D-497B-834C-A656F91C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39CDE-ED19-42DA-BAF5-345D6478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銜接手術或病因治療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7CAE0-691C-4153-B941-802F0677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7076F-4284-4B4A-8CD1-0A1BCFD9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證明肺部腫塊是良性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A9AAE-44EE-4E56-87AD-ADF5B05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60B24-BE9B-4E0A-AD8D-136107A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取代病理或微生物診斷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9215E-B6BE-4443-A9F9-729AF8F2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584F3-B388-4A84-8663-922B459C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單獨解釋所有再出血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BFB86-FF39-4DC4-8685-88CEC39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AC6C4-454C-4512-B17D-2F0E8F3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取代診斷負責人的追蹤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C2083-05F8-436A-8B22-126CB52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15000"/>
            <a:ext cx="735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止血是重要里程碑，但不是最終診斷。</a:t>
            </a:r>
          </a:p>
        </p:txBody>
      </p:sp>
    </p:spTree>
    <p:extLst>
      <p:ext uri="{BB962C8B-B14F-4D97-AF65-F5344CB8AC3E}">
        <p14:creationId xmlns:p14="http://schemas.microsoft.com/office/powerpoint/2010/main" val="1530666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38D6FE-91AB-4D0C-BEA3-08F3904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5">
            <a:extLst xmlns:a="http://schemas.openxmlformats.org/drawingml/2006/main">
              <a:ext uri="{FF2B5EF4-FFF2-40B4-BE49-F238E27FC236}">
                <a16:creationId xmlns:a16="http://schemas.microsoft.com/office/drawing/2014/main" id="{7784E9A2-AC20-4D23-8415-540AD28D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BAE 成效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0DC8D77C-4419-4299-A2B0-289FF76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立即止血成功率高；長期控制則較不穩定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A7574-5512-4A37-900F-D59EA398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B4B36-6D91-4720-8BF4-4E4786F7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5">
            <a:extLst xmlns:a="http://schemas.openxmlformats.org/drawingml/2006/main">
              <a:ext uri="{FF2B5EF4-FFF2-40B4-BE49-F238E27FC236}">
                <a16:creationId xmlns:a16="http://schemas.microsoft.com/office/drawing/2014/main" id="{56B2D039-0C93-4524-9286-4255367A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2022, Table 7. Ranges reflect heterogeneous studies and etiologies.</a:t>
            </a:r>
          </a:p>
        </p:txBody>
      </p:sp>
      <p:sp>
        <p:nvSpPr>
          <p:cNvPr id="7" name="page-15">
            <a:extLst xmlns:a="http://schemas.openxmlformats.org/drawingml/2006/main">
              <a:ext uri="{FF2B5EF4-FFF2-40B4-BE49-F238E27FC236}">
                <a16:creationId xmlns:a16="http://schemas.microsoft.com/office/drawing/2014/main" id="{F108B7DC-11D5-4589-9557-714D919F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F5592-DDCC-46CD-9EA4-EE05D1FC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279D7-72AE-476D-925F-20DFE73C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2C0D2-BB65-4C78-892D-5679584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81749-3C79-4960-A2DD-A629EF57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D5C4D-C0C3-4543-9B5B-65C496C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09860-AE48-4F1F-905A-E1FC18BF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25F92-A05A-421A-9409-9FC789BB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800A5-D3C8-4A81-8A32-4E0FEFCB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97F4E-C8FF-4D83-B9F5-E97AFBA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19C96-C050-4382-A540-DD221338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90207-9FEA-4150-AC76-83DA66A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C80B8-28C1-4437-A5AB-AC58F75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43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A0710-8410-4F46-8B1E-C4111F6A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技術成功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628D6-E32A-463C-BB52-ABDE4A83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256F5-0D67-493F-A5D2-FFE8AA5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66925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59A11-164F-42AD-B708-5D454C74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8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90-100%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A62989-45A6-48D5-B15A-B7402396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24 小時臨床成功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B58AB-B131-4E1B-BBBB-B757C332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74CFA-A8F4-43AD-BE3D-F9ECCCD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47975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37DB8-3536-43F0-AE36-99E34F9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670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82-100%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C1364-8C7B-45C5-B088-8F01B5B0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30 天臨床成功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25C99-B22C-4296-A1A7-E1CD145C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2EF77-559E-4907-9BE8-D1704780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466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700E2-EBC8-4B9B-907C-5AB6026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48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70-92%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897430-59FB-42C3-8A1A-3BCEB522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1 年臨床成功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A3663-C55E-4E6A-B382-2485BB40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1D533-9316-4180-B4DA-EEC18A3A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2905EF-69BD-4720-8351-89659194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64-92%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AF5AF7-C811-49C2-A8EB-B8B2B38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C3C29"/>
                </a:solidFill>
              </a:defRPr>
            </a:pPr>
            <a:r>
              <a:rPr sz="1500" b="1">
                <a:solidFill>
                  <a:srgbClr val="BC3C29"/>
                </a:solidFill>
              </a:rPr>
              <a:t>不可把 90-100% 技術成功率說成一年內不再出血。</a:t>
            </a:r>
          </a:p>
        </p:txBody>
      </p:sp>
    </p:spTree>
    <p:extLst>
      <p:ext uri="{BB962C8B-B14F-4D97-AF65-F5344CB8AC3E}">
        <p14:creationId xmlns:p14="http://schemas.microsoft.com/office/powerpoint/2010/main" val="1425249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B14D3-8062-441B-8282-703931DB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6">
            <a:extLst xmlns:a="http://schemas.openxmlformats.org/drawingml/2006/main">
              <a:ext uri="{FF2B5EF4-FFF2-40B4-BE49-F238E27FC236}">
                <a16:creationId xmlns:a16="http://schemas.microsoft.com/office/drawing/2014/main" id="{52E7BF10-4BEC-44D0-AB48-E5184F3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再出血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1C5B09B7-25DB-4F72-868E-1A28D23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再出血通常代表來源控制仍不完整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53EB6-AA81-4EF8-956F-D03574A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EA710-A723-4FB2-95BF-E0764AC7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6">
            <a:extLst xmlns:a="http://schemas.openxmlformats.org/drawingml/2006/main">
              <a:ext uri="{FF2B5EF4-FFF2-40B4-BE49-F238E27FC236}">
                <a16:creationId xmlns:a16="http://schemas.microsoft.com/office/drawing/2014/main" id="{1DA82C00-7B00-4593-890C-1D59DEB2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2022, rebleeding risk factors.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21D3BEA2-3464-47F4-B1D4-92DC542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3C52-0D83-4571-85CA-F6F6982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D4F7A-C12B-4C20-BB30-0F28E3F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A001E-7A65-4F8E-9C22-D5AB5F53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9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C3C29"/>
                </a:solidFill>
              </a:defRPr>
            </a:pPr>
            <a:r>
              <a:rPr sz="1725" b="1">
                <a:solidFill>
                  <a:srgbClr val="BC3C29"/>
                </a:solidFill>
              </a:rPr>
              <a:t>栓塞不完整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9E95F-33D8-4788-939D-9D0B169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717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第一次處置漏掉責任動脈或側枝循環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EF518-E23A-4145-BF70-24B487B8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718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F70F5-D8E6-42A0-B736-8A0B89B7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48112-D225-437B-A164-F697E8D8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B4F88-DD54-411F-8A6E-D7951C25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基礎疾病未治療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326FF-0780-49CF-AF94-55EAA97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腫瘤、感染或發炎性破壞持續進展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21E0A-B08C-4599-A04F-B24DBC41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79691-F60E-41F5-912E-1E960C6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AF0C2-8880-4226-982D-554982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D97E6-16FA-43C7-80A4-F3ABFBB1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18727"/>
                </a:solidFill>
              </a:defRPr>
            </a:pPr>
            <a:r>
              <a:rPr sz="1725" b="1">
                <a:solidFill>
                  <a:srgbClr val="E18727"/>
                </a:solidFill>
              </a:rPr>
              <a:t>血管再通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3B2A6-B872-4C2C-8514-688B9B0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529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原先處理的血管再次恢復通暢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8B4C4-7F30-4C33-9EB1-47BEBD24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AE374-A2B5-4DD0-9B9D-F9F55C30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A3909-3DFF-4181-B2BC-8816D5C2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3CE2A-6059-489B-A0BF-2657D47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76B1"/>
                </a:solidFill>
              </a:defRPr>
            </a:pPr>
            <a:r>
              <a:rPr sz="1725" b="1">
                <a:solidFill>
                  <a:srgbClr val="7876B1"/>
                </a:solidFill>
              </a:rPr>
              <a:t>新生側枝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5F93A-7F7D-4EB0-B761-34A54F16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慢性發炎招募新的 non-bronchial 供血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6065A-407E-44B8-A2C3-3BC73327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60F38-691A-41AE-9FD6-1013420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C3C29"/>
                </a:solidFill>
              </a:defRPr>
            </a:pPr>
            <a:r>
              <a:rPr sz="1500" b="1">
                <a:solidFill>
                  <a:srgbClr val="BC3C29"/>
                </a:solidFill>
              </a:rPr>
              <a:t>再出血應重新啟動定位與病因檢討，不只是直接重做栓塞。</a:t>
            </a:r>
          </a:p>
        </p:txBody>
      </p:sp>
    </p:spTree>
    <p:extLst>
      <p:ext uri="{BB962C8B-B14F-4D97-AF65-F5344CB8AC3E}">
        <p14:creationId xmlns:p14="http://schemas.microsoft.com/office/powerpoint/2010/main" val="8777677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CA29A9-96AE-4590-B96F-009250C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7">
            <a:extLst xmlns:a="http://schemas.openxmlformats.org/drawingml/2006/main">
              <a:ext uri="{FF2B5EF4-FFF2-40B4-BE49-F238E27FC236}">
                <a16:creationId xmlns:a16="http://schemas.microsoft.com/office/drawing/2014/main" id="{584542DD-4408-4FF3-A261-8FAC26C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組織策略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7149FED5-2BC8-4D98-9528-01464DF3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</a:defRPr>
            </a:pPr>
            <a:r>
              <a:rPr sz="2325" b="1">
                <a:solidFill>
                  <a:srgbClr val="202124"/>
                </a:solidFill>
              </a:rPr>
              <a:t>BAE 後應重新選擇組織標的，不要複製失敗路徑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37EE3-7B91-4A84-8FCB-78BC0FF0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5285-D9E1-46B0-943A-2800A80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7">
            <a:extLst xmlns:a="http://schemas.openxmlformats.org/drawingml/2006/main">
              <a:ext uri="{FF2B5EF4-FFF2-40B4-BE49-F238E27FC236}">
                <a16:creationId xmlns:a16="http://schemas.microsoft.com/office/drawing/2014/main" id="{18619832-5A90-4E42-870C-CAC48477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Sources: Expanded review synthesis; JAMA 2022 nodule review (route trade-offs, scope qualified).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EF1AC3CC-68BE-4DC5-A319-4D130CC3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12A35-6294-47D9-A71A-1A29E354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409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9D57D-AF48-48F9-BCDF-B2EF2861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最佳標的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E0D5E-7890-44C2-9CC0-37916792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34BA0-A038-45D6-B2D4-9B5F029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097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建議路徑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75B56-5721-4A70-9526-B814AE04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BA65E-22BE-4B34-AD51-1A84A85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097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為什麼可能更好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58442-F44F-4FE2-9F35-D36AE34E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99473-8489-4AEE-88E6-CCC87030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3C29"/>
                </a:solidFill>
              </a:defRPr>
            </a:pPr>
            <a:r>
              <a:rPr sz="1125" b="1">
                <a:solidFill>
                  <a:srgbClr val="BC3C29"/>
                </a:solidFill>
              </a:rPr>
              <a:t>可見 endobronchial lesion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379CE-CEC6-4B82-98F5-8C44B8D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0C0AD-C572-41A0-8DDA-8CCDF36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傳統支氣管鏡 biopsy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D93C8-F04B-467C-B0A3-8CC0EA40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11ECE-83B3-4C71-9CCF-0998AFE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直接可視＋同時管理呼吸道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3B1B9-C243-4618-891C-85E98775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20982-0008-4C1E-B4FB-6E222BA9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99AD"/>
                </a:solidFill>
              </a:defRPr>
            </a:pPr>
            <a:r>
              <a:rPr sz="1125" b="1">
                <a:solidFill>
                  <a:srgbClr val="6F99AD"/>
                </a:solidFill>
              </a:rPr>
              <a:t>鄰近呼吸道的周邊病灶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E3844-178E-41B9-AFF2-A771D8F4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0E096-4E06-41C6-A541-B29ECB5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導引／機器人支氣管鏡 ± radial EBUS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F15DA-475D-4A98-A95B-467A0E42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8FDA5-8077-4AD6-A0C8-6F7406A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622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氣胸風險較低，可同時 staging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7CDBA-F434-4760-BDC7-1D01ED1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61D88-0D47-456E-874C-88034FCD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2B5"/>
                </a:solidFill>
              </a:defRPr>
            </a:pPr>
            <a:r>
              <a:rPr sz="1125" b="1">
                <a:solidFill>
                  <a:srgbClr val="0072B5"/>
                </a:solidFill>
              </a:rPr>
              <a:t>胸膜基底／周邊腫塊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A0DE8-7436-41C2-9319-D87E3F2B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DB441-B6B1-4276-A949-01BB0EBD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CT 導引 core biopsy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798122-2497-44C8-BA00-E689FD7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3613E-69EE-4C5A-B18D-21CFA906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路徑直接，通常組織量較多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7ADFC-E5B4-47C4-B059-9AE84C82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5BD8A-EAAC-41B4-9A9C-3B223488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854E"/>
                </a:solidFill>
              </a:defRPr>
            </a:pPr>
            <a:r>
              <a:rPr sz="1125" b="1">
                <a:solidFill>
                  <a:srgbClr val="20854E"/>
                </a:solidFill>
              </a:rPr>
              <a:t>縱膈／肺門淋巴結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9809A-7D94-4F69-9B19-83AB055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1F70FA-2CD0-42C6-AA3D-D009ABC2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EBUS-TBNA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D296DF-7DB4-4450-A75A-4DCB1C1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C5FF2-59DF-4569-8EAF-C570A2E4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診斷＋分期，避開高血管性腫塊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F8660-DA4C-4C1E-8E5D-96B99612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8C4FC-937E-42DE-8B68-72AED37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727"/>
                </a:solidFill>
              </a:defRPr>
            </a:pPr>
            <a:r>
              <a:rPr sz="1125" b="1">
                <a:solidFill>
                  <a:srgbClr val="E18727"/>
                </a:solidFill>
              </a:rPr>
              <a:t>高度疑慮持續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121D9C-D213-445C-9A93-25527F2E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FFD3A-2D0D-4498-ACA1-508D483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339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VATS／外科 biopsy 或切除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E7D0F5-F691-454D-B9C1-54DF4D6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5D98B7-F68A-443F-84A9-A749C738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339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取得 definitive tissue，也可能同時治療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19647A-BFAC-4619-AD9A-FF3B0B3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C3C29"/>
                </a:solidFill>
              </a:defRPr>
            </a:pPr>
            <a:r>
              <a:rPr sz="1425" b="1">
                <a:solidFill>
                  <a:srgbClr val="BC3C29"/>
                </a:solidFill>
              </a:rPr>
              <a:t>選擇採樣路徑前，必須先確認血管安全性。</a:t>
            </a:r>
          </a:p>
        </p:txBody>
      </p:sp>
    </p:spTree>
    <p:extLst>
      <p:ext uri="{BB962C8B-B14F-4D97-AF65-F5344CB8AC3E}">
        <p14:creationId xmlns:p14="http://schemas.microsoft.com/office/powerpoint/2010/main" val="7132130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82446-5204-4D80-BA1F-03D2A2F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8">
            <a:extLst xmlns:a="http://schemas.openxmlformats.org/drawingml/2006/main">
              <a:ext uri="{FF2B5EF4-FFF2-40B4-BE49-F238E27FC236}">
                <a16:creationId xmlns:a16="http://schemas.microsoft.com/office/drawing/2014/main" id="{68759404-746C-4946-9389-21087406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M&amp;M 轉折點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4B314F4A-B773-44B4-A636-1532F38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M&amp;M 的轉折點：把止血成功誤認為診斷完成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7F780-D2F6-4059-AD50-C0DEE147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D129F-8848-4BB4-9975-66883ED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8">
            <a:extLst xmlns:a="http://schemas.openxmlformats.org/drawingml/2006/main">
              <a:ext uri="{FF2B5EF4-FFF2-40B4-BE49-F238E27FC236}">
                <a16:creationId xmlns:a16="http://schemas.microsoft.com/office/drawing/2014/main" id="{B58374B1-C86D-4E77-91E2-014F97BA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M&amp;M framework: avoid hindsight bias; distinguish hemostatic and diagnostic outcomes.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927F4737-34A9-4288-B7BB-6DBAF1B7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48B66-9F5D-4F9C-B10F-FD3CA81A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10325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81438-3130-4835-B95B-AF75C8F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61023-D3EA-4C62-AE55-48E138F1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6DA18-33C8-4C7B-A73C-405DD4B3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C3C29"/>
                </a:solidFill>
              </a:defRPr>
            </a:pPr>
            <a:r>
              <a:rPr sz="1500" b="1">
                <a:solidFill>
                  <a:srgbClr val="BC3C29"/>
                </a:solidFill>
              </a:rPr>
              <a:t>辨識咳血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4569-9064-45A1-8EBF-0FAC192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嚴重度與來源仍未完成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77618-486A-42EA-B619-9C069DC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9FE34-F685-4882-8629-38326F4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AB9EC-1FAA-44D7-B991-9572FB52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99AD"/>
                </a:solidFill>
              </a:defRPr>
            </a:pPr>
            <a:r>
              <a:rPr sz="1500" b="1">
                <a:solidFill>
                  <a:srgbClr val="6F99AD"/>
                </a:solidFill>
              </a:rPr>
              <a:t>採樣未確診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637CA-AD66-4B71-98C2-8E169B03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肺部腫塊仍未解決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4789F-9A0B-4500-8303-26AEDE15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476FE-4F24-47F7-98C2-7907D74C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38ED9-EB0E-41C5-B439-7DBB47B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854E"/>
                </a:solidFill>
              </a:defRPr>
            </a:pPr>
            <a:r>
              <a:rPr sz="1500" b="1">
                <a:solidFill>
                  <a:srgbClr val="20854E"/>
                </a:solidFill>
              </a:rPr>
              <a:t>BAE 控制出血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4B56B-B573-4975-82EE-2D8E5BC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急性危險改善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4E498-96D6-450E-8B31-CB05B59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B8824-9B97-40E8-AE75-7BDB90D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48368-AB03-4396-93AC-0557387A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18727"/>
                </a:solidFill>
              </a:defRPr>
            </a:pPr>
            <a:r>
              <a:rPr sz="1500" b="1">
                <a:solidFill>
                  <a:srgbClr val="E18727"/>
                </a:solidFill>
              </a:rPr>
              <a:t>診斷提前結案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C3B84-8D1E-45F8-A65B-882732D1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未解決腫塊失去追蹤負責人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BF2A2-554D-432B-934E-F951B9F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91B93-E3FE-4AAF-B536-A174BB3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8727"/>
                </a:solidFill>
              </a:defRPr>
            </a:pPr>
            <a:r>
              <a:rPr sz="1200" b="1">
                <a:solidFill>
                  <a:srgbClr val="E18727"/>
                </a:solidFill>
              </a:rPr>
              <a:t>關鍵問題：</a:t>
            </a:r>
          </a:p>
          <a:p xmlns:a="http://schemas.openxmlformats.org/drawingml/2006/main">
            <a:pPr algn="ctr">
              <a:defRPr sz="1200" b="1">
                <a:solidFill>
                  <a:srgbClr val="E18727"/>
                </a:solidFill>
              </a:defRPr>
            </a:pPr>
            <a:r>
              <a:rPr sz="1200" b="1">
                <a:solidFill>
                  <a:srgbClr val="E18727"/>
                </a:solidFill>
              </a:rPr>
              <a:t>誰負責未完成的病因診斷？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69CE7-F288-4E52-AFA5-D9ED909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57850"/>
            <a:ext cx="872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</a:defRPr>
            </a:pPr>
            <a:r>
              <a:rPr sz="1425" b="1">
                <a:solidFill>
                  <a:srgbClr val="202124"/>
                </a:solidFill>
              </a:rPr>
              <a:t>公平的回顧應問：當時知道什麼？又是哪個流程讓不確定性從 problem list 消失？</a:t>
            </a:r>
          </a:p>
        </p:txBody>
      </p:sp>
    </p:spTree>
    <p:extLst>
      <p:ext uri="{BB962C8B-B14F-4D97-AF65-F5344CB8AC3E}">
        <p14:creationId xmlns:p14="http://schemas.microsoft.com/office/powerpoint/2010/main" val="16580003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BF8CE-40A2-49B1-918A-5725C20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9">
            <a:extLst xmlns:a="http://schemas.openxmlformats.org/drawingml/2006/main">
              <a:ext uri="{FF2B5EF4-FFF2-40B4-BE49-F238E27FC236}">
                <a16:creationId xmlns:a16="http://schemas.microsoft.com/office/drawing/2014/main" id="{93CD071A-99F1-4B05-9A59-562E00BD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預防組合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A3812042-8CF2-4F09-9D45-80443C15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預防需要診斷負責人、標的、檢體計畫與升級條件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81E73-534E-4846-9120-1F56011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F5DEC-AB30-4344-BFF5-1609B6E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9">
            <a:extLst xmlns:a="http://schemas.openxmlformats.org/drawingml/2006/main">
              <a:ext uri="{FF2B5EF4-FFF2-40B4-BE49-F238E27FC236}">
                <a16:creationId xmlns:a16="http://schemas.microsoft.com/office/drawing/2014/main" id="{3C471CCE-641E-4B5C-8605-69FE9338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咳血合併肺部腫塊｜可編輯 M&amp;M 簡報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2432F5F5-98C5-4BE0-AAF0-D51E1ED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9668-1752-4D8F-B3BC-C1181BEF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718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A9E24-5BD2-41E7-A30C-4CEB1B9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718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EC84C-85B0-4FC3-ADF5-F373A5D9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68457-A34F-4078-A357-1D30D17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B9DAF-9F2F-4E2B-BABC-7FB90E1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9F063-BBA4-4A20-B280-141168F4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E8DA6-9A40-4094-9864-B7A8BD5E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診斷負責人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E1444-2B7B-47A1-A710-735C0F77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由單一臨床醫師整合影像、胸腔、IR、外科、病理與感染科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9A284-8140-4651-B1D7-07888E5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9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C7F35-DE64-40C2-9DD9-73B8B678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0763-24BC-400A-9B34-10D902A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C1789-A2D5-4FBD-817D-9C03A233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99AD"/>
                </a:solidFill>
              </a:defRPr>
            </a:pPr>
            <a:r>
              <a:rPr sz="1650" b="1">
                <a:solidFill>
                  <a:srgbClr val="6F99AD"/>
                </a:solidFill>
              </a:rPr>
              <a:t>標的一致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D0E5D-E2D8-42B4-807B-7773F70E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明確命名每個團隊處理的是哪個病灶、呼吸道、淋巴結或血管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126CA-22B6-461A-B9E2-15201825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85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13B27-04BD-456F-B2C2-B6CAB55E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A34BD-9C95-45D2-8551-83347A27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E2B06-15F0-4A7C-BE93-C7D3E30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854E"/>
                </a:solidFill>
              </a:defRPr>
            </a:pPr>
            <a:r>
              <a:rPr sz="1650" b="1">
                <a:solidFill>
                  <a:srgbClr val="20854E"/>
                </a:solidFill>
              </a:rPr>
              <a:t>檢體分配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34098-A382-430B-B420-CF62488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處置前規劃病理、細胞學、細菌、AFB、黴菌與分子檢查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5FAB0-0B2E-44CA-BB16-F48A79A4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31CA3-7053-4BCC-8EE1-E390D8C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6A9E09-EE06-4242-AA4D-A6201D4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4AE8A-5BBC-41B7-AB8B-4F7D9EB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18727"/>
                </a:solidFill>
              </a:defRPr>
            </a:pPr>
            <a:r>
              <a:rPr sz="1650" b="1">
                <a:solidFill>
                  <a:srgbClr val="E18727"/>
                </a:solidFill>
              </a:rPr>
              <a:t>期限＋升級條件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16FCF-2823-4323-8509-55676FF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1924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設定下一次檢查日期，以及腫塊增大、再出血、新淋巴結或再次未確診時的升級方案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D0C3C3-A99D-446D-AE4C-67D0613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578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C3C29"/>
                </a:solidFill>
              </a:defRPr>
            </a:pPr>
            <a:r>
              <a:rPr sz="1575" b="1">
                <a:solidFill>
                  <a:srgbClr val="BC3C29"/>
                </a:solidFill>
              </a:rPr>
              <a:t>把「病因未解決」列為明確的 active problem。</a:t>
            </a:r>
          </a:p>
        </p:txBody>
      </p:sp>
    </p:spTree>
    <p:extLst>
      <p:ext uri="{BB962C8B-B14F-4D97-AF65-F5344CB8AC3E}">
        <p14:creationId xmlns:p14="http://schemas.microsoft.com/office/powerpoint/2010/main" val="11134236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18DA8-67A4-4FE3-BA05-FDF95E2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20">
            <a:extLst xmlns:a="http://schemas.openxmlformats.org/drawingml/2006/main">
              <a:ext uri="{FF2B5EF4-FFF2-40B4-BE49-F238E27FC236}">
                <a16:creationId xmlns:a16="http://schemas.microsoft.com/office/drawing/2014/main" id="{2F6A47BA-DD2B-4B72-8563-4A8FE4EB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重點結論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821E09D2-6449-4150-897F-F059BEE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控制出血、保留不確定性、完成病因診斷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48E6D-CA1C-44B4-894A-462C3F23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DAB37-7517-44E0-87E9-C9A79F1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20">
            <a:extLst xmlns:a="http://schemas.openxmlformats.org/drawingml/2006/main">
              <a:ext uri="{FF2B5EF4-FFF2-40B4-BE49-F238E27FC236}">
                <a16:creationId xmlns:a16="http://schemas.microsoft.com/office/drawing/2014/main" id="{EC3DD0B3-71BB-4066-9C4C-EDA384E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Educational synthesis; patient-specific decisions require multidisciplinary judgment.</a:t>
            </a:r>
          </a:p>
        </p:txBody>
      </p:sp>
      <p:sp>
        <p:nvSpPr>
          <p:cNvPr id="7" name="page-20">
            <a:extLst xmlns:a="http://schemas.openxmlformats.org/drawingml/2006/main">
              <a:ext uri="{FF2B5EF4-FFF2-40B4-BE49-F238E27FC236}">
                <a16:creationId xmlns:a16="http://schemas.microsoft.com/office/drawing/2014/main" id="{CF8DE52B-AE70-414B-955B-C518EC1A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98167-C5B4-4AA6-84C3-E255A0AE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EB2C-2B34-4B60-A93C-CB408B96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E671A-90BC-47FE-9761-F5536644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00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C3C29"/>
                </a:solidFill>
              </a:defRPr>
            </a:pPr>
            <a:r>
              <a:rPr sz="1725" b="1">
                <a:solidFill>
                  <a:srgbClr val="BC3C29"/>
                </a:solidFill>
              </a:rPr>
              <a:t>依生理狀態控制出血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527A9-E513-470C-8029-9753777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574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呼吸道、氣體交換、血流動力、變化趨勢與心肺儲備決定急迫性。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985CB-AB63-4A3F-9075-1DECE920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3800D-B656-4749-8096-CF792DD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60741-EB09-4AF3-846C-9DE2179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00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18727"/>
                </a:solidFill>
              </a:defRPr>
            </a:pPr>
            <a:r>
              <a:rPr sz="1725" b="1">
                <a:solidFill>
                  <a:srgbClr val="E18727"/>
                </a:solidFill>
              </a:rPr>
              <a:t>誠實標記處置結果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56612-A257-4391-AA04-A0E2A4D1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575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血液、壞死、異型與非特異性發炎都是 nondiagnostic，不是 benign。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87DBB-A7FF-4B33-8905-275993E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A8489-6D9E-4E45-ABE4-0AB43AE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45756-3332-4A41-822E-27B31F6C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完成基礎病因診斷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B98B7-F791-4A76-B8D6-9CB0E58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57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BAE 創造診斷時間窗；接著要選更好的標的、路徑、檢體計畫與負責人。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FAE6A-34A0-43CD-AA71-FDCE6DC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EA54B-EB04-46F5-91F4-3199F2C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主要來源：AAFP 2022 • ACR Hemoptysis • CIRSE 2022 • ATS/ACCP 2024 • JAMA 2022 • Chen 2022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範圍提醒：pulmonary nodule 的追蹤門檻不能直接套用到 &gt;3 cm 的 lung mass。</a:t>
            </a:r>
          </a:p>
        </p:txBody>
      </p:sp>
    </p:spTree>
    <p:extLst>
      <p:ext uri="{BB962C8B-B14F-4D97-AF65-F5344CB8AC3E}">
        <p14:creationId xmlns:p14="http://schemas.microsoft.com/office/powerpoint/2010/main" val="1647601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2026-07-19T08:02:02.2750000Z</dcterms:created>
  <dcterms:modified xsi:type="dcterms:W3CDTF">2026-07-19T08:02:02.2750000Z</dcterms:modified>
</coreProperties>
</file>